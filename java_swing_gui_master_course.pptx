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7" r:id="rId2"/>
    <p:sldId id="258" r:id="rId3"/>
    <p:sldId id="259" r:id="rId4"/>
    <p:sldId id="260" r:id="rId5"/>
    <p:sldId id="261" r:id="rId6"/>
    <p:sldId id="262" r:id="rId7"/>
    <p:sldId id="263" r:id="rId8"/>
    <p:sldId id="277"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620" autoAdjust="0"/>
  </p:normalViewPr>
  <p:slideViewPr>
    <p:cSldViewPr snapToGrid="0" snapToObjects="1">
      <p:cViewPr varScale="1">
        <p:scale>
          <a:sx n="54" d="100"/>
          <a:sy n="54" d="100"/>
        </p:scale>
        <p:origin x="128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9BA9EA-5A5D-4221-AA2B-D12240A4B29D}" type="datetimeFigureOut">
              <a:rPr lang="en-US" smtClean="0"/>
              <a:t>4/8/2026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6BB9ED-343B-422F-AC48-DD3D817DCE4E}" type="slidenum">
              <a:rPr lang="en-US" smtClean="0"/>
              <a:t>‹#›</a:t>
            </a:fld>
            <a:endParaRPr lang="en-US"/>
          </a:p>
        </p:txBody>
      </p:sp>
    </p:spTree>
    <p:extLst>
      <p:ext uri="{BB962C8B-B14F-4D97-AF65-F5344CB8AC3E}">
        <p14:creationId xmlns:p14="http://schemas.microsoft.com/office/powerpoint/2010/main" val="1207538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sz="1200" b="1" i="0" kern="1200" dirty="0">
                <a:solidFill>
                  <a:schemeClr val="tx1"/>
                </a:solidFill>
                <a:effectLst/>
                <a:latin typeface="+mn-lt"/>
                <a:ea typeface="+mn-ea"/>
                <a:cs typeface="+mn-cs"/>
              </a:rPr>
              <a:t>Abstract Window Toolkit (AWT)</a:t>
            </a:r>
            <a:r>
              <a:rPr lang="en-US" sz="1200" b="0" i="0" kern="1200" dirty="0">
                <a:solidFill>
                  <a:schemeClr val="tx1"/>
                </a:solidFill>
                <a:effectLst/>
                <a:latin typeface="+mn-lt"/>
                <a:ea typeface="+mn-ea"/>
                <a:cs typeface="+mn-cs"/>
              </a:rPr>
              <a:t> is </a:t>
            </a:r>
            <a:r>
              <a:rPr lang="en-US" dirty="0"/>
              <a:t>Java's original API for creating Graphical User Interfaces (GUIs) and window-based applications</a:t>
            </a:r>
            <a:r>
              <a:rPr lang="en-US" sz="1200" b="0" i="0" kern="1200" dirty="0">
                <a:solidFill>
                  <a:schemeClr val="tx1"/>
                </a:solidFill>
                <a:effectLst/>
                <a:latin typeface="+mn-lt"/>
                <a:ea typeface="+mn-ea"/>
                <a:cs typeface="+mn-cs"/>
              </a:rPr>
              <a:t>. It was introduced with Java 1.0 in 1995 and forms the foundation for more modern frameworks like Swing and JavaFX</a:t>
            </a:r>
            <a:endParaRPr lang="en-US" dirty="0"/>
          </a:p>
        </p:txBody>
      </p:sp>
      <p:sp>
        <p:nvSpPr>
          <p:cNvPr id="4" name="Slide Number Placeholder 3"/>
          <p:cNvSpPr>
            <a:spLocks noGrp="1"/>
          </p:cNvSpPr>
          <p:nvPr>
            <p:ph type="sldNum" sz="quarter" idx="5"/>
          </p:nvPr>
        </p:nvSpPr>
        <p:spPr/>
        <p:txBody>
          <a:bodyPr/>
          <a:lstStyle/>
          <a:p>
            <a:fld id="{586BB9ED-343B-422F-AC48-DD3D817DCE4E}" type="slidenum">
              <a:rPr lang="en-US" smtClean="0"/>
              <a:t>1</a:t>
            </a:fld>
            <a:endParaRPr lang="en-US"/>
          </a:p>
        </p:txBody>
      </p:sp>
    </p:spTree>
    <p:extLst>
      <p:ext uri="{BB962C8B-B14F-4D97-AF65-F5344CB8AC3E}">
        <p14:creationId xmlns:p14="http://schemas.microsoft.com/office/powerpoint/2010/main" val="1786860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Swing is platform-independent because its components are written entirely in Java, not native code</a:t>
            </a:r>
            <a:r>
              <a:rPr lang="en-US" sz="1200" b="0" i="0" kern="1200" dirty="0">
                <a:solidFill>
                  <a:schemeClr val="tx1"/>
                </a:solidFill>
                <a:effectLst/>
                <a:latin typeface="+mn-lt"/>
                <a:ea typeface="+mn-ea"/>
                <a:cs typeface="+mn-cs"/>
              </a:rPr>
              <a:t>. Unlike AWT (Abstract Window Toolkit), which relies on host operating system peers, Swing components are lightweight, rendered by Java code, and display consistently across different platforms, such as Windows, Linux, or macOS, ensuring the same look and fee</a:t>
            </a:r>
            <a:endParaRPr lang="en-US" dirty="0"/>
          </a:p>
        </p:txBody>
      </p:sp>
      <p:sp>
        <p:nvSpPr>
          <p:cNvPr id="4" name="Slide Number Placeholder 3"/>
          <p:cNvSpPr>
            <a:spLocks noGrp="1"/>
          </p:cNvSpPr>
          <p:nvPr>
            <p:ph type="sldNum" sz="quarter" idx="5"/>
          </p:nvPr>
        </p:nvSpPr>
        <p:spPr/>
        <p:txBody>
          <a:bodyPr/>
          <a:lstStyle/>
          <a:p>
            <a:fld id="{586BB9ED-343B-422F-AC48-DD3D817DCE4E}" type="slidenum">
              <a:rPr lang="en-US" smtClean="0"/>
              <a:t>3</a:t>
            </a:fld>
            <a:endParaRPr lang="en-US"/>
          </a:p>
        </p:txBody>
      </p:sp>
    </p:spTree>
    <p:extLst>
      <p:ext uri="{BB962C8B-B14F-4D97-AF65-F5344CB8AC3E}">
        <p14:creationId xmlns:p14="http://schemas.microsoft.com/office/powerpoint/2010/main" val="4079366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944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7759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9704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276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6524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9043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4/8/2026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4113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55896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7432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767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3626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4/8/2026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0376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Unit </a:t>
            </a:r>
            <a:r>
              <a:rPr lang="en-US" dirty="0"/>
              <a:t>2</a:t>
            </a:r>
            <a:r>
              <a:rPr dirty="0"/>
              <a:t>: Introduction to GUI</a:t>
            </a:r>
          </a:p>
        </p:txBody>
      </p:sp>
      <p:sp>
        <p:nvSpPr>
          <p:cNvPr id="3" name="Content Placeholder 2"/>
          <p:cNvSpPr>
            <a:spLocks noGrp="1"/>
          </p:cNvSpPr>
          <p:nvPr>
            <p:ph idx="1"/>
          </p:nvPr>
        </p:nvSpPr>
        <p:spPr/>
        <p:txBody>
          <a:bodyPr/>
          <a:lstStyle/>
          <a:p>
            <a:r>
              <a:rPr dirty="0"/>
              <a:t>• GUI (Graphical User Interface) allows visual interaction.</a:t>
            </a:r>
          </a:p>
          <a:p>
            <a:r>
              <a:rPr dirty="0"/>
              <a:t>• Users interact with windows, buttons, menus, dialogs.</a:t>
            </a:r>
          </a:p>
          <a:p>
            <a:r>
              <a:rPr dirty="0"/>
              <a:t>• Java supports GUI via AWT and Swing.</a:t>
            </a:r>
          </a:p>
          <a:p>
            <a:r>
              <a:rPr dirty="0"/>
              <a:t>• GUI programs follow an event-driven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 vs GUI</a:t>
            </a:r>
          </a:p>
        </p:txBody>
      </p:sp>
      <p:sp>
        <p:nvSpPr>
          <p:cNvPr id="3" name="Content Placeholder 2"/>
          <p:cNvSpPr>
            <a:spLocks noGrp="1"/>
          </p:cNvSpPr>
          <p:nvPr>
            <p:ph idx="1"/>
          </p:nvPr>
        </p:nvSpPr>
        <p:spPr/>
        <p:txBody>
          <a:bodyPr/>
          <a:lstStyle/>
          <a:p>
            <a:r>
              <a:t>CLI: Command Line Interface</a:t>
            </a:r>
          </a:p>
          <a:p>
            <a:r>
              <a:t>- Text commands</a:t>
            </a:r>
          </a:p>
          <a:p>
            <a:r>
              <a:t>- Used in terminals</a:t>
            </a:r>
          </a:p>
          <a:p>
            <a:endParaRPr/>
          </a:p>
          <a:p>
            <a:r>
              <a:t>GUI: Graphical User Interface</a:t>
            </a:r>
          </a:p>
          <a:p>
            <a:r>
              <a:t>- Windows, buttons, icons</a:t>
            </a:r>
          </a:p>
          <a:p>
            <a:r>
              <a:t>- User-friendly interaction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AWT vs Swing</a:t>
            </a:r>
          </a:p>
        </p:txBody>
      </p:sp>
      <p:sp>
        <p:nvSpPr>
          <p:cNvPr id="3" name="Content Placeholder 2"/>
          <p:cNvSpPr>
            <a:spLocks noGrp="1"/>
          </p:cNvSpPr>
          <p:nvPr>
            <p:ph idx="1"/>
          </p:nvPr>
        </p:nvSpPr>
        <p:spPr/>
        <p:txBody>
          <a:bodyPr/>
          <a:lstStyle/>
          <a:p>
            <a:r>
              <a:rPr dirty="0"/>
              <a:t>AWT:</a:t>
            </a:r>
          </a:p>
          <a:p>
            <a:r>
              <a:rPr dirty="0"/>
              <a:t>- Platform dependent</a:t>
            </a:r>
          </a:p>
          <a:p>
            <a:r>
              <a:rPr dirty="0"/>
              <a:t>- Heavyweight components</a:t>
            </a:r>
          </a:p>
          <a:p>
            <a:endParaRPr dirty="0"/>
          </a:p>
          <a:p>
            <a:r>
              <a:rPr dirty="0"/>
              <a:t>Swing:</a:t>
            </a:r>
          </a:p>
          <a:p>
            <a:r>
              <a:rPr dirty="0"/>
              <a:t>- Platform independent</a:t>
            </a:r>
          </a:p>
          <a:p>
            <a:r>
              <a:rPr dirty="0"/>
              <a:t>- Lightweight components</a:t>
            </a:r>
          </a:p>
          <a:p>
            <a:r>
              <a:rPr dirty="0"/>
              <a:t>- Rich UI components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Swing Window Example (Code)</a:t>
            </a:r>
          </a:p>
        </p:txBody>
      </p:sp>
      <p:sp>
        <p:nvSpPr>
          <p:cNvPr id="3" name="Content Placeholder 2"/>
          <p:cNvSpPr>
            <a:spLocks noGrp="1"/>
          </p:cNvSpPr>
          <p:nvPr>
            <p:ph idx="1"/>
          </p:nvPr>
        </p:nvSpPr>
        <p:spPr/>
        <p:txBody>
          <a:bodyPr>
            <a:normAutofit fontScale="92500" lnSpcReduction="10000"/>
          </a:bodyPr>
          <a:lstStyle/>
          <a:p>
            <a:r>
              <a:rPr dirty="0"/>
              <a:t>import </a:t>
            </a:r>
            <a:r>
              <a:rPr dirty="0" err="1"/>
              <a:t>javax.swing</a:t>
            </a:r>
            <a:r>
              <a:rPr dirty="0"/>
              <a:t>.*;</a:t>
            </a:r>
          </a:p>
          <a:p>
            <a:endParaRPr dirty="0"/>
          </a:p>
          <a:p>
            <a:r>
              <a:rPr dirty="0"/>
              <a:t>public class </a:t>
            </a:r>
            <a:r>
              <a:rPr dirty="0" err="1"/>
              <a:t>FirstGUI</a:t>
            </a:r>
            <a:r>
              <a:rPr dirty="0"/>
              <a:t> {</a:t>
            </a:r>
          </a:p>
          <a:p>
            <a:r>
              <a:rPr dirty="0"/>
              <a:t>  public static void main(String[] </a:t>
            </a:r>
            <a:r>
              <a:rPr dirty="0" err="1"/>
              <a:t>args</a:t>
            </a:r>
            <a:r>
              <a:rPr dirty="0"/>
              <a:t>) {</a:t>
            </a:r>
          </a:p>
          <a:p>
            <a:r>
              <a:rPr dirty="0"/>
              <a:t>    </a:t>
            </a:r>
            <a:r>
              <a:rPr dirty="0" err="1"/>
              <a:t>JFrame</a:t>
            </a:r>
            <a:r>
              <a:rPr dirty="0"/>
              <a:t> frame = new </a:t>
            </a:r>
            <a:r>
              <a:rPr dirty="0" err="1"/>
              <a:t>JFrame</a:t>
            </a:r>
            <a:r>
              <a:rPr dirty="0"/>
              <a:t>("First GUI");</a:t>
            </a:r>
          </a:p>
          <a:p>
            <a:r>
              <a:rPr dirty="0"/>
              <a:t>    </a:t>
            </a:r>
            <a:r>
              <a:rPr dirty="0" err="1"/>
              <a:t>frame.setSize</a:t>
            </a:r>
            <a:r>
              <a:rPr dirty="0"/>
              <a:t>(400,300);</a:t>
            </a:r>
          </a:p>
          <a:p>
            <a:r>
              <a:rPr dirty="0"/>
              <a:t>    </a:t>
            </a:r>
            <a:r>
              <a:rPr dirty="0" err="1"/>
              <a:t>frame.setDefaultCloseOperation</a:t>
            </a:r>
            <a:r>
              <a:rPr dirty="0"/>
              <a:t>(</a:t>
            </a:r>
            <a:r>
              <a:rPr dirty="0" err="1"/>
              <a:t>JFrame.EXIT_ON_CLOSE</a:t>
            </a:r>
            <a:r>
              <a:rPr dirty="0"/>
              <a:t>);</a:t>
            </a:r>
          </a:p>
          <a:p>
            <a:r>
              <a:rPr dirty="0"/>
              <a:t>    </a:t>
            </a:r>
            <a:r>
              <a:rPr dirty="0" err="1"/>
              <a:t>frame.setVisible</a:t>
            </a:r>
            <a:r>
              <a:rPr dirty="0"/>
              <a:t>(true);</a:t>
            </a:r>
          </a:p>
          <a:p>
            <a:r>
              <a:rPr dirty="0"/>
              <a:t>  }</a:t>
            </a:r>
          </a:p>
          <a:p>
            <a:r>
              <a:rPr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Swing Containers</a:t>
            </a:r>
          </a:p>
        </p:txBody>
      </p:sp>
      <p:sp>
        <p:nvSpPr>
          <p:cNvPr id="3" name="Content Placeholder 2"/>
          <p:cNvSpPr>
            <a:spLocks noGrp="1"/>
          </p:cNvSpPr>
          <p:nvPr>
            <p:ph idx="1"/>
          </p:nvPr>
        </p:nvSpPr>
        <p:spPr/>
        <p:txBody>
          <a:bodyPr/>
          <a:lstStyle/>
          <a:p>
            <a:r>
              <a:rPr dirty="0"/>
              <a:t>Top Level Containers:</a:t>
            </a:r>
          </a:p>
          <a:p>
            <a:r>
              <a:rPr dirty="0"/>
              <a:t>- </a:t>
            </a:r>
            <a:r>
              <a:rPr dirty="0" err="1"/>
              <a:t>JFrame</a:t>
            </a:r>
            <a:endParaRPr dirty="0"/>
          </a:p>
          <a:p>
            <a:r>
              <a:rPr dirty="0"/>
              <a:t>- </a:t>
            </a:r>
            <a:r>
              <a:rPr dirty="0" err="1"/>
              <a:t>JDialog</a:t>
            </a:r>
            <a:endParaRPr dirty="0"/>
          </a:p>
          <a:p>
            <a:r>
              <a:rPr dirty="0"/>
              <a:t>- </a:t>
            </a:r>
            <a:r>
              <a:rPr dirty="0" err="1"/>
              <a:t>JApplet</a:t>
            </a:r>
            <a:endParaRPr dirty="0"/>
          </a:p>
          <a:p>
            <a:endParaRPr dirty="0"/>
          </a:p>
          <a:p>
            <a:r>
              <a:rPr dirty="0"/>
              <a:t>Containers hold GUI components like buttons and text fields.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Swing Component Hierarchy</a:t>
            </a:r>
          </a:p>
        </p:txBody>
      </p:sp>
      <p:sp>
        <p:nvSpPr>
          <p:cNvPr id="3" name="Content Placeholder 2"/>
          <p:cNvSpPr>
            <a:spLocks noGrp="1"/>
          </p:cNvSpPr>
          <p:nvPr>
            <p:ph idx="1"/>
          </p:nvPr>
        </p:nvSpPr>
        <p:spPr/>
        <p:txBody>
          <a:bodyPr/>
          <a:lstStyle/>
          <a:p>
            <a:r>
              <a:t>JFrame</a:t>
            </a:r>
          </a:p>
          <a:p>
            <a:r>
              <a:t>  └── JPanel</a:t>
            </a:r>
          </a:p>
          <a:p>
            <a:r>
              <a:t>        ├── JButton</a:t>
            </a:r>
          </a:p>
          <a:p>
            <a:r>
              <a:t>        ├── JTextField</a:t>
            </a:r>
          </a:p>
          <a:p>
            <a:r>
              <a:t>        └── JLabel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Layout Managers</a:t>
            </a:r>
          </a:p>
        </p:txBody>
      </p:sp>
      <p:sp>
        <p:nvSpPr>
          <p:cNvPr id="3" name="Content Placeholder 2"/>
          <p:cNvSpPr>
            <a:spLocks noGrp="1"/>
          </p:cNvSpPr>
          <p:nvPr>
            <p:ph idx="1"/>
          </p:nvPr>
        </p:nvSpPr>
        <p:spPr/>
        <p:txBody>
          <a:bodyPr/>
          <a:lstStyle/>
          <a:p>
            <a:r>
              <a:rPr dirty="0"/>
              <a:t>Layout managers control component arrangement.</a:t>
            </a:r>
          </a:p>
          <a:p>
            <a:endParaRPr dirty="0"/>
          </a:p>
          <a:p>
            <a:r>
              <a:rPr dirty="0"/>
              <a:t>Types:</a:t>
            </a:r>
          </a:p>
          <a:p>
            <a:r>
              <a:rPr dirty="0"/>
              <a:t>- </a:t>
            </a:r>
            <a:r>
              <a:rPr dirty="0" err="1"/>
              <a:t>FlowLayout</a:t>
            </a:r>
            <a:endParaRPr dirty="0"/>
          </a:p>
          <a:p>
            <a:r>
              <a:rPr dirty="0"/>
              <a:t>- </a:t>
            </a:r>
            <a:r>
              <a:rPr dirty="0" err="1"/>
              <a:t>BorderLayout</a:t>
            </a:r>
            <a:endParaRPr dirty="0"/>
          </a:p>
          <a:p>
            <a:r>
              <a:rPr dirty="0"/>
              <a:t>- </a:t>
            </a:r>
            <a:r>
              <a:rPr dirty="0" err="1"/>
              <a:t>GridLayout</a:t>
            </a:r>
            <a:endParaRPr dirty="0"/>
          </a:p>
          <a:p>
            <a:r>
              <a:rPr dirty="0"/>
              <a:t>- </a:t>
            </a:r>
            <a:r>
              <a:rPr dirty="0" err="1"/>
              <a:t>GridBagLayout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45DF-17DC-420C-1E61-863B9EB0560B}"/>
              </a:ext>
            </a:extLst>
          </p:cNvPr>
          <p:cNvSpPr>
            <a:spLocks noGrp="1"/>
          </p:cNvSpPr>
          <p:nvPr>
            <p:ph type="title"/>
          </p:nvPr>
        </p:nvSpPr>
        <p:spPr/>
        <p:txBody>
          <a:bodyPr/>
          <a:lstStyle/>
          <a:p>
            <a:endParaRPr lang="en-US"/>
          </a:p>
        </p:txBody>
      </p:sp>
      <p:pic>
        <p:nvPicPr>
          <p:cNvPr id="1026" name="Picture 2" descr="GridBagLayout in Java">
            <a:extLst>
              <a:ext uri="{FF2B5EF4-FFF2-40B4-BE49-F238E27FC236}">
                <a16:creationId xmlns:a16="http://schemas.microsoft.com/office/drawing/2014/main" id="{C4041F0F-E367-E1EB-3744-55FF6E40E1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2325" y="1874787"/>
            <a:ext cx="7543800" cy="3965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5516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FlowLayout Example (Code)</a:t>
            </a:r>
          </a:p>
        </p:txBody>
      </p:sp>
      <p:sp>
        <p:nvSpPr>
          <p:cNvPr id="3" name="Content Placeholder 2"/>
          <p:cNvSpPr>
            <a:spLocks noGrp="1"/>
          </p:cNvSpPr>
          <p:nvPr>
            <p:ph idx="1"/>
          </p:nvPr>
        </p:nvSpPr>
        <p:spPr/>
        <p:txBody>
          <a:bodyPr>
            <a:normAutofit fontScale="47500" lnSpcReduction="20000"/>
          </a:bodyPr>
          <a:lstStyle/>
          <a:p>
            <a:r>
              <a:rPr dirty="0"/>
              <a:t>import </a:t>
            </a:r>
            <a:r>
              <a:rPr dirty="0" err="1"/>
              <a:t>javax.swing</a:t>
            </a:r>
            <a:r>
              <a:rPr dirty="0"/>
              <a:t>.*;</a:t>
            </a:r>
          </a:p>
          <a:p>
            <a:r>
              <a:rPr dirty="0"/>
              <a:t>import </a:t>
            </a:r>
            <a:r>
              <a:rPr dirty="0" err="1"/>
              <a:t>java.awt</a:t>
            </a:r>
            <a:r>
              <a:rPr dirty="0"/>
              <a:t>.*;</a:t>
            </a:r>
          </a:p>
          <a:p>
            <a:endParaRPr dirty="0"/>
          </a:p>
          <a:p>
            <a:r>
              <a:rPr dirty="0"/>
              <a:t>public class </a:t>
            </a:r>
            <a:r>
              <a:rPr dirty="0" err="1"/>
              <a:t>FlowExample</a:t>
            </a:r>
            <a:r>
              <a:rPr dirty="0"/>
              <a:t> {</a:t>
            </a:r>
          </a:p>
          <a:p>
            <a:r>
              <a:rPr dirty="0"/>
              <a:t>  public static void main(String[] </a:t>
            </a:r>
            <a:r>
              <a:rPr dirty="0" err="1"/>
              <a:t>args</a:t>
            </a:r>
            <a:r>
              <a:rPr dirty="0"/>
              <a:t>) {</a:t>
            </a:r>
          </a:p>
          <a:p>
            <a:r>
              <a:rPr dirty="0"/>
              <a:t>    </a:t>
            </a:r>
            <a:r>
              <a:rPr dirty="0" err="1"/>
              <a:t>JFrame</a:t>
            </a:r>
            <a:r>
              <a:rPr dirty="0"/>
              <a:t> frame = new </a:t>
            </a:r>
            <a:r>
              <a:rPr dirty="0" err="1"/>
              <a:t>JFrame</a:t>
            </a:r>
            <a:r>
              <a:rPr dirty="0"/>
              <a:t>("Flow Layout");</a:t>
            </a:r>
          </a:p>
          <a:p>
            <a:r>
              <a:rPr dirty="0"/>
              <a:t>    </a:t>
            </a:r>
            <a:r>
              <a:rPr dirty="0" err="1"/>
              <a:t>frame.setLayout</a:t>
            </a:r>
            <a:r>
              <a:rPr dirty="0"/>
              <a:t>(new </a:t>
            </a:r>
            <a:r>
              <a:rPr dirty="0" err="1"/>
              <a:t>FlowLayout</a:t>
            </a:r>
            <a:r>
              <a:rPr dirty="0"/>
              <a:t>());</a:t>
            </a:r>
          </a:p>
          <a:p>
            <a:r>
              <a:rPr dirty="0"/>
              <a:t>    </a:t>
            </a:r>
            <a:r>
              <a:rPr dirty="0" err="1"/>
              <a:t>frame.add</a:t>
            </a:r>
            <a:r>
              <a:rPr dirty="0"/>
              <a:t>(new </a:t>
            </a:r>
            <a:r>
              <a:rPr dirty="0" err="1"/>
              <a:t>JButton</a:t>
            </a:r>
            <a:r>
              <a:rPr dirty="0"/>
              <a:t>("A"));</a:t>
            </a:r>
          </a:p>
          <a:p>
            <a:r>
              <a:rPr dirty="0"/>
              <a:t>    </a:t>
            </a:r>
            <a:r>
              <a:rPr dirty="0" err="1"/>
              <a:t>frame.add</a:t>
            </a:r>
            <a:r>
              <a:rPr dirty="0"/>
              <a:t>(new </a:t>
            </a:r>
            <a:r>
              <a:rPr dirty="0" err="1"/>
              <a:t>JButton</a:t>
            </a:r>
            <a:r>
              <a:rPr dirty="0"/>
              <a:t>("B"));</a:t>
            </a:r>
          </a:p>
          <a:p>
            <a:r>
              <a:rPr dirty="0"/>
              <a:t>    </a:t>
            </a:r>
            <a:r>
              <a:rPr dirty="0" err="1"/>
              <a:t>frame.add</a:t>
            </a:r>
            <a:r>
              <a:rPr dirty="0"/>
              <a:t>(new </a:t>
            </a:r>
            <a:r>
              <a:rPr dirty="0" err="1"/>
              <a:t>JButton</a:t>
            </a:r>
            <a:r>
              <a:rPr dirty="0"/>
              <a:t>("C"));</a:t>
            </a:r>
          </a:p>
          <a:p>
            <a:r>
              <a:rPr dirty="0"/>
              <a:t>    </a:t>
            </a:r>
            <a:r>
              <a:rPr dirty="0" err="1"/>
              <a:t>frame.setSize</a:t>
            </a:r>
            <a:r>
              <a:rPr dirty="0"/>
              <a:t>(300,200);</a:t>
            </a:r>
          </a:p>
          <a:p>
            <a:r>
              <a:rPr dirty="0"/>
              <a:t>    </a:t>
            </a:r>
            <a:r>
              <a:rPr dirty="0" err="1"/>
              <a:t>frame.setVisible</a:t>
            </a:r>
            <a:r>
              <a:rPr dirty="0"/>
              <a:t>(true);</a:t>
            </a:r>
          </a:p>
          <a:p>
            <a:r>
              <a:rPr dirty="0"/>
              <a:t>  }</a:t>
            </a:r>
          </a:p>
          <a:p>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BorderLayout Example (Code)</a:t>
            </a:r>
          </a:p>
        </p:txBody>
      </p:sp>
      <p:sp>
        <p:nvSpPr>
          <p:cNvPr id="3" name="Content Placeholder 2"/>
          <p:cNvSpPr>
            <a:spLocks noGrp="1"/>
          </p:cNvSpPr>
          <p:nvPr>
            <p:ph idx="1"/>
          </p:nvPr>
        </p:nvSpPr>
        <p:spPr/>
        <p:txBody>
          <a:bodyPr/>
          <a:lstStyle/>
          <a:p>
            <a:r>
              <a:rPr dirty="0" err="1"/>
              <a:t>frame.setLayout</a:t>
            </a:r>
            <a:r>
              <a:rPr dirty="0"/>
              <a:t>(new </a:t>
            </a:r>
            <a:r>
              <a:rPr dirty="0" err="1"/>
              <a:t>BorderLayout</a:t>
            </a:r>
            <a:r>
              <a:rPr dirty="0"/>
              <a:t>());</a:t>
            </a:r>
          </a:p>
          <a:p>
            <a:r>
              <a:rPr dirty="0" err="1"/>
              <a:t>frame.add</a:t>
            </a:r>
            <a:r>
              <a:rPr dirty="0"/>
              <a:t>(new </a:t>
            </a:r>
            <a:r>
              <a:rPr dirty="0" err="1"/>
              <a:t>JButton</a:t>
            </a:r>
            <a:r>
              <a:rPr dirty="0"/>
              <a:t>("North"), </a:t>
            </a:r>
            <a:r>
              <a:rPr dirty="0" err="1"/>
              <a:t>BorderLayout.NORTH</a:t>
            </a:r>
            <a:r>
              <a:rPr dirty="0"/>
              <a:t>);</a:t>
            </a:r>
          </a:p>
          <a:p>
            <a:r>
              <a:rPr dirty="0" err="1"/>
              <a:t>frame.add</a:t>
            </a:r>
            <a:r>
              <a:rPr dirty="0"/>
              <a:t>(new </a:t>
            </a:r>
            <a:r>
              <a:rPr dirty="0" err="1"/>
              <a:t>JButton</a:t>
            </a:r>
            <a:r>
              <a:rPr dirty="0"/>
              <a:t>("South"), </a:t>
            </a:r>
            <a:r>
              <a:rPr dirty="0" err="1"/>
              <a:t>BorderLayout.SOUTH</a:t>
            </a:r>
            <a:r>
              <a:rPr dirty="0"/>
              <a:t>);</a:t>
            </a:r>
          </a:p>
          <a:p>
            <a:r>
              <a:rPr dirty="0" err="1"/>
              <a:t>frame.add</a:t>
            </a:r>
            <a:r>
              <a:rPr dirty="0"/>
              <a:t>(new </a:t>
            </a:r>
            <a:r>
              <a:rPr dirty="0" err="1"/>
              <a:t>JButton</a:t>
            </a:r>
            <a:r>
              <a:rPr dirty="0"/>
              <a:t>("East"), </a:t>
            </a:r>
            <a:r>
              <a:rPr dirty="0" err="1"/>
              <a:t>BorderLayout.EAST</a:t>
            </a:r>
            <a:r>
              <a:rPr dirty="0"/>
              <a:t>);</a:t>
            </a:r>
          </a:p>
          <a:p>
            <a:r>
              <a:rPr dirty="0" err="1"/>
              <a:t>frame.add</a:t>
            </a:r>
            <a:r>
              <a:rPr dirty="0"/>
              <a:t>(new </a:t>
            </a:r>
            <a:r>
              <a:rPr dirty="0" err="1"/>
              <a:t>JButton</a:t>
            </a:r>
            <a:r>
              <a:rPr dirty="0"/>
              <a:t>("West"), </a:t>
            </a:r>
            <a:r>
              <a:rPr dirty="0" err="1"/>
              <a:t>BorderLayout.WEST</a:t>
            </a:r>
            <a:r>
              <a:rPr dirty="0"/>
              <a:t>);</a:t>
            </a:r>
          </a:p>
          <a:p>
            <a:r>
              <a:rPr dirty="0" err="1"/>
              <a:t>frame.add</a:t>
            </a:r>
            <a:r>
              <a:rPr dirty="0"/>
              <a:t>(new </a:t>
            </a:r>
            <a:r>
              <a:rPr dirty="0" err="1"/>
              <a:t>JButton</a:t>
            </a:r>
            <a:r>
              <a:rPr dirty="0"/>
              <a:t>("Center"), </a:t>
            </a:r>
            <a:r>
              <a:rPr dirty="0" err="1"/>
              <a:t>BorderLayout.CENTER</a:t>
            </a:r>
            <a:r>
              <a:rPr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Swing Input Components</a:t>
            </a:r>
          </a:p>
        </p:txBody>
      </p:sp>
      <p:sp>
        <p:nvSpPr>
          <p:cNvPr id="3" name="Content Placeholder 2"/>
          <p:cNvSpPr>
            <a:spLocks noGrp="1"/>
          </p:cNvSpPr>
          <p:nvPr>
            <p:ph idx="1"/>
          </p:nvPr>
        </p:nvSpPr>
        <p:spPr/>
        <p:txBody>
          <a:bodyPr/>
          <a:lstStyle/>
          <a:p>
            <a:r>
              <a:t>Common components:</a:t>
            </a:r>
          </a:p>
          <a:p>
            <a:r>
              <a:t>- JTextField</a:t>
            </a:r>
          </a:p>
          <a:p>
            <a:r>
              <a:t>- JTextArea</a:t>
            </a:r>
          </a:p>
          <a:p>
            <a:r>
              <a:t>- JCheckBox</a:t>
            </a:r>
          </a:p>
          <a:p>
            <a:r>
              <a:t>- JRadioButton</a:t>
            </a:r>
          </a:p>
          <a:p>
            <a:r>
              <a:t>- JComboBox</a:t>
            </a:r>
          </a:p>
          <a:p>
            <a:r>
              <a:t>- JButton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 Handling Concept</a:t>
            </a:r>
          </a:p>
        </p:txBody>
      </p:sp>
      <p:sp>
        <p:nvSpPr>
          <p:cNvPr id="3" name="Content Placeholder 2"/>
          <p:cNvSpPr>
            <a:spLocks noGrp="1"/>
          </p:cNvSpPr>
          <p:nvPr>
            <p:ph idx="1"/>
          </p:nvPr>
        </p:nvSpPr>
        <p:spPr/>
        <p:txBody>
          <a:bodyPr/>
          <a:lstStyle/>
          <a:p>
            <a:r>
              <a:t>Event Driven Model:</a:t>
            </a:r>
          </a:p>
          <a:p>
            <a:endParaRPr/>
          </a:p>
          <a:p>
            <a:r>
              <a:t>User Action → Event → Listener → Method Execution</a:t>
            </a:r>
          </a:p>
          <a:p>
            <a:endParaRPr/>
          </a:p>
          <a:p>
            <a:r>
              <a:t>Listeners detect user interaction.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Button Event Example</a:t>
            </a:r>
          </a:p>
        </p:txBody>
      </p:sp>
      <p:sp>
        <p:nvSpPr>
          <p:cNvPr id="3" name="Content Placeholder 2"/>
          <p:cNvSpPr>
            <a:spLocks noGrp="1"/>
          </p:cNvSpPr>
          <p:nvPr>
            <p:ph idx="1"/>
          </p:nvPr>
        </p:nvSpPr>
        <p:spPr/>
        <p:txBody>
          <a:bodyPr/>
          <a:lstStyle/>
          <a:p>
            <a:r>
              <a:rPr dirty="0" err="1"/>
              <a:t>button.addActionListener</a:t>
            </a:r>
            <a:r>
              <a:rPr dirty="0"/>
              <a:t>(new ActionListener() {</a:t>
            </a:r>
          </a:p>
          <a:p>
            <a:r>
              <a:rPr dirty="0"/>
              <a:t>  public void </a:t>
            </a:r>
            <a:r>
              <a:rPr dirty="0" err="1"/>
              <a:t>actionPerformed</a:t>
            </a:r>
            <a:r>
              <a:rPr dirty="0"/>
              <a:t>(</a:t>
            </a:r>
            <a:r>
              <a:rPr dirty="0" err="1"/>
              <a:t>ActionEvent</a:t>
            </a:r>
            <a:r>
              <a:rPr dirty="0"/>
              <a:t> e) {</a:t>
            </a:r>
          </a:p>
          <a:p>
            <a:r>
              <a:rPr dirty="0"/>
              <a:t>    </a:t>
            </a:r>
            <a:r>
              <a:rPr dirty="0" err="1"/>
              <a:t>System.out.println</a:t>
            </a:r>
            <a:r>
              <a:rPr dirty="0"/>
              <a:t>("Button Clicked");</a:t>
            </a:r>
          </a:p>
          <a:p>
            <a:r>
              <a:rPr dirty="0"/>
              <a:t>  }</a:t>
            </a:r>
          </a:p>
          <a:p>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Dialog Boxes</a:t>
            </a:r>
          </a:p>
        </p:txBody>
      </p:sp>
      <p:sp>
        <p:nvSpPr>
          <p:cNvPr id="3" name="Content Placeholder 2"/>
          <p:cNvSpPr>
            <a:spLocks noGrp="1"/>
          </p:cNvSpPr>
          <p:nvPr>
            <p:ph idx="1"/>
          </p:nvPr>
        </p:nvSpPr>
        <p:spPr/>
        <p:txBody>
          <a:bodyPr/>
          <a:lstStyle/>
          <a:p>
            <a:r>
              <a:t>Swing provides dialog boxes using JOptionPane.</a:t>
            </a:r>
          </a:p>
          <a:p>
            <a:endParaRPr/>
          </a:p>
          <a:p>
            <a:r>
              <a:t>Types:</a:t>
            </a:r>
          </a:p>
          <a:p>
            <a:r>
              <a:t>- Message Dialog</a:t>
            </a:r>
          </a:p>
          <a:p>
            <a:r>
              <a:t>- Confirm Dialog</a:t>
            </a:r>
          </a:p>
          <a:p>
            <a:r>
              <a:t>- Input Dialog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Dialog Example Code</a:t>
            </a:r>
          </a:p>
        </p:txBody>
      </p:sp>
      <p:sp>
        <p:nvSpPr>
          <p:cNvPr id="3" name="Content Placeholder 2"/>
          <p:cNvSpPr>
            <a:spLocks noGrp="1"/>
          </p:cNvSpPr>
          <p:nvPr>
            <p:ph idx="1"/>
          </p:nvPr>
        </p:nvSpPr>
        <p:spPr/>
        <p:txBody>
          <a:bodyPr/>
          <a:lstStyle/>
          <a:p>
            <a:r>
              <a:rPr dirty="0" err="1"/>
              <a:t>JOptionPane.showMessageDialog</a:t>
            </a:r>
            <a:r>
              <a:rPr dirty="0"/>
              <a:t>(null, "Welcome");</a:t>
            </a:r>
          </a:p>
          <a:p>
            <a:endParaRPr dirty="0"/>
          </a:p>
          <a:p>
            <a:r>
              <a:rPr dirty="0"/>
              <a:t>String name = </a:t>
            </a:r>
            <a:r>
              <a:rPr dirty="0" err="1"/>
              <a:t>JOptionPane.showInputDialog</a:t>
            </a:r>
            <a:r>
              <a:rPr dirty="0"/>
              <a:t>("Enter name");</a:t>
            </a:r>
          </a:p>
          <a:p>
            <a:endParaRPr dirty="0"/>
          </a:p>
          <a:p>
            <a:r>
              <a:rPr dirty="0"/>
              <a:t>int result = </a:t>
            </a:r>
            <a:r>
              <a:rPr dirty="0" err="1"/>
              <a:t>JOptionPane.showConfirmDialog</a:t>
            </a:r>
            <a:r>
              <a:rPr dirty="0"/>
              <a:t>(null, "Continue?");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Menus in Swing</a:t>
            </a:r>
          </a:p>
        </p:txBody>
      </p:sp>
      <p:sp>
        <p:nvSpPr>
          <p:cNvPr id="3" name="Content Placeholder 2"/>
          <p:cNvSpPr>
            <a:spLocks noGrp="1"/>
          </p:cNvSpPr>
          <p:nvPr>
            <p:ph idx="1"/>
          </p:nvPr>
        </p:nvSpPr>
        <p:spPr/>
        <p:txBody>
          <a:bodyPr/>
          <a:lstStyle/>
          <a:p>
            <a:r>
              <a:t>Menu Components:</a:t>
            </a:r>
          </a:p>
          <a:p>
            <a:r>
              <a:t>- JMenuBar</a:t>
            </a:r>
          </a:p>
          <a:p>
            <a:r>
              <a:t>- JMenu</a:t>
            </a:r>
          </a:p>
          <a:p>
            <a:r>
              <a:t>- JMenuItem</a:t>
            </a:r>
          </a:p>
          <a:p>
            <a:endParaRPr/>
          </a:p>
          <a:p>
            <a:r>
              <a:t>Used in desktop applications.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Menu Code Example</a:t>
            </a:r>
          </a:p>
        </p:txBody>
      </p:sp>
      <p:sp>
        <p:nvSpPr>
          <p:cNvPr id="3" name="Content Placeholder 2"/>
          <p:cNvSpPr>
            <a:spLocks noGrp="1"/>
          </p:cNvSpPr>
          <p:nvPr>
            <p:ph idx="1"/>
          </p:nvPr>
        </p:nvSpPr>
        <p:spPr/>
        <p:txBody>
          <a:bodyPr/>
          <a:lstStyle/>
          <a:p>
            <a:r>
              <a:t>JMenuBar bar = new JMenuBar();</a:t>
            </a:r>
          </a:p>
          <a:p>
            <a:r>
              <a:t>JMenu file = new JMenu("File");</a:t>
            </a:r>
          </a:p>
          <a:p>
            <a:r>
              <a:t>JMenuItem open = new JMenuItem("Open");</a:t>
            </a:r>
          </a:p>
          <a:p>
            <a:r>
              <a:t>file.add(open);</a:t>
            </a:r>
          </a:p>
          <a:p>
            <a:r>
              <a:t>bar.add(file);</a:t>
            </a:r>
          </a:p>
          <a:p>
            <a:r>
              <a:t>frame.setJMenuBar(bar);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File Chooser Example</a:t>
            </a:r>
          </a:p>
        </p:txBody>
      </p:sp>
      <p:sp>
        <p:nvSpPr>
          <p:cNvPr id="3" name="Content Placeholder 2"/>
          <p:cNvSpPr>
            <a:spLocks noGrp="1"/>
          </p:cNvSpPr>
          <p:nvPr>
            <p:ph idx="1"/>
          </p:nvPr>
        </p:nvSpPr>
        <p:spPr/>
        <p:txBody>
          <a:bodyPr/>
          <a:lstStyle/>
          <a:p>
            <a:r>
              <a:rPr dirty="0" err="1"/>
              <a:t>JFileChooser</a:t>
            </a:r>
            <a:r>
              <a:rPr dirty="0"/>
              <a:t> chooser = new </a:t>
            </a:r>
            <a:r>
              <a:rPr dirty="0" err="1"/>
              <a:t>JFileChooser</a:t>
            </a:r>
            <a:r>
              <a:rPr dirty="0"/>
              <a:t>();</a:t>
            </a:r>
          </a:p>
          <a:p>
            <a:r>
              <a:rPr dirty="0"/>
              <a:t>int result = </a:t>
            </a:r>
            <a:r>
              <a:rPr dirty="0" err="1"/>
              <a:t>chooser.showOpenDialog</a:t>
            </a:r>
            <a:r>
              <a:rPr dirty="0"/>
              <a:t>(null);</a:t>
            </a:r>
          </a:p>
          <a:p>
            <a:r>
              <a:rPr dirty="0"/>
              <a:t>if(result == </a:t>
            </a:r>
            <a:r>
              <a:rPr dirty="0" err="1"/>
              <a:t>JFileChooser.APPROVE_OPTION</a:t>
            </a:r>
            <a:r>
              <a:rPr dirty="0"/>
              <a:t>){</a:t>
            </a:r>
          </a:p>
          <a:p>
            <a:r>
              <a:rPr dirty="0"/>
              <a:t>  </a:t>
            </a:r>
            <a:r>
              <a:rPr dirty="0" err="1"/>
              <a:t>System.out.println</a:t>
            </a:r>
            <a:r>
              <a:rPr dirty="0"/>
              <a:t>(</a:t>
            </a:r>
            <a:r>
              <a:rPr dirty="0" err="1"/>
              <a:t>chooser.getSelectedFile</a:t>
            </a:r>
            <a:r>
              <a:rPr dirty="0"/>
              <a:t>());</a:t>
            </a:r>
          </a:p>
          <a:p>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Mini Project: Student Registration System</a:t>
            </a:r>
          </a:p>
        </p:txBody>
      </p:sp>
      <p:sp>
        <p:nvSpPr>
          <p:cNvPr id="3" name="Content Placeholder 2"/>
          <p:cNvSpPr>
            <a:spLocks noGrp="1"/>
          </p:cNvSpPr>
          <p:nvPr>
            <p:ph idx="1"/>
          </p:nvPr>
        </p:nvSpPr>
        <p:spPr/>
        <p:txBody>
          <a:bodyPr/>
          <a:lstStyle/>
          <a:p>
            <a:r>
              <a:t>Features:</a:t>
            </a:r>
          </a:p>
          <a:p>
            <a:r>
              <a:t>- Name, Email, Phone</a:t>
            </a:r>
          </a:p>
          <a:p>
            <a:r>
              <a:t>- Gender selection</a:t>
            </a:r>
          </a:p>
          <a:p>
            <a:r>
              <a:t>- Course dropdown</a:t>
            </a:r>
          </a:p>
          <a:p>
            <a:r>
              <a:t>- Address input</a:t>
            </a:r>
          </a:p>
          <a:p>
            <a:r>
              <a:t>- Submit and Reset buttons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Student Registration Code Structure</a:t>
            </a:r>
          </a:p>
        </p:txBody>
      </p:sp>
      <p:sp>
        <p:nvSpPr>
          <p:cNvPr id="3" name="Content Placeholder 2"/>
          <p:cNvSpPr>
            <a:spLocks noGrp="1"/>
          </p:cNvSpPr>
          <p:nvPr>
            <p:ph idx="1"/>
          </p:nvPr>
        </p:nvSpPr>
        <p:spPr/>
        <p:txBody>
          <a:bodyPr/>
          <a:lstStyle/>
          <a:p>
            <a:r>
              <a:rPr dirty="0"/>
              <a:t>Main Components:</a:t>
            </a:r>
          </a:p>
          <a:p>
            <a:r>
              <a:rPr dirty="0"/>
              <a:t>- </a:t>
            </a:r>
            <a:r>
              <a:rPr dirty="0" err="1"/>
              <a:t>JFrame</a:t>
            </a:r>
            <a:endParaRPr dirty="0"/>
          </a:p>
          <a:p>
            <a:r>
              <a:rPr dirty="0"/>
              <a:t>- </a:t>
            </a:r>
            <a:r>
              <a:rPr dirty="0" err="1"/>
              <a:t>JTextField</a:t>
            </a:r>
            <a:endParaRPr dirty="0"/>
          </a:p>
          <a:p>
            <a:r>
              <a:rPr dirty="0"/>
              <a:t>- </a:t>
            </a:r>
            <a:r>
              <a:rPr dirty="0" err="1"/>
              <a:t>JComboBox</a:t>
            </a:r>
            <a:endParaRPr dirty="0"/>
          </a:p>
          <a:p>
            <a:r>
              <a:rPr dirty="0"/>
              <a:t>- </a:t>
            </a:r>
            <a:r>
              <a:rPr dirty="0" err="1"/>
              <a:t>JRadioButton</a:t>
            </a:r>
            <a:endParaRPr dirty="0"/>
          </a:p>
          <a:p>
            <a:r>
              <a:rPr dirty="0"/>
              <a:t>- </a:t>
            </a:r>
            <a:r>
              <a:rPr dirty="0" err="1"/>
              <a:t>JTextArea</a:t>
            </a:r>
            <a:endParaRPr dirty="0"/>
          </a:p>
          <a:p>
            <a:r>
              <a:rPr dirty="0"/>
              <a:t>- </a:t>
            </a:r>
            <a:r>
              <a:rPr dirty="0" err="1"/>
              <a:t>JButton</a:t>
            </a:r>
            <a:endParaRPr dirty="0"/>
          </a:p>
          <a:p>
            <a:endParaRPr dirty="0"/>
          </a:p>
          <a:p>
            <a:r>
              <a:rPr dirty="0"/>
              <a:t>Uses ActionListener for event handling.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Outcomes</a:t>
            </a:r>
          </a:p>
        </p:txBody>
      </p:sp>
      <p:sp>
        <p:nvSpPr>
          <p:cNvPr id="3" name="Content Placeholder 2"/>
          <p:cNvSpPr>
            <a:spLocks noGrp="1"/>
          </p:cNvSpPr>
          <p:nvPr>
            <p:ph idx="1"/>
          </p:nvPr>
        </p:nvSpPr>
        <p:spPr/>
        <p:txBody>
          <a:bodyPr/>
          <a:lstStyle/>
          <a:p>
            <a:r>
              <a:t>After completing this module students can:</a:t>
            </a:r>
          </a:p>
          <a:p>
            <a:r>
              <a:t>• Build Java GUI applications</a:t>
            </a:r>
          </a:p>
          <a:p>
            <a:r>
              <a:t>• Use Swing components</a:t>
            </a:r>
          </a:p>
          <a:p>
            <a:r>
              <a:t>• Apply layout managers</a:t>
            </a:r>
          </a:p>
          <a:p>
            <a:r>
              <a:t>• Implement event handling</a:t>
            </a:r>
          </a:p>
          <a:p>
            <a:r>
              <a:t>• Build small desktop applications</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181</TotalTime>
  <Words>811</Words>
  <Application>Microsoft Office PowerPoint</Application>
  <PresentationFormat>On-screen Show (4:3)</PresentationFormat>
  <Paragraphs>157</Paragraphs>
  <Slides>21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Calibri</vt:lpstr>
      <vt:lpstr>Calibri Light</vt:lpstr>
      <vt:lpstr>Retrospect</vt:lpstr>
      <vt:lpstr>Unit 2: Introduction to GUI</vt:lpstr>
      <vt:lpstr>CLI vs GUI</vt:lpstr>
      <vt:lpstr>AWT vs Swing</vt:lpstr>
      <vt:lpstr>Basic Swing Window Example (Code)</vt:lpstr>
      <vt:lpstr>Swing Containers</vt:lpstr>
      <vt:lpstr>Swing Component Hierarchy</vt:lpstr>
      <vt:lpstr>Layout Managers</vt:lpstr>
      <vt:lpstr>PowerPoint Presentation</vt:lpstr>
      <vt:lpstr>FlowLayout Example (Code)</vt:lpstr>
      <vt:lpstr>BorderLayout Example (Code)</vt:lpstr>
      <vt:lpstr>Swing Input Components</vt:lpstr>
      <vt:lpstr>Event Handling Concept</vt:lpstr>
      <vt:lpstr>Button Event Example</vt:lpstr>
      <vt:lpstr>Dialog Boxes</vt:lpstr>
      <vt:lpstr>Dialog Example Code</vt:lpstr>
      <vt:lpstr>Menus in Swing</vt:lpstr>
      <vt:lpstr>Menu Code Example</vt:lpstr>
      <vt:lpstr>File Chooser Example</vt:lpstr>
      <vt:lpstr>Mini Project: Student Registration System</vt:lpstr>
      <vt:lpstr>Student Registration Code Structure</vt:lpstr>
      <vt:lpstr>Learning Outcomes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Ashok Bhattarai</cp:lastModifiedBy>
  <cp:revision>7</cp:revision>
  <dcterms:created xsi:type="dcterms:W3CDTF">2013-01-27T09:14:16Z</dcterms:created>
  <dcterms:modified xsi:type="dcterms:W3CDTF">2026-04-08T13:02:32Z</dcterms:modified>
  <cp:category/>
</cp:coreProperties>
</file>