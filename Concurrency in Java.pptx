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58" r:id="rId4"/>
    <p:sldId id="276" r:id="rId5"/>
    <p:sldId id="277" r:id="rId6"/>
    <p:sldId id="278" r:id="rId7"/>
    <p:sldId id="259" r:id="rId8"/>
    <p:sldId id="268" r:id="rId9"/>
    <p:sldId id="260" r:id="rId10"/>
    <p:sldId id="261" r:id="rId11"/>
    <p:sldId id="279" r:id="rId12"/>
    <p:sldId id="270" r:id="rId13"/>
    <p:sldId id="262" r:id="rId14"/>
    <p:sldId id="280" r:id="rId15"/>
    <p:sldId id="272" r:id="rId16"/>
    <p:sldId id="263" r:id="rId17"/>
    <p:sldId id="281" r:id="rId18"/>
    <p:sldId id="282" r:id="rId19"/>
    <p:sldId id="273" r:id="rId20"/>
    <p:sldId id="274" r:id="rId21"/>
    <p:sldId id="284" r:id="rId22"/>
    <p:sldId id="285" r:id="rId23"/>
    <p:sldId id="264" r:id="rId24"/>
    <p:sldId id="275" r:id="rId25"/>
    <p:sldId id="283" r:id="rId26"/>
    <p:sldId id="26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66642B-33DF-48E0-82C8-9A6A55C8B71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DE857-F751-45E3-ABFB-1A72E8E92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52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Output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 is running...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start()</a:t>
            </a:r>
            <a:r>
              <a:rPr lang="en-US" dirty="0"/>
              <a:t> creates a new thread and calls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run()</a:t>
            </a:r>
            <a:r>
              <a:rPr lang="en-US" dirty="0"/>
              <a:t> method.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ADE857-F751-45E3-ABFB-1A72E8E92F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46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the </a:t>
            </a:r>
            <a:r>
              <a:rPr lang="en-US" b="1" dirty="0"/>
              <a:t>recommended approach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ADE857-F751-45E3-ABFB-1A72E8E92F8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35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Example: Two threads running simultaneously.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ADE857-F751-45E3-ABFB-1A72E8E92F8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515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currentThread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returns the </a:t>
            </a:r>
            <a:r>
              <a:rPr lang="en-US" b="1" dirty="0"/>
              <a:t>thread that is currently running the code</a:t>
            </a:r>
            <a:r>
              <a:rPr lang="en-US" dirty="0"/>
              <a:t>. Since it is executing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main()</a:t>
            </a:r>
            <a:r>
              <a:rPr lang="en-US" dirty="0"/>
              <a:t> method, it is in </a:t>
            </a:r>
            <a:r>
              <a:rPr lang="en-US" b="1" dirty="0"/>
              <a:t>RUNNABLE state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ADE857-F751-45E3-ABFB-1A72E8E92F8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732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1F7E-62F2-49D9-A322-2980DFDCB41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00C7-820D-4050-9D9C-AC5B91F1F91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146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1F7E-62F2-49D9-A322-2980DFDCB41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00C7-820D-4050-9D9C-AC5B91F1F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67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1F7E-62F2-49D9-A322-2980DFDCB41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00C7-820D-4050-9D9C-AC5B91F1F91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679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1F7E-62F2-49D9-A322-2980DFDCB41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00C7-820D-4050-9D9C-AC5B91F1F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578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1F7E-62F2-49D9-A322-2980DFDCB41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00C7-820D-4050-9D9C-AC5B91F1F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64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1F7E-62F2-49D9-A322-2980DFDCB41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00C7-820D-4050-9D9C-AC5B91F1F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405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1F7E-62F2-49D9-A322-2980DFDCB41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00C7-820D-4050-9D9C-AC5B91F1F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50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B891F7E-62F2-49D9-A322-2980DFDCB41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8100C7-820D-4050-9D9C-AC5B91F1F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06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1F7E-62F2-49D9-A322-2980DFDCB41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00C7-820D-4050-9D9C-AC5B91F1F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127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1F7E-62F2-49D9-A322-2980DFDCB41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00C7-820D-4050-9D9C-AC5B91F1F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1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1F7E-62F2-49D9-A322-2980DFDCB41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00C7-820D-4050-9D9C-AC5B91F1F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73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955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B891F7E-62F2-49D9-A322-2980DFDCB41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D8100C7-820D-4050-9D9C-AC5B91F1F91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881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1DF8-CF6F-B164-87EE-1A057D8E8D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Concurrency in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D438C-4C0F-207B-9183-F86F171CC2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631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B10B9-59BD-A8CA-C6AE-C538A09D6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Concurrency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26E30-111F-1141-E75D-7FE0E7469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Concurrency</a:t>
            </a:r>
            <a:r>
              <a:rPr lang="en-US" dirty="0"/>
              <a:t> means executing multiple tasks at the same time. </a:t>
            </a:r>
          </a:p>
          <a:p>
            <a:r>
              <a:rPr lang="en-US" dirty="0"/>
              <a:t>It improves </a:t>
            </a:r>
            <a:r>
              <a:rPr lang="en-US" b="1" dirty="0"/>
              <a:t>program performance and responsiveness</a:t>
            </a:r>
            <a:r>
              <a:rPr lang="en-US" dirty="0"/>
              <a:t>. </a:t>
            </a:r>
          </a:p>
          <a:p>
            <a:r>
              <a:rPr lang="en-US" dirty="0"/>
              <a:t>Commonly used in </a:t>
            </a:r>
            <a:r>
              <a:rPr lang="en-US" b="1" dirty="0"/>
              <a:t>modern operating systems and applications</a:t>
            </a:r>
            <a:r>
              <a:rPr lang="en-US" dirty="0"/>
              <a:t>. </a:t>
            </a:r>
          </a:p>
          <a:p>
            <a:r>
              <a:rPr lang="en-US" dirty="0"/>
              <a:t>Achieved using </a:t>
            </a:r>
            <a:r>
              <a:rPr lang="en-US" b="1" dirty="0"/>
              <a:t>threads or processes</a:t>
            </a:r>
            <a:r>
              <a:rPr lang="en-US" dirty="0"/>
              <a:t>. </a:t>
            </a:r>
          </a:p>
          <a:p>
            <a:r>
              <a:rPr lang="en-US" dirty="0"/>
              <a:t>Better CPU utilization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A web browser:</a:t>
            </a:r>
          </a:p>
          <a:p>
            <a:r>
              <a:rPr lang="en-US" dirty="0"/>
              <a:t>One thread loads the webpage </a:t>
            </a:r>
          </a:p>
          <a:p>
            <a:r>
              <a:rPr lang="en-US" dirty="0"/>
              <a:t>Another downloads files </a:t>
            </a:r>
          </a:p>
          <a:p>
            <a:r>
              <a:rPr lang="en-US" dirty="0"/>
              <a:t>Another handles user input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172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68028-082B-1E72-DBAA-5CAB66952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Thread?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EDB55-061E-0E35-B22E-36BD7B22F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thread</a:t>
            </a:r>
            <a:r>
              <a:rPr lang="en-US" dirty="0"/>
              <a:t> is the smallest unit of execution in a program. A </a:t>
            </a:r>
            <a:r>
              <a:rPr lang="en-US" b="1" dirty="0"/>
              <a:t>Thread</a:t>
            </a:r>
            <a:r>
              <a:rPr lang="en-US" dirty="0"/>
              <a:t> is a lightweight process that runs independently.</a:t>
            </a:r>
          </a:p>
          <a:p>
            <a:endParaRPr lang="en-US" dirty="0"/>
          </a:p>
          <a:p>
            <a:r>
              <a:rPr lang="en-US" dirty="0"/>
              <a:t>Multiple threads can run </a:t>
            </a:r>
            <a:r>
              <a:rPr lang="en-US" b="1" dirty="0"/>
              <a:t>within a single process</a:t>
            </a:r>
            <a:r>
              <a:rPr lang="en-US" dirty="0"/>
              <a:t>. </a:t>
            </a:r>
          </a:p>
          <a:p>
            <a:r>
              <a:rPr lang="en-US" dirty="0"/>
              <a:t>Threads share: </a:t>
            </a:r>
          </a:p>
          <a:p>
            <a:pPr lvl="1"/>
            <a:r>
              <a:rPr lang="en-US" dirty="0"/>
              <a:t>Memory </a:t>
            </a:r>
          </a:p>
          <a:p>
            <a:pPr lvl="1"/>
            <a:r>
              <a:rPr lang="en-US" dirty="0"/>
              <a:t>Resources </a:t>
            </a:r>
          </a:p>
          <a:p>
            <a:r>
              <a:rPr lang="en-US" dirty="0"/>
              <a:t>Each thread has its </a:t>
            </a:r>
            <a:r>
              <a:rPr lang="en-US" b="1" dirty="0"/>
              <a:t>own execution path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Browser downloading files while loading a webpage.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848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A164-FA7E-1938-F9D3-09931D580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E4859-2224-4439-1DF4-2396006DA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Java provides two ways to create threads:</a:t>
            </a:r>
          </a:p>
          <a:p>
            <a:pPr>
              <a:buFont typeface="+mj-lt"/>
              <a:buAutoNum type="arabicPeriod"/>
            </a:pPr>
            <a:r>
              <a:rPr lang="en-US" dirty="0"/>
              <a:t>Extending the </a:t>
            </a:r>
            <a:r>
              <a:rPr lang="en-US" dirty="0">
                <a:latin typeface="Courier New" panose="02070309020205020404" pitchFamily="49" charset="0"/>
              </a:rPr>
              <a:t>Thread</a:t>
            </a:r>
            <a:r>
              <a:rPr lang="en-US" dirty="0"/>
              <a:t> class </a:t>
            </a:r>
          </a:p>
          <a:p>
            <a:pPr>
              <a:buFont typeface="+mj-lt"/>
              <a:buAutoNum type="arabicPeriod"/>
            </a:pPr>
            <a:r>
              <a:rPr lang="en-US" dirty="0"/>
              <a:t>Implementing the </a:t>
            </a:r>
            <a:r>
              <a:rPr lang="en-US" dirty="0">
                <a:latin typeface="Courier New" panose="02070309020205020404" pitchFamily="49" charset="0"/>
              </a:rPr>
              <a:t>Runnable</a:t>
            </a:r>
            <a:r>
              <a:rPr lang="en-US" dirty="0"/>
              <a:t> interface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874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C84D8-2843-BE14-0649-F6A27DC87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Thread (Method 1 – Extending Thread)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D36D5-0F3A-2EF6-564A-E9831E084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class </a:t>
            </a:r>
            <a:r>
              <a:rPr lang="en-US" dirty="0" err="1"/>
              <a:t>MyThread</a:t>
            </a:r>
            <a:r>
              <a:rPr lang="en-US" dirty="0"/>
              <a:t> extends Thread {</a:t>
            </a:r>
          </a:p>
          <a:p>
            <a:r>
              <a:rPr lang="en-US" dirty="0"/>
              <a:t>    public void run()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("Thread is running...");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MyThread</a:t>
            </a:r>
            <a:r>
              <a:rPr lang="en-US" dirty="0"/>
              <a:t> t1 = new </a:t>
            </a:r>
            <a:r>
              <a:rPr lang="en-US" dirty="0" err="1"/>
              <a:t>MyThread</a:t>
            </a:r>
            <a:r>
              <a:rPr lang="en-US" dirty="0"/>
              <a:t>();</a:t>
            </a:r>
          </a:p>
          <a:p>
            <a:r>
              <a:rPr lang="en-US" dirty="0"/>
              <a:t>        t1.start();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79056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630D-4D4E-E5D3-2A08-24A175C1E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Thread (Method 2 – Runnable Interface)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6EFBC-539D-3A5C-371A-47F37291F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class </a:t>
            </a:r>
            <a:r>
              <a:rPr lang="en-US" dirty="0" err="1"/>
              <a:t>MyRunnable</a:t>
            </a:r>
            <a:r>
              <a:rPr lang="en-US" dirty="0"/>
              <a:t> implements Runnable {</a:t>
            </a:r>
          </a:p>
          <a:p>
            <a:r>
              <a:rPr lang="en-US" dirty="0"/>
              <a:t>    public void run()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("Thread using Runnable interface");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MyRunnable</a:t>
            </a:r>
            <a:r>
              <a:rPr lang="en-US" dirty="0"/>
              <a:t> obj = new </a:t>
            </a:r>
            <a:r>
              <a:rPr lang="en-US" dirty="0" err="1"/>
              <a:t>MyRunnable</a:t>
            </a:r>
            <a:r>
              <a:rPr lang="en-US" dirty="0"/>
              <a:t>();</a:t>
            </a:r>
          </a:p>
          <a:p>
            <a:r>
              <a:rPr lang="en-US" dirty="0"/>
              <a:t>        Thread t1 = new Thread(obj);</a:t>
            </a:r>
          </a:p>
          <a:p>
            <a:r>
              <a:rPr lang="en-US" dirty="0"/>
              <a:t>        t1.start();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856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3AB35-4168-33F1-AC9C-510A73F7D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57BF5-1762-49AB-E564-07F49E729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states of a thread:</a:t>
            </a:r>
          </a:p>
          <a:p>
            <a:r>
              <a:rPr lang="en-US" b="1" dirty="0"/>
              <a:t>New</a:t>
            </a:r>
            <a:r>
              <a:rPr lang="en-US" dirty="0"/>
              <a:t> – Thread is created but not started. </a:t>
            </a:r>
          </a:p>
          <a:p>
            <a:r>
              <a:rPr lang="en-US" b="1" dirty="0"/>
              <a:t>Runnable</a:t>
            </a:r>
            <a:r>
              <a:rPr lang="en-US" dirty="0"/>
              <a:t> – Ready to run. </a:t>
            </a:r>
          </a:p>
          <a:p>
            <a:r>
              <a:rPr lang="en-US" b="1" dirty="0"/>
              <a:t>Running</a:t>
            </a:r>
            <a:r>
              <a:rPr lang="en-US" dirty="0"/>
              <a:t> – Currently executing. </a:t>
            </a:r>
          </a:p>
          <a:p>
            <a:r>
              <a:rPr lang="en-US" b="1" dirty="0"/>
              <a:t>Blocked / Waiting</a:t>
            </a:r>
            <a:r>
              <a:rPr lang="en-US" dirty="0"/>
              <a:t> – Waiting for a resource or event. </a:t>
            </a:r>
          </a:p>
          <a:p>
            <a:r>
              <a:rPr lang="en-US" b="1" dirty="0"/>
              <a:t>Terminated (Dead)</a:t>
            </a:r>
            <a:r>
              <a:rPr lang="en-US" dirty="0"/>
              <a:t> – Execution completed.</a:t>
            </a:r>
          </a:p>
          <a:p>
            <a:endParaRPr lang="en-US" dirty="0"/>
          </a:p>
          <a:p>
            <a:r>
              <a:rPr lang="en-US" dirty="0"/>
              <a:t>Thread t = new Thread();</a:t>
            </a:r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t.getState</a:t>
            </a:r>
            <a:r>
              <a:rPr lang="en-US" dirty="0"/>
              <a:t>());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426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12192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0"/>
            <a:ext cx="11582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States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304800" y="768096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>
                <a:solidFill>
                  <a:srgbClr val="16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lifecycle of a Java thread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304800" y="1584960"/>
            <a:ext cx="1950720" cy="853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4800" y="1584960"/>
            <a:ext cx="1950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2438400" y="1584960"/>
            <a:ext cx="1950720" cy="8534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8400" y="1584960"/>
            <a:ext cx="1950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4876800" y="1584960"/>
            <a:ext cx="1950720" cy="853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6800" y="1584960"/>
            <a:ext cx="1950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7376160" y="1584960"/>
            <a:ext cx="1950720" cy="853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76160" y="1584960"/>
            <a:ext cx="1950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/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9814560" y="1584960"/>
            <a:ext cx="1950720" cy="853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14560" y="1584960"/>
            <a:ext cx="1950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2255520" y="1987296"/>
            <a:ext cx="24384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1767840"/>
            <a:ext cx="30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</a:rPr>
              <a:t>▶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4389120" y="1987296"/>
            <a:ext cx="24384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11040" y="1767840"/>
            <a:ext cx="30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</a:rPr>
              <a:t>▶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6888480" y="1987296"/>
            <a:ext cx="24384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0400" y="1767840"/>
            <a:ext cx="30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</a:rPr>
              <a:t>▶</a:t>
            </a:r>
            <a:endParaRPr lang="en-US" sz="1467" dirty="0"/>
          </a:p>
        </p:txBody>
      </p:sp>
      <p:sp>
        <p:nvSpPr>
          <p:cNvPr id="22" name="Shape 20"/>
          <p:cNvSpPr/>
          <p:nvPr/>
        </p:nvSpPr>
        <p:spPr>
          <a:xfrm>
            <a:off x="9326880" y="1987296"/>
            <a:ext cx="24384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48800" y="1767840"/>
            <a:ext cx="30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</a:rPr>
              <a:t>▶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365760" y="2621280"/>
            <a:ext cx="188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Thread()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created, not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yet</a:t>
            </a:r>
            <a:endParaRPr lang="en-US" sz="1333" dirty="0"/>
          </a:p>
        </p:txBody>
      </p:sp>
      <p:sp>
        <p:nvSpPr>
          <p:cNvPr id="25" name="Text 23"/>
          <p:cNvSpPr/>
          <p:nvPr/>
        </p:nvSpPr>
        <p:spPr>
          <a:xfrm>
            <a:off x="2499360" y="2621280"/>
            <a:ext cx="188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start() called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to run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scheduler</a:t>
            </a:r>
            <a:endParaRPr lang="en-US" sz="1333" dirty="0"/>
          </a:p>
        </p:txBody>
      </p:sp>
      <p:sp>
        <p:nvSpPr>
          <p:cNvPr id="26" name="Text 24"/>
          <p:cNvSpPr/>
          <p:nvPr/>
        </p:nvSpPr>
        <p:spPr>
          <a:xfrm>
            <a:off x="4937760" y="2621280"/>
            <a:ext cx="188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executing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thread's run()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body</a:t>
            </a:r>
            <a:endParaRPr lang="en-US" sz="1333" dirty="0"/>
          </a:p>
        </p:txBody>
      </p:sp>
      <p:sp>
        <p:nvSpPr>
          <p:cNvPr id="27" name="Text 25"/>
          <p:cNvSpPr/>
          <p:nvPr/>
        </p:nvSpPr>
        <p:spPr>
          <a:xfrm>
            <a:off x="7437120" y="2621280"/>
            <a:ext cx="188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lock/I/O or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sleep()/wait()</a:t>
            </a:r>
            <a:endParaRPr lang="en-US" sz="1333" dirty="0"/>
          </a:p>
        </p:txBody>
      </p:sp>
      <p:sp>
        <p:nvSpPr>
          <p:cNvPr id="28" name="Text 26"/>
          <p:cNvSpPr/>
          <p:nvPr/>
        </p:nvSpPr>
        <p:spPr>
          <a:xfrm>
            <a:off x="9875520" y="2621280"/>
            <a:ext cx="188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run() returned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exception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thrown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365760" y="3718560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API Methods:</a:t>
            </a:r>
            <a:endParaRPr lang="en-US" sz="1733" dirty="0"/>
          </a:p>
        </p:txBody>
      </p:sp>
      <p:sp>
        <p:nvSpPr>
          <p:cNvPr id="30" name="Shape 28"/>
          <p:cNvSpPr/>
          <p:nvPr/>
        </p:nvSpPr>
        <p:spPr>
          <a:xfrm>
            <a:off x="365760" y="4145280"/>
            <a:ext cx="11460480" cy="2377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85120" y="4194048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16B2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4291584"/>
            <a:ext cx="1115568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thread.start();          // NEW → RUNNABLE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Thread.sleep(500);       // RUNNING → TIMED_WAITING (ms)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thread.join();           // caller blocks until thread terminates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synchronized(lock) {}    // may block thread waiting for monitor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object.wait();           // releases lock; enters WAITING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object.notify();         // wakes one waiting thread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thread.interrupt();      // sets interrupt flag; wakes sleeping thread</a:t>
            </a:r>
            <a:endParaRPr lang="en-US" sz="146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79DAA-AF15-F2BE-E856-B51F21B3C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FC2C9-81B9-79F8-B418-F13C053F1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Thread transitions between different states.</a:t>
            </a:r>
          </a:p>
          <a:p>
            <a:r>
              <a:rPr lang="en-US" dirty="0"/>
              <a:t>Flow example:</a:t>
            </a:r>
          </a:p>
          <a:p>
            <a:r>
              <a:rPr lang="en-US" dirty="0"/>
              <a:t>New → Runnable → Running → Waiting/Blocked → Runnable → Terminated</a:t>
            </a:r>
          </a:p>
          <a:p>
            <a:r>
              <a:rPr lang="en-US" dirty="0"/>
              <a:t>This cycle is managed by the </a:t>
            </a:r>
            <a:r>
              <a:rPr lang="en-US" b="1" dirty="0"/>
              <a:t>operating system scheduler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131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BC58E-4FAB-473B-75E1-34A7AD2E3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Multithreaded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F7E75-65E2-2198-7C12-2746E8589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Steps to create a multithreaded program:</a:t>
            </a:r>
          </a:p>
          <a:p>
            <a:pPr>
              <a:buFont typeface="+mj-lt"/>
              <a:buAutoNum type="arabicPeriod"/>
            </a:pPr>
            <a:r>
              <a:rPr lang="en-US" dirty="0"/>
              <a:t>Define a </a:t>
            </a:r>
            <a:r>
              <a:rPr lang="en-US" b="1" dirty="0"/>
              <a:t>task</a:t>
            </a:r>
            <a:r>
              <a:rPr lang="en-US" dirty="0"/>
              <a:t> to run in a thread. 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a </a:t>
            </a:r>
            <a:r>
              <a:rPr lang="en-US" b="1" dirty="0"/>
              <a:t>thread object</a:t>
            </a:r>
            <a:r>
              <a:rPr lang="en-US" dirty="0"/>
              <a:t>. </a:t>
            </a:r>
          </a:p>
          <a:p>
            <a:pPr>
              <a:buFont typeface="+mj-lt"/>
              <a:buAutoNum type="arabicPeriod"/>
            </a:pPr>
            <a:r>
              <a:rPr lang="en-US" dirty="0"/>
              <a:t>Start the thread using a </a:t>
            </a:r>
            <a:r>
              <a:rPr lang="en-US" b="1" dirty="0"/>
              <a:t>start method</a:t>
            </a:r>
            <a:r>
              <a:rPr lang="en-US" dirty="0"/>
              <a:t>. </a:t>
            </a:r>
          </a:p>
          <a:p>
            <a:pPr>
              <a:buFont typeface="+mj-lt"/>
              <a:buAutoNum type="arabicPeriod"/>
            </a:pPr>
            <a:r>
              <a:rPr lang="en-US" dirty="0"/>
              <a:t>Manage thread execution.</a:t>
            </a:r>
          </a:p>
          <a:p>
            <a:pPr marL="0" indent="0">
              <a:buNone/>
            </a:pPr>
            <a:r>
              <a:rPr lang="en-US" b="1" dirty="0"/>
              <a:t>Benefits</a:t>
            </a:r>
            <a:endParaRPr lang="en-US" dirty="0"/>
          </a:p>
          <a:p>
            <a:r>
              <a:rPr lang="en-US" dirty="0"/>
              <a:t>Faster execution </a:t>
            </a:r>
          </a:p>
          <a:p>
            <a:r>
              <a:rPr lang="en-US" dirty="0"/>
              <a:t>Better CPU utilization </a:t>
            </a:r>
          </a:p>
          <a:p>
            <a:r>
              <a:rPr lang="en-US" dirty="0"/>
              <a:t>Improved application responsiveness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205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D49F1-C6E5-3799-F0DB-2BE409439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Multithreaded Program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DAC55-7E64-DEFA-7E1A-2EFFDDB13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56212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class Task extends Thread {</a:t>
            </a:r>
          </a:p>
          <a:p>
            <a:r>
              <a:rPr lang="en-US" dirty="0"/>
              <a:t>    public void run() {</a:t>
            </a:r>
          </a:p>
          <a:p>
            <a:r>
              <a:rPr lang="en-US" dirty="0"/>
              <a:t>        for(int i=1;i&lt;=5;i++){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Thread.currentThread</a:t>
            </a:r>
            <a:r>
              <a:rPr lang="en-US" dirty="0"/>
              <a:t>().</a:t>
            </a:r>
            <a:r>
              <a:rPr lang="en-US" dirty="0" err="1"/>
              <a:t>getName</a:t>
            </a:r>
            <a:r>
              <a:rPr lang="en-US" dirty="0"/>
              <a:t>() + " : " + i);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Task t1 = new Task();</a:t>
            </a:r>
          </a:p>
          <a:p>
            <a:r>
              <a:rPr lang="en-US" dirty="0"/>
              <a:t>        Task t2 = new Task();</a:t>
            </a:r>
          </a:p>
          <a:p>
            <a:endParaRPr lang="en-US" dirty="0"/>
          </a:p>
          <a:p>
            <a:r>
              <a:rPr lang="en-US" dirty="0"/>
              <a:t>        t1.start();</a:t>
            </a:r>
          </a:p>
          <a:p>
            <a:r>
              <a:rPr lang="en-US" dirty="0"/>
              <a:t>        t2.start();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37389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12192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0"/>
            <a:ext cx="11582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Multithreaded Programs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304800" y="768096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>
                <a:solidFill>
                  <a:srgbClr val="16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and APIs for Java concurrency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365760" y="1402080"/>
            <a:ext cx="5547360" cy="4145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02080"/>
            <a:ext cx="55473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 — Extend Thread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5547360" cy="2133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877568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16B2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75104"/>
            <a:ext cx="5242560" cy="188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MyThread extends Thread {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run() {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System.out.println("Running in: "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Thread.currentThread().getName());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MyThread().start();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6278880" y="1402080"/>
            <a:ext cx="5547360" cy="4145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8880" y="1402080"/>
            <a:ext cx="55473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 — Implement Runnable  ✓ Preferred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8880" y="1828800"/>
            <a:ext cx="5547360" cy="2133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85120" y="1877568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16B2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1760" y="1975104"/>
            <a:ext cx="5242560" cy="188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MyTask implements Runnable {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run() {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doWork(); // decoupled logic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t = new Thread(new MyTask());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t.start();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365760" y="4084320"/>
            <a:ext cx="11460480" cy="4145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084320"/>
            <a:ext cx="114604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3 — ExecutorService (Production-grade)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4511040"/>
            <a:ext cx="1146048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85120" y="4559808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16B2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657344"/>
            <a:ext cx="111556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ExecutorService exec = Executors.newFixedThreadPool(4);   // reuse 4 threads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Future&lt;Integer&gt; future = exec.submit(() -&gt; compute());     // Callable returns result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List&lt;Future&lt;String&gt;&gt; results = exec.invokeAll(taskList);   // batch submission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exec.shutdown(); exec.awaitTermination(10, TimeUnit.SECONDS);</a:t>
            </a:r>
            <a:endParaRPr lang="en-US" sz="1467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BBAFC-E51E-2277-43C5-DDA3A79C5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DEEE8-9B95-6888-9A1C-C79BC8CC0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Important properties of threads: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Thread ID</a:t>
            </a:r>
            <a:r>
              <a:rPr lang="en-US" dirty="0"/>
              <a:t> – Unique identifier.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Thread Name</a:t>
            </a:r>
            <a:r>
              <a:rPr lang="en-US" dirty="0"/>
              <a:t> – Used for identification.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Priority</a:t>
            </a:r>
            <a:r>
              <a:rPr lang="en-US" dirty="0"/>
              <a:t> – Determines execution preference.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Daemon / Background Thread</a:t>
            </a:r>
            <a:r>
              <a:rPr lang="en-US" dirty="0"/>
              <a:t> – Runs in background.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Thread State</a:t>
            </a:r>
            <a:r>
              <a:rPr lang="en-US" dirty="0"/>
              <a:t> – Current stage of execution.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341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8D13-25D2-8C1B-2665-026986459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A42D8-B681-580A-C782-AF48022FD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Example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Thread t = </a:t>
            </a:r>
            <a:r>
              <a:rPr lang="en-US" dirty="0" err="1"/>
              <a:t>Thread.currentThread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("Thread Name: " + </a:t>
            </a:r>
            <a:r>
              <a:rPr lang="en-US" dirty="0" err="1"/>
              <a:t>t.getName</a:t>
            </a:r>
            <a:r>
              <a:rPr lang="en-US" dirty="0"/>
              <a:t>());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("Thread Priority: " + </a:t>
            </a:r>
            <a:r>
              <a:rPr lang="en-US" dirty="0" err="1"/>
              <a:t>t.getPriority</a:t>
            </a:r>
            <a:r>
              <a:rPr lang="en-US" dirty="0"/>
              <a:t>());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("Thread State: " + </a:t>
            </a:r>
            <a:r>
              <a:rPr lang="en-US" dirty="0" err="1"/>
              <a:t>t.getState</a:t>
            </a:r>
            <a:r>
              <a:rPr lang="en-US" dirty="0"/>
              <a:t>());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7983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12192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0"/>
            <a:ext cx="11582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Properties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304800" y="768096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>
                <a:solidFill>
                  <a:srgbClr val="16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and inspecting Java threads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365760" y="1402080"/>
            <a:ext cx="3657600" cy="2316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02080"/>
            <a:ext cx="121920" cy="2316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499616"/>
            <a:ext cx="335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585216" y="1865376"/>
            <a:ext cx="3352800" cy="173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label for debugging.</a:t>
            </a:r>
            <a:endParaRPr lang="en-US" sz="1533" dirty="0"/>
          </a:p>
          <a:p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thread.setName("worker-1");</a:t>
            </a:r>
            <a:endParaRPr lang="en-US" sz="1533" dirty="0"/>
          </a:p>
          <a:p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Thread.currentThread().getName();</a:t>
            </a:r>
            <a:endParaRPr lang="en-US" sz="1533" dirty="0"/>
          </a:p>
        </p:txBody>
      </p:sp>
      <p:sp>
        <p:nvSpPr>
          <p:cNvPr id="10" name="Shape 8"/>
          <p:cNvSpPr/>
          <p:nvPr/>
        </p:nvSpPr>
        <p:spPr>
          <a:xfrm>
            <a:off x="4267200" y="1402080"/>
            <a:ext cx="3657600" cy="2316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67200" y="1402080"/>
            <a:ext cx="121920" cy="2316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6656" y="1499616"/>
            <a:ext cx="335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4486656" y="1865376"/>
            <a:ext cx="3352800" cy="173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long assigned by JVM.</a:t>
            </a:r>
            <a:endParaRPr lang="en-US" sz="1533" dirty="0"/>
          </a:p>
          <a:p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thread.getId();</a:t>
            </a:r>
            <a:endParaRPr lang="en-US" sz="1533" dirty="0"/>
          </a:p>
          <a:p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≥ 1; never reused in session.</a:t>
            </a:r>
            <a:endParaRPr lang="en-US" sz="1533" dirty="0"/>
          </a:p>
        </p:txBody>
      </p:sp>
      <p:sp>
        <p:nvSpPr>
          <p:cNvPr id="14" name="Shape 12"/>
          <p:cNvSpPr/>
          <p:nvPr/>
        </p:nvSpPr>
        <p:spPr>
          <a:xfrm>
            <a:off x="8168640" y="1402080"/>
            <a:ext cx="3657600" cy="2316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68640" y="1402080"/>
            <a:ext cx="121920" cy="2316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8096" y="1499616"/>
            <a:ext cx="335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8388096" y="1865376"/>
            <a:ext cx="3352800" cy="173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 threads die when all non-</a:t>
            </a:r>
            <a:endParaRPr lang="en-US" sz="1533" dirty="0"/>
          </a:p>
          <a:p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 threads finish. Must set</a:t>
            </a:r>
            <a:endParaRPr lang="en-US" sz="1533" dirty="0"/>
          </a:p>
          <a:p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start(). JVM GC is daemon.</a:t>
            </a:r>
            <a:endParaRPr lang="en-US" sz="1533" dirty="0"/>
          </a:p>
        </p:txBody>
      </p:sp>
      <p:sp>
        <p:nvSpPr>
          <p:cNvPr id="18" name="Shape 16"/>
          <p:cNvSpPr/>
          <p:nvPr/>
        </p:nvSpPr>
        <p:spPr>
          <a:xfrm>
            <a:off x="365760" y="3962400"/>
            <a:ext cx="3657600" cy="2316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962400"/>
            <a:ext cx="121920" cy="2316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4059936"/>
            <a:ext cx="335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585216" y="4425696"/>
            <a:ext cx="3352800" cy="173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(MIN) – 5 (NORM) – 10 (MAX).</a:t>
            </a:r>
            <a:endParaRPr lang="en-US" sz="1533" dirty="0"/>
          </a:p>
          <a:p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thread.setPriority(Thread.MAX_PRIORITY);</a:t>
            </a:r>
            <a:endParaRPr lang="en-US" sz="1533" dirty="0"/>
          </a:p>
          <a:p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to scheduler — not guaranteed.</a:t>
            </a:r>
            <a:endParaRPr lang="en-US" sz="1533" dirty="0"/>
          </a:p>
        </p:txBody>
      </p:sp>
      <p:sp>
        <p:nvSpPr>
          <p:cNvPr id="22" name="Shape 20"/>
          <p:cNvSpPr/>
          <p:nvPr/>
        </p:nvSpPr>
        <p:spPr>
          <a:xfrm>
            <a:off x="4267200" y="3962400"/>
            <a:ext cx="3657600" cy="2316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67200" y="3962400"/>
            <a:ext cx="121920" cy="2316480"/>
          </a:xfrm>
          <a:prstGeom prst="rect">
            <a:avLst/>
          </a:prstGeom>
          <a:solidFill>
            <a:srgbClr val="16B2C3"/>
          </a:solidFill>
          <a:ln w="12700">
            <a:solidFill>
              <a:srgbClr val="16B2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6656" y="4059936"/>
            <a:ext cx="335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Group</a:t>
            </a:r>
            <a:endParaRPr lang="en-US" sz="1733" dirty="0"/>
          </a:p>
        </p:txBody>
      </p:sp>
      <p:sp>
        <p:nvSpPr>
          <p:cNvPr id="25" name="Text 23"/>
          <p:cNvSpPr/>
          <p:nvPr/>
        </p:nvSpPr>
        <p:spPr>
          <a:xfrm>
            <a:off x="4486656" y="4425696"/>
            <a:ext cx="3352800" cy="173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Organises related threads for</a:t>
            </a:r>
            <a:endParaRPr lang="en-US" sz="1533" dirty="0"/>
          </a:p>
          <a:p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operations. Default group</a:t>
            </a:r>
            <a:endParaRPr lang="en-US" sz="1533" dirty="0"/>
          </a:p>
          <a:p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from parent thread.</a:t>
            </a:r>
            <a:endParaRPr lang="en-US" sz="1533" dirty="0"/>
          </a:p>
        </p:txBody>
      </p:sp>
      <p:sp>
        <p:nvSpPr>
          <p:cNvPr id="26" name="Shape 24"/>
          <p:cNvSpPr/>
          <p:nvPr/>
        </p:nvSpPr>
        <p:spPr>
          <a:xfrm>
            <a:off x="8168640" y="3962400"/>
            <a:ext cx="3657600" cy="2316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68640" y="3962400"/>
            <a:ext cx="121920" cy="2316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88096" y="4059936"/>
            <a:ext cx="335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Size</a:t>
            </a:r>
            <a:endParaRPr lang="en-US" sz="1733" dirty="0"/>
          </a:p>
        </p:txBody>
      </p:sp>
      <p:sp>
        <p:nvSpPr>
          <p:cNvPr id="29" name="Text 27"/>
          <p:cNvSpPr/>
          <p:nvPr/>
        </p:nvSpPr>
        <p:spPr>
          <a:xfrm>
            <a:off x="8388096" y="4425696"/>
            <a:ext cx="3352800" cy="173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constructor param (bytes).</a:t>
            </a:r>
            <a:endParaRPr lang="en-US" sz="1533" dirty="0"/>
          </a:p>
          <a:p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Thread(group, r, name, stackSize);</a:t>
            </a:r>
            <a:endParaRPr lang="en-US" sz="1533" dirty="0"/>
          </a:p>
          <a:p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platform default (~256KB–1MB).</a:t>
            </a:r>
            <a:endParaRPr lang="en-US" sz="15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89E80-1706-CDE4-D32E-6C45F2AA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9132B-2F7E-2A93-C05C-3A20411B8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When multiple threads access </a:t>
            </a:r>
            <a:r>
              <a:rPr lang="en-US" b="1" dirty="0"/>
              <a:t>shared data</a:t>
            </a:r>
            <a:r>
              <a:rPr lang="en-US" dirty="0"/>
              <a:t>, conflicts may occur.</a:t>
            </a:r>
          </a:p>
          <a:p>
            <a:pPr>
              <a:buNone/>
            </a:pPr>
            <a:r>
              <a:rPr lang="en-US" dirty="0"/>
              <a:t>This issue is called </a:t>
            </a:r>
            <a:r>
              <a:rPr lang="en-US" b="1" dirty="0"/>
              <a:t>Race Condition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Synchronization</a:t>
            </a:r>
            <a:r>
              <a:rPr lang="en-US" dirty="0"/>
              <a:t> ensures: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one thread accesses critical data at a 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consistency is maintained. </a:t>
            </a:r>
          </a:p>
          <a:p>
            <a:pPr>
              <a:buNone/>
            </a:pPr>
            <a:r>
              <a:rPr lang="en-US" dirty="0"/>
              <a:t>Common techniques: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Locks / Mutex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Semaphores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Monitors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868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0171A-47AA-985E-A155-33ED7D77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5E475-D915-F3BE-FA25-2A1CA73B2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multiple threads access shared data, </a:t>
            </a:r>
            <a:r>
              <a:rPr lang="en-US" b="1" dirty="0"/>
              <a:t>race conditions</a:t>
            </a:r>
            <a:r>
              <a:rPr lang="en-US" dirty="0"/>
              <a:t> may occur.</a:t>
            </a:r>
          </a:p>
          <a:p>
            <a:r>
              <a:rPr lang="en-US" b="1" dirty="0"/>
              <a:t>Example Without Synchronization</a:t>
            </a:r>
          </a:p>
          <a:p>
            <a:r>
              <a:rPr lang="en-US" dirty="0"/>
              <a:t>class Counter {</a:t>
            </a:r>
            <a:br>
              <a:rPr lang="en-US" dirty="0"/>
            </a:br>
            <a:r>
              <a:rPr lang="en-US" dirty="0"/>
              <a:t>    int count = 0;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void increment() {</a:t>
            </a:r>
            <a:br>
              <a:rPr lang="en-US" dirty="0"/>
            </a:br>
            <a:r>
              <a:rPr lang="en-US" dirty="0"/>
              <a:t>        count++;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dirty="0"/>
              <a:t>If two threads call increment() simultaneously, results may be incorrect.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02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59089-B53F-99E1-9F6D-23EB4B782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Synchronization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9D6FA-BC08-2578-D98E-A5FCBAE0D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synchronized keyword.</a:t>
            </a:r>
          </a:p>
          <a:p>
            <a:r>
              <a:rPr lang="en-US" dirty="0"/>
              <a:t>class Counter {</a:t>
            </a:r>
            <a:br>
              <a:rPr lang="en-US" dirty="0"/>
            </a:br>
            <a:r>
              <a:rPr lang="en-US" dirty="0"/>
              <a:t>    int count = 0;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synchronized void increment() {</a:t>
            </a:r>
            <a:br>
              <a:rPr lang="en-US" dirty="0"/>
            </a:br>
            <a:r>
              <a:rPr lang="en-US" dirty="0"/>
              <a:t>        count++;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dirty="0"/>
              <a:t>Now only </a:t>
            </a:r>
            <a:r>
              <a:rPr lang="en-US" b="1" dirty="0"/>
              <a:t>one thread can access the method at a time</a:t>
            </a:r>
            <a:r>
              <a:rPr lang="en-US" dirty="0"/>
              <a:t>, preventing data corruption.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959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12192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0"/>
            <a:ext cx="11582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Synchronization — Concepts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304800" y="768096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>
                <a:solidFill>
                  <a:srgbClr val="16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 and Java's solutions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365760" y="1402080"/>
            <a:ext cx="536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Race Condition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365760" y="1804416"/>
            <a:ext cx="5364480" cy="2194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853184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16B2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950720"/>
            <a:ext cx="505968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 thread-safe — read-modify-write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Counter {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int count = 0;    // shared state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increment() {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count++;   // 3 CPU ops: read, add 1, write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           // Two threads can both read 5, write 6 → lost update!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6096000" y="1402080"/>
            <a:ext cx="573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733" dirty="0"/>
          </a:p>
        </p:txBody>
      </p:sp>
      <p:sp>
        <p:nvSpPr>
          <p:cNvPr id="11" name="Shape 9"/>
          <p:cNvSpPr/>
          <p:nvPr/>
        </p:nvSpPr>
        <p:spPr>
          <a:xfrm>
            <a:off x="6096000" y="1804416"/>
            <a:ext cx="5730240" cy="10728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96000" y="1804416"/>
            <a:ext cx="109728" cy="107289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8880" y="1853184"/>
            <a:ext cx="536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method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6278880" y="2170176"/>
            <a:ext cx="53644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0A7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synchronized void increment() { count++; }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6096000" y="2999232"/>
            <a:ext cx="5730240" cy="10728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96000" y="2999232"/>
            <a:ext cx="109728" cy="1072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8880" y="3048000"/>
            <a:ext cx="536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block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6278880" y="3364992"/>
            <a:ext cx="53644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0A7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synchronized(lock) { count++; }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6096000" y="4194048"/>
            <a:ext cx="5730240" cy="10728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96000" y="4194048"/>
            <a:ext cx="109728" cy="10728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8880" y="4242816"/>
            <a:ext cx="536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6278880" y="4559808"/>
            <a:ext cx="53644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0A7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volatile boolean flag = true;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6096000" y="5388864"/>
            <a:ext cx="5730240" cy="10728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96000" y="5388864"/>
            <a:ext cx="109728" cy="10728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8880" y="5437632"/>
            <a:ext cx="536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AtomicInteger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6278880" y="5754624"/>
            <a:ext cx="53644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0A7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AtomicInteger c = new AtomicInteger();</a:t>
            </a:r>
            <a:endParaRPr lang="en-US" sz="1333" dirty="0"/>
          </a:p>
          <a:p>
            <a:r>
              <a:rPr lang="en-US" sz="1333" dirty="0">
                <a:solidFill>
                  <a:srgbClr val="0A7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c.incrementAndGet(); // lock-free</a:t>
            </a:r>
            <a:endParaRPr lang="en-US" sz="1333" dirty="0"/>
          </a:p>
        </p:txBody>
      </p:sp>
      <p:sp>
        <p:nvSpPr>
          <p:cNvPr id="27" name="Text 25"/>
          <p:cNvSpPr/>
          <p:nvPr/>
        </p:nvSpPr>
        <p:spPr>
          <a:xfrm>
            <a:off x="365760" y="6315456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Synchronization prevents race conditions but introduces overhead and potential deadlock.</a:t>
            </a:r>
            <a:endParaRPr lang="en-US" sz="1467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12192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0"/>
            <a:ext cx="11582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Synchronization — Locks &amp; Deadlock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304800" y="768096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>
                <a:solidFill>
                  <a:srgbClr val="16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ReentrantLock and deadlock avoidance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365760" y="1402080"/>
            <a:ext cx="6217920" cy="4389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42560" y="1450848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16B2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48384"/>
            <a:ext cx="591312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ReentrantLock gives finer control than synchronized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ReentrantLock lock = new ReentrantLock();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lock.lock();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sharedData.update();   // critical section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finally {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lock.unlock();         // ALWAYS unlock in finally!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67" dirty="0"/>
          </a:p>
          <a:p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tryLock avoids blocking indefinitely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(lock.tryLock(100, TimeUnit.MILLISECONDS)) {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 doWork(); } finally { lock.unlock(); }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handleTimeout();       // avoids deadlock / livelock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6827520" y="1402080"/>
            <a:ext cx="4998720" cy="4145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27520" y="1402080"/>
            <a:ext cx="49987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— 4 Conditions (Coffman)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27520" y="1889760"/>
            <a:ext cx="4998720" cy="82905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10400" y="1938528"/>
            <a:ext cx="463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Exclusion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7010400" y="225552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held by one thread</a:t>
            </a:r>
            <a:endParaRPr lang="en-US" sz="1467" dirty="0"/>
          </a:p>
        </p:txBody>
      </p:sp>
      <p:sp>
        <p:nvSpPr>
          <p:cNvPr id="14" name="Shape 12"/>
          <p:cNvSpPr/>
          <p:nvPr/>
        </p:nvSpPr>
        <p:spPr>
          <a:xfrm>
            <a:off x="6827520" y="2816352"/>
            <a:ext cx="4998720" cy="82905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10400" y="2865120"/>
            <a:ext cx="463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&amp; Wait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7010400" y="3182112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holds a lock, waits for another</a:t>
            </a:r>
            <a:endParaRPr lang="en-US" sz="1467" dirty="0"/>
          </a:p>
        </p:txBody>
      </p:sp>
      <p:sp>
        <p:nvSpPr>
          <p:cNvPr id="17" name="Shape 15"/>
          <p:cNvSpPr/>
          <p:nvPr/>
        </p:nvSpPr>
        <p:spPr>
          <a:xfrm>
            <a:off x="6827520" y="3742944"/>
            <a:ext cx="4998720" cy="82905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10400" y="3791712"/>
            <a:ext cx="463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Preemption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7010400" y="4108704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cannot be forcibly taken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6827520" y="4669536"/>
            <a:ext cx="4998720" cy="82905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10400" y="4718304"/>
            <a:ext cx="463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Wait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7010400" y="5035296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T1→L1→T2→L2→T1 — the cycle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365760" y="5974080"/>
            <a:ext cx="11460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Prevention: lock ordering, timeout via tryLock(), or detect &amp; restart.</a:t>
            </a:r>
            <a:endParaRPr lang="en-US" sz="1533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0FF06-A5BC-13DD-4238-11E125E2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Threads Access increment()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CD369-70F8-54D9-FFC9-3C11CAACD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Imagine two threads, t1 and t2, calling </a:t>
            </a:r>
            <a:r>
              <a:rPr lang="en-US" dirty="0" err="1"/>
              <a:t>counter.increment</a:t>
            </a:r>
            <a:r>
              <a:rPr lang="en-US" dirty="0"/>
              <a:t>():</a:t>
            </a:r>
          </a:p>
          <a:p>
            <a:r>
              <a:rPr lang="en-US" dirty="0"/>
              <a:t>t1 wants to enter increment()</a:t>
            </a:r>
            <a:br>
              <a:rPr lang="en-US" dirty="0"/>
            </a:br>
            <a:r>
              <a:rPr lang="en-US" dirty="0"/>
              <a:t>t2 wants to enter increment()</a:t>
            </a:r>
          </a:p>
          <a:p>
            <a:r>
              <a:rPr lang="en-US" b="1" dirty="0"/>
              <a:t>Without synchronized:</a:t>
            </a:r>
          </a:p>
          <a:p>
            <a:r>
              <a:rPr lang="en-US" dirty="0"/>
              <a:t>Both t1 and t2 can </a:t>
            </a:r>
            <a:r>
              <a:rPr lang="en-US" b="1" dirty="0"/>
              <a:t>read count simultaneously</a:t>
            </a:r>
            <a:r>
              <a:rPr lang="en-US" dirty="0"/>
              <a:t>, increment it, and write back. </a:t>
            </a:r>
          </a:p>
          <a:p>
            <a:r>
              <a:rPr lang="en-US" dirty="0"/>
              <a:t>Steps like read → add 1 → write </a:t>
            </a:r>
            <a:r>
              <a:rPr lang="en-US" b="1" dirty="0"/>
              <a:t>can overlap</a:t>
            </a:r>
            <a:r>
              <a:rPr lang="en-US" dirty="0"/>
              <a:t>, causing a </a:t>
            </a:r>
            <a:r>
              <a:rPr lang="en-US" b="1" dirty="0"/>
              <a:t>race condition</a:t>
            </a:r>
            <a:r>
              <a:rPr lang="en-US" dirty="0"/>
              <a:t>. </a:t>
            </a:r>
          </a:p>
          <a:p>
            <a:r>
              <a:rPr lang="en-US" dirty="0"/>
              <a:t>t1 reads count = 5</a:t>
            </a:r>
            <a:br>
              <a:rPr lang="en-US" dirty="0"/>
            </a:br>
            <a:r>
              <a:rPr lang="en-US" dirty="0"/>
              <a:t>t2 reads count = 5</a:t>
            </a:r>
            <a:br>
              <a:rPr lang="en-US" dirty="0"/>
            </a:br>
            <a:r>
              <a:rPr lang="en-US" dirty="0"/>
              <a:t>t1 adds 1 → count = 6</a:t>
            </a:r>
            <a:br>
              <a:rPr lang="en-US" dirty="0"/>
            </a:br>
            <a:r>
              <a:rPr lang="en-US" dirty="0"/>
              <a:t>t2 adds 1 → count = 6  &lt;-- lost update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23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5CEA0-3CA5-5D9D-EC7C-BBB704D8A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Threads Access increment()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7C2FC-7F56-1FDF-5F29-2A5238649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With synchronized:</a:t>
            </a:r>
          </a:p>
          <a:p>
            <a:r>
              <a:rPr lang="en-US" dirty="0"/>
              <a:t>When t1 enters increment(), it </a:t>
            </a:r>
            <a:r>
              <a:rPr lang="en-US" b="1" dirty="0"/>
              <a:t>acquires the lock</a:t>
            </a:r>
            <a:r>
              <a:rPr lang="en-US" dirty="0"/>
              <a:t> on counter. </a:t>
            </a:r>
          </a:p>
          <a:p>
            <a:r>
              <a:rPr lang="en-US" dirty="0"/>
              <a:t>t2 tries to enter, but </a:t>
            </a:r>
            <a:r>
              <a:rPr lang="en-US" b="1" dirty="0"/>
              <a:t>must wait</a:t>
            </a:r>
            <a:r>
              <a:rPr lang="en-US" dirty="0"/>
              <a:t> because the lock is already held by t1. </a:t>
            </a:r>
          </a:p>
          <a:p>
            <a:r>
              <a:rPr lang="en-US" dirty="0"/>
              <a:t>t1 completes increment() and </a:t>
            </a:r>
            <a:r>
              <a:rPr lang="en-US" b="1" dirty="0"/>
              <a:t>releases the lock</a:t>
            </a:r>
            <a:r>
              <a:rPr lang="en-US" dirty="0"/>
              <a:t>. </a:t>
            </a:r>
          </a:p>
          <a:p>
            <a:r>
              <a:rPr lang="en-US" dirty="0"/>
              <a:t>Then t2 acquires the lock and executes safely. </a:t>
            </a:r>
          </a:p>
          <a:p>
            <a:r>
              <a:rPr lang="en-US" dirty="0"/>
              <a:t>t1 acquires lock</a:t>
            </a:r>
            <a:br>
              <a:rPr lang="en-US" dirty="0"/>
            </a:br>
            <a:r>
              <a:rPr lang="en-US" dirty="0"/>
              <a:t>t1 reads count = 5</a:t>
            </a:r>
            <a:br>
              <a:rPr lang="en-US" dirty="0"/>
            </a:br>
            <a:r>
              <a:rPr lang="en-US" dirty="0"/>
              <a:t>t1 adds 1 → count = 6</a:t>
            </a:r>
            <a:br>
              <a:rPr lang="en-US" dirty="0"/>
            </a:br>
            <a:r>
              <a:rPr lang="en-US" dirty="0"/>
              <a:t>t1 releases lock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t2 acquires lock</a:t>
            </a:r>
            <a:br>
              <a:rPr lang="en-US" dirty="0"/>
            </a:br>
            <a:r>
              <a:rPr lang="en-US" dirty="0"/>
              <a:t>t2 reads count = 6</a:t>
            </a:r>
            <a:br>
              <a:rPr lang="en-US" dirty="0"/>
            </a:br>
            <a:r>
              <a:rPr lang="en-US" dirty="0"/>
              <a:t>t2 adds 1 → count = 7</a:t>
            </a:r>
            <a:br>
              <a:rPr lang="en-US" dirty="0"/>
            </a:br>
            <a:r>
              <a:rPr lang="en-US" dirty="0"/>
              <a:t>t2 releases lock</a:t>
            </a:r>
          </a:p>
          <a:p>
            <a:r>
              <a:rPr lang="en-US" dirty="0"/>
              <a:t>✅ Now, no updates are lost.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773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52E94-0580-1FD6-2F12-6F7652A56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Priorities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84D4C-6049-1915-B97D-2DFE9B4FD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Threads can have </a:t>
            </a:r>
            <a:r>
              <a:rPr lang="en-US" b="1" dirty="0"/>
              <a:t>different priorities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Higher priority threads: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Get more CPU 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Execute before lower priority threads. </a:t>
            </a:r>
          </a:p>
          <a:p>
            <a:pPr>
              <a:buNone/>
            </a:pPr>
            <a:r>
              <a:rPr lang="en-US" dirty="0"/>
              <a:t>Example priority levels: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Normal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</a:t>
            </a:r>
          </a:p>
          <a:p>
            <a:pPr>
              <a:buNone/>
            </a:pPr>
            <a:r>
              <a:rPr lang="en-US" dirty="0"/>
              <a:t>However, final scheduling is controlled by the </a:t>
            </a:r>
            <a:r>
              <a:rPr lang="en-US" b="1" dirty="0"/>
              <a:t>operating system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785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12192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0"/>
            <a:ext cx="11582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Priorities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304800" y="768096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>
                <a:solidFill>
                  <a:srgbClr val="16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to the OS scheduler — not guarantees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365760" y="1402080"/>
            <a:ext cx="548640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11040" y="1450848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16B2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48384"/>
            <a:ext cx="5181600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t = new Thread(task);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t.setPriority(Thread.MAX_PRIORITY);  // 10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t.setPriority(Thread.NORM_PRIORITY); // 5 — default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t.setPriority(Thread.MIN_PRIORITY);  // 1</a:t>
            </a:r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t.start();</a:t>
            </a:r>
            <a:endParaRPr lang="en-US" sz="1467" dirty="0"/>
          </a:p>
          <a:p>
            <a:endParaRPr lang="en-US" sz="1467" dirty="0"/>
          </a:p>
          <a:p>
            <a:r>
              <a:rPr lang="en-US" sz="1467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System.out.println(t.getPriority()); // int 1-10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6217920" y="1524000"/>
            <a:ext cx="1024128" cy="6705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524000"/>
            <a:ext cx="102412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39584" y="1524000"/>
            <a:ext cx="1024128" cy="6705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39584" y="1524000"/>
            <a:ext cx="102412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61248" y="1524000"/>
            <a:ext cx="1024128" cy="670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61248" y="1524000"/>
            <a:ext cx="102412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582912" y="1524000"/>
            <a:ext cx="1024128" cy="6705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82912" y="1524000"/>
            <a:ext cx="102412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704576" y="1524000"/>
            <a:ext cx="1024128" cy="670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04576" y="1524000"/>
            <a:ext cx="102412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9–10 HIGH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218944"/>
            <a:ext cx="56083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Scale (1 = MIN, 5 = NORM, 10 = MAX)</a:t>
            </a:r>
            <a:endParaRPr lang="en-US" sz="1333" dirty="0"/>
          </a:p>
        </p:txBody>
      </p:sp>
      <p:sp>
        <p:nvSpPr>
          <p:cNvPr id="20" name="Shape 18"/>
          <p:cNvSpPr/>
          <p:nvPr/>
        </p:nvSpPr>
        <p:spPr>
          <a:xfrm>
            <a:off x="365760" y="2621280"/>
            <a:ext cx="5608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621280"/>
            <a:ext cx="121920" cy="1645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" y="271881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Platform-Dependent</a:t>
            </a:r>
            <a:endParaRPr lang="en-US" sz="1733" dirty="0"/>
          </a:p>
        </p:txBody>
      </p:sp>
      <p:sp>
        <p:nvSpPr>
          <p:cNvPr id="23" name="Text 21"/>
          <p:cNvSpPr/>
          <p:nvPr/>
        </p:nvSpPr>
        <p:spPr>
          <a:xfrm>
            <a:off x="585216" y="3084576"/>
            <a:ext cx="5303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maps 7 levels; Linux CFS ignores Java priorities entirely. Never rely on them for correctness.</a:t>
            </a:r>
            <a:endParaRPr lang="en-US" sz="1533" dirty="0"/>
          </a:p>
        </p:txBody>
      </p:sp>
      <p:sp>
        <p:nvSpPr>
          <p:cNvPr id="24" name="Shape 22"/>
          <p:cNvSpPr/>
          <p:nvPr/>
        </p:nvSpPr>
        <p:spPr>
          <a:xfrm>
            <a:off x="6278880" y="2621280"/>
            <a:ext cx="5608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78880" y="2621280"/>
            <a:ext cx="121920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8336" y="271881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Starvation Risk</a:t>
            </a:r>
            <a:endParaRPr lang="en-US" sz="1733" dirty="0"/>
          </a:p>
        </p:txBody>
      </p:sp>
      <p:sp>
        <p:nvSpPr>
          <p:cNvPr id="27" name="Text 25"/>
          <p:cNvSpPr/>
          <p:nvPr/>
        </p:nvSpPr>
        <p:spPr>
          <a:xfrm>
            <a:off x="6498336" y="3084576"/>
            <a:ext cx="5303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flood of high-priority threads can starve low-priority ones indefinitely.</a:t>
            </a:r>
            <a:endParaRPr lang="en-US" sz="1533" dirty="0"/>
          </a:p>
        </p:txBody>
      </p:sp>
      <p:sp>
        <p:nvSpPr>
          <p:cNvPr id="28" name="Shape 26"/>
          <p:cNvSpPr/>
          <p:nvPr/>
        </p:nvSpPr>
        <p:spPr>
          <a:xfrm>
            <a:off x="365760" y="4450080"/>
            <a:ext cx="5608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450080"/>
            <a:ext cx="121920" cy="1645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" y="454761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sz="1733" dirty="0"/>
          </a:p>
        </p:txBody>
      </p:sp>
      <p:sp>
        <p:nvSpPr>
          <p:cNvPr id="31" name="Text 29"/>
          <p:cNvSpPr/>
          <p:nvPr/>
        </p:nvSpPr>
        <p:spPr>
          <a:xfrm>
            <a:off x="585216" y="4913376"/>
            <a:ext cx="5303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ExecutorService with work queues instead of raw priority manipulation for production code.</a:t>
            </a:r>
            <a:endParaRPr lang="en-US" sz="1533" dirty="0"/>
          </a:p>
        </p:txBody>
      </p:sp>
      <p:sp>
        <p:nvSpPr>
          <p:cNvPr id="32" name="Shape 30"/>
          <p:cNvSpPr/>
          <p:nvPr/>
        </p:nvSpPr>
        <p:spPr>
          <a:xfrm>
            <a:off x="6278880" y="4450080"/>
            <a:ext cx="5608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78880" y="4450080"/>
            <a:ext cx="121920" cy="1645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8336" y="454761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733" dirty="0"/>
          </a:p>
        </p:txBody>
      </p:sp>
      <p:sp>
        <p:nvSpPr>
          <p:cNvPr id="35" name="Text 33"/>
          <p:cNvSpPr/>
          <p:nvPr/>
        </p:nvSpPr>
        <p:spPr>
          <a:xfrm>
            <a:off x="6498336" y="4913376"/>
            <a:ext cx="5303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thread inherits the priority of its creating thread by default.</a:t>
            </a:r>
            <a:endParaRPr lang="en-US" sz="1533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39E0D-2EDF-C22B-F3C3-90D8B488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5DDA4-18D5-2B17-1E17-A8C3496AB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class </a:t>
            </a:r>
            <a:r>
              <a:rPr lang="en-US" dirty="0" err="1"/>
              <a:t>PriorityExample</a:t>
            </a:r>
            <a:r>
              <a:rPr lang="en-US" dirty="0"/>
              <a:t> extends Thread {</a:t>
            </a:r>
          </a:p>
          <a:p>
            <a:r>
              <a:rPr lang="en-US" dirty="0"/>
              <a:t>    public void run()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Thread.currentThread</a:t>
            </a:r>
            <a:r>
              <a:rPr lang="en-US" dirty="0"/>
              <a:t>().</a:t>
            </a:r>
            <a:r>
              <a:rPr lang="en-US" dirty="0" err="1"/>
              <a:t>getName</a:t>
            </a:r>
            <a:r>
              <a:rPr lang="en-US" dirty="0"/>
              <a:t>());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PriorityExample</a:t>
            </a:r>
            <a:r>
              <a:rPr lang="en-US" dirty="0"/>
              <a:t> t1 = new </a:t>
            </a:r>
            <a:r>
              <a:rPr lang="en-US" dirty="0" err="1"/>
              <a:t>PriorityExample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  <a:r>
              <a:rPr lang="en-US" dirty="0" err="1"/>
              <a:t>PriorityExample</a:t>
            </a:r>
            <a:r>
              <a:rPr lang="en-US" dirty="0"/>
              <a:t> t2 = new </a:t>
            </a:r>
            <a:r>
              <a:rPr lang="en-US" dirty="0" err="1"/>
              <a:t>PriorityExample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t1.setPriority(</a:t>
            </a:r>
            <a:r>
              <a:rPr lang="en-US" dirty="0" err="1"/>
              <a:t>Thread.MIN_PRIORITY</a:t>
            </a:r>
            <a:r>
              <a:rPr lang="en-US" dirty="0"/>
              <a:t>);</a:t>
            </a:r>
          </a:p>
          <a:p>
            <a:r>
              <a:rPr lang="en-US" dirty="0"/>
              <a:t>        t2.setPriority(</a:t>
            </a:r>
            <a:r>
              <a:rPr lang="en-US" dirty="0" err="1"/>
              <a:t>Thread.MAX_PRIORITY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       t1.start();</a:t>
            </a:r>
          </a:p>
          <a:p>
            <a:r>
              <a:rPr lang="en-US" dirty="0"/>
              <a:t>        t2.start();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99356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23FC3-46E0-307E-6632-3D2132A99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8A50CD5-5AB5-0336-6AA5-A8D857D3AA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83075"/>
            <a:ext cx="779251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Concurrency allows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tasks to run simultaneously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Threads improve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and efficiency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synchronization is important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avoid errors.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widely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applications, servers, and operating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5571327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61</TotalTime>
  <Words>2092</Words>
  <Application>Microsoft Office PowerPoint</Application>
  <PresentationFormat>Widescreen</PresentationFormat>
  <Paragraphs>353</Paragraphs>
  <Slides>26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Consolas</vt:lpstr>
      <vt:lpstr>Courier New</vt:lpstr>
      <vt:lpstr>Retrospect</vt:lpstr>
      <vt:lpstr>Concurrency in Java</vt:lpstr>
      <vt:lpstr>Introduction to Concurrency</vt:lpstr>
      <vt:lpstr>What is a Thread?</vt:lpstr>
      <vt:lpstr>Thread</vt:lpstr>
      <vt:lpstr>Creating Thread (Method 1 – Extending Thread)</vt:lpstr>
      <vt:lpstr>Creating Thread (Method 2 – Runnable Interface)</vt:lpstr>
      <vt:lpstr>Thread States</vt:lpstr>
      <vt:lpstr>PowerPoint Presentation</vt:lpstr>
      <vt:lpstr>Thread Life Cycle</vt:lpstr>
      <vt:lpstr>Writing Multithreaded Programs</vt:lpstr>
      <vt:lpstr>Writing Multithreaded Program </vt:lpstr>
      <vt:lpstr>PowerPoint Presentation</vt:lpstr>
      <vt:lpstr>Thread Properties</vt:lpstr>
      <vt:lpstr>Thread Properties</vt:lpstr>
      <vt:lpstr>PowerPoint Presentation</vt:lpstr>
      <vt:lpstr>Thread Synchronization</vt:lpstr>
      <vt:lpstr>Thread Synchronization</vt:lpstr>
      <vt:lpstr>Synchronization Example</vt:lpstr>
      <vt:lpstr>PowerPoint Presentation</vt:lpstr>
      <vt:lpstr>PowerPoint Presentation</vt:lpstr>
      <vt:lpstr>How Threads Access increment()</vt:lpstr>
      <vt:lpstr>How Threads Access increment()</vt:lpstr>
      <vt:lpstr>Thread Priorities</vt:lpstr>
      <vt:lpstr>PowerPoint Presentation</vt:lpstr>
      <vt:lpstr>Example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Ashok Bhattarai</dc:creator>
  <cp:lastModifiedBy>Ashok Bhattarai</cp:lastModifiedBy>
  <cp:revision>3</cp:revision>
  <dcterms:created xsi:type="dcterms:W3CDTF">2026-04-01T16:08:54Z</dcterms:created>
  <dcterms:modified xsi:type="dcterms:W3CDTF">2026-04-01T17:10:45Z</dcterms:modified>
</cp:coreProperties>
</file>