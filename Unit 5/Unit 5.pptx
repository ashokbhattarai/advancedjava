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82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47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3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2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6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5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9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0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82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2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3ACF344-D95E-4BB8-A1B4-421979B3F18D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F40ADE-1609-4433-BB15-42343D4E8D7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79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7E2D-5077-5FBC-EB96-948E353E6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5: Network Programming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C3178-BB1F-417D-A1AA-CC237F866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84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F93A-01F2-EC07-52AD-BF05D7C3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5: Network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853F-7536-1AB1-CB52-4CD04A57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Socket Programming using TCP, UDP, URL and </a:t>
            </a:r>
            <a:r>
              <a:rPr lang="en-US" b="1" dirty="0" err="1"/>
              <a:t>URLConnection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96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A404-EF01-9279-709C-F07E35E2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2: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371B-34BD-6A2A-4182-90C9D3991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completing this unit, students will be able to:</a:t>
            </a:r>
          </a:p>
          <a:p>
            <a:r>
              <a:rPr lang="en-US" dirty="0"/>
              <a:t>Explain network programming using Java.</a:t>
            </a:r>
          </a:p>
          <a:p>
            <a:r>
              <a:rPr lang="en-US" dirty="0"/>
              <a:t>Understand TCP and UDP protocols.</a:t>
            </a:r>
          </a:p>
          <a:p>
            <a:r>
              <a:rPr lang="en-US" dirty="0"/>
              <a:t>Explain ports and IP addresses.</a:t>
            </a:r>
          </a:p>
          <a:p>
            <a:r>
              <a:rPr lang="en-US" dirty="0"/>
              <a:t>Demonstrate socket programming using TCP.</a:t>
            </a:r>
          </a:p>
          <a:p>
            <a:r>
              <a:rPr lang="en-US" dirty="0"/>
              <a:t>Demonstrate socket programming using UDP.</a:t>
            </a:r>
          </a:p>
          <a:p>
            <a:r>
              <a:rPr lang="en-US" dirty="0"/>
              <a:t>Work with URL and </a:t>
            </a:r>
            <a:r>
              <a:rPr lang="en-US" dirty="0" err="1"/>
              <a:t>URLConnection</a:t>
            </a:r>
            <a:r>
              <a:rPr lang="en-US" dirty="0"/>
              <a:t> classes.</a:t>
            </a:r>
          </a:p>
          <a:p>
            <a:r>
              <a:rPr lang="en-US" dirty="0"/>
              <a:t>Develop client-server applications in IntelliJ IDEA.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6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F99E-5EA2-B729-B579-0B288AA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3: Introduction to Network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08C1-E4AD-FD3F-75A9-83F5DAA0C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What is Network Programming?</a:t>
            </a:r>
          </a:p>
          <a:p>
            <a:r>
              <a:rPr lang="en-US" dirty="0"/>
              <a:t>Network programming refers to writing programs that communicate with other programs across a network.</a:t>
            </a:r>
          </a:p>
          <a:p>
            <a:r>
              <a:rPr lang="en-US" b="1" dirty="0"/>
              <a:t>Common Applications</a:t>
            </a:r>
          </a:p>
          <a:p>
            <a:r>
              <a:rPr lang="en-US" dirty="0"/>
              <a:t>Chat applications</a:t>
            </a:r>
          </a:p>
          <a:p>
            <a:r>
              <a:rPr lang="en-US" dirty="0"/>
              <a:t>File transfer systems</a:t>
            </a:r>
          </a:p>
          <a:p>
            <a:r>
              <a:rPr lang="en-US" dirty="0"/>
              <a:t>Web browsers</a:t>
            </a:r>
          </a:p>
          <a:p>
            <a:r>
              <a:rPr lang="en-US" dirty="0"/>
              <a:t>Email systems</a:t>
            </a:r>
          </a:p>
          <a:p>
            <a:r>
              <a:rPr lang="en-US" dirty="0"/>
              <a:t>Banking systems</a:t>
            </a:r>
          </a:p>
          <a:p>
            <a:r>
              <a:rPr lang="en-US" dirty="0"/>
              <a:t>Multiplayer games</a:t>
            </a:r>
          </a:p>
          <a:p>
            <a:r>
              <a:rPr lang="en-US" b="1" dirty="0"/>
              <a:t>Java Support for Networking</a:t>
            </a:r>
          </a:p>
          <a:p>
            <a:r>
              <a:rPr lang="en-US" dirty="0"/>
              <a:t>Java provides networking support through:</a:t>
            </a:r>
          </a:p>
          <a:p>
            <a:pPr marL="0" indent="0">
              <a:buNone/>
            </a:pPr>
            <a:r>
              <a:rPr lang="en-US" dirty="0"/>
              <a:t>java.net package</a:t>
            </a:r>
          </a:p>
        </p:txBody>
      </p:sp>
    </p:spTree>
    <p:extLst>
      <p:ext uri="{BB962C8B-B14F-4D97-AF65-F5344CB8AC3E}">
        <p14:creationId xmlns:p14="http://schemas.microsoft.com/office/powerpoint/2010/main" val="2871791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3BCB-1B95-868F-1C9D-ACC95FD7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4: Network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B8F2-C764-B954-0082-AA2C3191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 Protocol?</a:t>
            </a:r>
          </a:p>
          <a:p>
            <a:r>
              <a:rPr lang="en-US" dirty="0"/>
              <a:t>A protocol is a set of rules that governs communication between devices.</a:t>
            </a:r>
          </a:p>
          <a:p>
            <a:r>
              <a:rPr lang="en-US" b="1" dirty="0"/>
              <a:t>Major Protocols</a:t>
            </a:r>
          </a:p>
          <a:p>
            <a:r>
              <a:rPr lang="en-US" dirty="0"/>
              <a:t>TCP (Transmission Control Protocol)</a:t>
            </a:r>
          </a:p>
          <a:p>
            <a:r>
              <a:rPr lang="en-US" dirty="0"/>
              <a:t>UDP (User Datagram Protocol)</a:t>
            </a:r>
          </a:p>
          <a:p>
            <a:r>
              <a:rPr lang="en-US" dirty="0"/>
              <a:t>HTTP</a:t>
            </a:r>
          </a:p>
          <a:p>
            <a:r>
              <a:rPr lang="en-US" dirty="0"/>
              <a:t>FTP</a:t>
            </a:r>
          </a:p>
          <a:p>
            <a:r>
              <a:rPr lang="en-US" dirty="0"/>
              <a:t>SMTP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6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7206-809B-C1F8-35D1-25EBA317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5: TCP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B3EC-4C00-29A6-DAB9-E5B0954AE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Transmission Control Protocol (TCP)</a:t>
            </a:r>
          </a:p>
          <a:p>
            <a:r>
              <a:rPr lang="en-US" b="1" dirty="0"/>
              <a:t>Features of TCP</a:t>
            </a:r>
          </a:p>
          <a:p>
            <a:r>
              <a:rPr lang="en-US" dirty="0"/>
              <a:t>Connection-oriented</a:t>
            </a:r>
          </a:p>
          <a:p>
            <a:r>
              <a:rPr lang="en-US" dirty="0"/>
              <a:t>Reliable communication</a:t>
            </a:r>
          </a:p>
          <a:p>
            <a:r>
              <a:rPr lang="en-US" dirty="0"/>
              <a:t>Error checking</a:t>
            </a:r>
          </a:p>
          <a:p>
            <a:r>
              <a:rPr lang="en-US" dirty="0"/>
              <a:t>Ordered data delivery</a:t>
            </a:r>
          </a:p>
          <a:p>
            <a:r>
              <a:rPr lang="en-US" dirty="0"/>
              <a:t>Slower but secure</a:t>
            </a:r>
          </a:p>
          <a:p>
            <a:r>
              <a:rPr lang="en-US" b="1" dirty="0"/>
              <a:t>Applications of TCP</a:t>
            </a:r>
          </a:p>
          <a:p>
            <a:r>
              <a:rPr lang="en-US" dirty="0"/>
              <a:t>Web applications</a:t>
            </a:r>
          </a:p>
          <a:p>
            <a:r>
              <a:rPr lang="en-US" dirty="0"/>
              <a:t>Banking systems</a:t>
            </a:r>
          </a:p>
          <a:p>
            <a:r>
              <a:rPr lang="en-US" dirty="0"/>
              <a:t>Email systems</a:t>
            </a:r>
          </a:p>
          <a:p>
            <a:r>
              <a:rPr lang="en-US" dirty="0"/>
              <a:t>File transfer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01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65C1-A6C8-7F4F-1E87-5270DDE4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6: UDP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CD5ED-EF45-AB7F-37A5-998E318E5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User Datagram Protocol (UDP)</a:t>
            </a:r>
          </a:p>
          <a:p>
            <a:r>
              <a:rPr lang="en-US" b="1" dirty="0"/>
              <a:t>Features of UDP</a:t>
            </a:r>
          </a:p>
          <a:p>
            <a:r>
              <a:rPr lang="en-US" dirty="0"/>
              <a:t>Connectionless</a:t>
            </a:r>
          </a:p>
          <a:p>
            <a:r>
              <a:rPr lang="en-US" dirty="0"/>
              <a:t>Faster communication</a:t>
            </a:r>
          </a:p>
          <a:p>
            <a:r>
              <a:rPr lang="en-US" dirty="0"/>
              <a:t>No guarantee of delivery</a:t>
            </a:r>
          </a:p>
          <a:p>
            <a:r>
              <a:rPr lang="en-US" dirty="0"/>
              <a:t>No ordering of packets</a:t>
            </a:r>
          </a:p>
          <a:p>
            <a:r>
              <a:rPr lang="en-US" dirty="0"/>
              <a:t>Lightweight protocol</a:t>
            </a:r>
          </a:p>
          <a:p>
            <a:r>
              <a:rPr lang="en-US" b="1" dirty="0"/>
              <a:t>Applications of UDP</a:t>
            </a:r>
          </a:p>
          <a:p>
            <a:r>
              <a:rPr lang="en-US" dirty="0"/>
              <a:t>Online gaming</a:t>
            </a:r>
          </a:p>
          <a:p>
            <a:r>
              <a:rPr lang="en-US" dirty="0"/>
              <a:t>Video streaming</a:t>
            </a:r>
          </a:p>
          <a:p>
            <a:r>
              <a:rPr lang="en-US" dirty="0"/>
              <a:t>Voice calls</a:t>
            </a:r>
          </a:p>
          <a:p>
            <a:r>
              <a:rPr lang="en-US" dirty="0"/>
              <a:t>Live broadcasting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11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6B45-DBC3-A987-E16D-2356CF03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7: IP Address and 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9099E-0FF3-E264-B629-D21E74985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IP Address</a:t>
            </a:r>
          </a:p>
          <a:p>
            <a:pPr>
              <a:buNone/>
            </a:pPr>
            <a:r>
              <a:rPr lang="en-US" dirty="0"/>
              <a:t>An IP address uniquely identifies a device on a network.</a:t>
            </a:r>
          </a:p>
          <a:p>
            <a:pPr>
              <a:buNone/>
            </a:pPr>
            <a:r>
              <a:rPr lang="en-US" b="1" dirty="0"/>
              <a:t>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IPv4 → 192.168.1.1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→ 2001:db8::1 || 2001:0db8:85a3:0000:0000:8a2e:0370:7334</a:t>
            </a:r>
          </a:p>
          <a:p>
            <a:pPr>
              <a:buNone/>
            </a:pPr>
            <a:r>
              <a:rPr lang="en-US" b="1" dirty="0"/>
              <a:t>Port Number</a:t>
            </a:r>
          </a:p>
          <a:p>
            <a:pPr>
              <a:buNone/>
            </a:pPr>
            <a:r>
              <a:rPr lang="en-US" dirty="0"/>
              <a:t>A port identifies a specific process or application.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97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FEBB-55A0-73F7-E3D6-EAADA602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Ports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F610EA-F49E-3651-925D-69D429AF13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943225"/>
          <a:ext cx="10058400" cy="18288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82907675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6930239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60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3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183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650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3306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62570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E88442B-1106-2E21-F300-815743CA2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AE19-BB21-1F12-AB84-F4ECE70D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8: Java Networking Classes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B444B3-3B58-83FD-A92E-006522C82B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577465"/>
          <a:ext cx="10058400" cy="25603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30343457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835122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24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TCP client socket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190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ServerSocket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TCP server socket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15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DatagramSocket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UDP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412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DatagramPacket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UDP packet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011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Represents 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68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URLConnection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Connects to 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391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D997D23-D0E0-9166-194A-1A1D62996B8C}"/>
              </a:ext>
            </a:extLst>
          </p:cNvPr>
          <p:cNvSpPr txBox="1"/>
          <p:nvPr/>
        </p:nvSpPr>
        <p:spPr>
          <a:xfrm>
            <a:off x="1096963" y="220813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Classes in java.net</a:t>
            </a:r>
          </a:p>
        </p:txBody>
      </p:sp>
    </p:spTree>
    <p:extLst>
      <p:ext uri="{BB962C8B-B14F-4D97-AF65-F5344CB8AC3E}">
        <p14:creationId xmlns:p14="http://schemas.microsoft.com/office/powerpoint/2010/main" val="117028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0966-8A68-CAAB-0CB9-A6510ADA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9: Socket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0096-8291-A959-1F8F-7BD736270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Socket?</a:t>
            </a:r>
          </a:p>
          <a:p>
            <a:r>
              <a:rPr lang="en-US" dirty="0"/>
              <a:t>A socket is an endpoint for communication between two machines.</a:t>
            </a:r>
          </a:p>
          <a:p>
            <a:r>
              <a:rPr lang="en-US" b="1" dirty="0"/>
              <a:t>Types</a:t>
            </a:r>
          </a:p>
          <a:p>
            <a:r>
              <a:rPr lang="en-US" dirty="0"/>
              <a:t>TCP Socket</a:t>
            </a:r>
          </a:p>
          <a:p>
            <a:r>
              <a:rPr lang="en-US" dirty="0"/>
              <a:t>UDP Socket</a:t>
            </a:r>
          </a:p>
          <a:p>
            <a:r>
              <a:rPr lang="en-US" b="1" dirty="0"/>
              <a:t>Communication Flow</a:t>
            </a:r>
          </a:p>
          <a:p>
            <a:r>
              <a:rPr lang="en-US" dirty="0"/>
              <a:t>Client ↔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16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AC96-6947-F1C8-3E7B-86A2927E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10: TCP Socket Programming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7ED0E-909E-F6E9-B498-CDA5348D3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TCP Communication Steps</a:t>
            </a:r>
          </a:p>
          <a:p>
            <a:r>
              <a:rPr lang="en-US" b="1" dirty="0"/>
              <a:t>Server Side</a:t>
            </a:r>
          </a:p>
          <a:p>
            <a:r>
              <a:rPr lang="en-US" dirty="0"/>
              <a:t>Create </a:t>
            </a:r>
            <a:r>
              <a:rPr lang="en-US" dirty="0" err="1"/>
              <a:t>ServerSocket</a:t>
            </a:r>
            <a:endParaRPr lang="en-US" dirty="0"/>
          </a:p>
          <a:p>
            <a:r>
              <a:rPr lang="en-US" dirty="0"/>
              <a:t>Wait for client request</a:t>
            </a:r>
          </a:p>
          <a:p>
            <a:r>
              <a:rPr lang="en-US" dirty="0"/>
              <a:t>Accept connection</a:t>
            </a:r>
          </a:p>
          <a:p>
            <a:r>
              <a:rPr lang="en-US" dirty="0"/>
              <a:t>Read/Write data</a:t>
            </a:r>
          </a:p>
          <a:p>
            <a:r>
              <a:rPr lang="en-US" dirty="0"/>
              <a:t>Close connection</a:t>
            </a:r>
          </a:p>
          <a:p>
            <a:r>
              <a:rPr lang="en-US" b="1" dirty="0"/>
              <a:t>Client Side</a:t>
            </a:r>
          </a:p>
          <a:p>
            <a:r>
              <a:rPr lang="en-US" dirty="0"/>
              <a:t>Create Socket</a:t>
            </a:r>
          </a:p>
          <a:p>
            <a:r>
              <a:rPr lang="en-US" dirty="0"/>
              <a:t>Connect to server</a:t>
            </a:r>
          </a:p>
          <a:p>
            <a:r>
              <a:rPr lang="en-US" dirty="0"/>
              <a:t>Send/Receive data</a:t>
            </a:r>
          </a:p>
          <a:p>
            <a:r>
              <a:rPr lang="en-US" dirty="0"/>
              <a:t>Close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97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0BE3-541A-6574-61AC-65E6EED6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Class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048C-8CF3-125C-C967-06D75EC77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Working with URL</a:t>
            </a:r>
          </a:p>
          <a:p>
            <a:r>
              <a:rPr lang="en-US" b="1" dirty="0"/>
              <a:t>URL Structure</a:t>
            </a:r>
          </a:p>
          <a:p>
            <a:r>
              <a:rPr lang="en-US" dirty="0"/>
              <a:t>protocol://host:port/path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https://www.google.com</a:t>
            </a:r>
          </a:p>
          <a:p>
            <a:r>
              <a:rPr lang="en-US" b="1" dirty="0"/>
              <a:t>Java URL Class</a:t>
            </a:r>
          </a:p>
          <a:p>
            <a:r>
              <a:rPr lang="en-US" dirty="0"/>
              <a:t>Used to represent internet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92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25E3-A694-BE28-E3FF-49239265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Example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04ED9-F3CC-4209-C92E-A94989063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53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62D1-977D-C7B0-DE3D-DAC95955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URLConnection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B2C32-4D65-30D4-755F-C2F844AC9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URLConnection</a:t>
            </a:r>
            <a:endParaRPr lang="en-US" b="1" dirty="0"/>
          </a:p>
          <a:p>
            <a:r>
              <a:rPr lang="en-US" dirty="0" err="1"/>
              <a:t>URLConnection</a:t>
            </a:r>
            <a:r>
              <a:rPr lang="en-US" dirty="0"/>
              <a:t> establishes communication with a URL resource.</a:t>
            </a:r>
          </a:p>
          <a:p>
            <a:r>
              <a:rPr lang="en-US" b="1" dirty="0"/>
              <a:t>Uses</a:t>
            </a:r>
          </a:p>
          <a:p>
            <a:r>
              <a:rPr lang="en-US" dirty="0"/>
              <a:t>Read web page data</a:t>
            </a:r>
          </a:p>
          <a:p>
            <a:r>
              <a:rPr lang="en-US" dirty="0"/>
              <a:t>Access remote resources</a:t>
            </a:r>
          </a:p>
          <a:p>
            <a:r>
              <a:rPr lang="en-US" dirty="0"/>
              <a:t>Download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64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2E6E-CBAA-1100-98BE-4A9DAEB1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URLConnection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3585-1CB8-5491-753D-325E5DF95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Website Content</a:t>
            </a:r>
          </a:p>
        </p:txBody>
      </p:sp>
    </p:spTree>
    <p:extLst>
      <p:ext uri="{BB962C8B-B14F-4D97-AF65-F5344CB8AC3E}">
        <p14:creationId xmlns:p14="http://schemas.microsoft.com/office/powerpoint/2010/main" val="4032091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3A4D-A579-659F-1B25-377A223B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Java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EDC3-DFF3-5DAC-801B-BC645C2A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Platform independent</a:t>
            </a:r>
          </a:p>
          <a:p>
            <a:r>
              <a:rPr lang="en-US" dirty="0"/>
              <a:t>Secure communication</a:t>
            </a:r>
          </a:p>
          <a:p>
            <a:r>
              <a:rPr lang="en-US" dirty="0"/>
              <a:t>Rich API support</a:t>
            </a:r>
          </a:p>
          <a:p>
            <a:r>
              <a:rPr lang="en-US" dirty="0"/>
              <a:t>Easy socket programming</a:t>
            </a:r>
          </a:p>
          <a:p>
            <a:r>
              <a:rPr lang="en-US" dirty="0"/>
              <a:t>Supports distributed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29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BAED-0F30-657B-F122-B35D9304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Lab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ADEC-4A97-476A-3990-C6D907E3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Practical Exercises</a:t>
            </a:r>
          </a:p>
          <a:p>
            <a:r>
              <a:rPr lang="en-US" b="1" dirty="0"/>
              <a:t>Task 1</a:t>
            </a:r>
          </a:p>
          <a:p>
            <a:r>
              <a:rPr lang="en-US" dirty="0"/>
              <a:t>Create TCP client-server chat.</a:t>
            </a:r>
          </a:p>
          <a:p>
            <a:r>
              <a:rPr lang="en-US" b="1" dirty="0"/>
              <a:t>Task 2</a:t>
            </a:r>
          </a:p>
          <a:p>
            <a:r>
              <a:rPr lang="en-US" dirty="0"/>
              <a:t>Create UDP message sender.</a:t>
            </a:r>
          </a:p>
          <a:p>
            <a:r>
              <a:rPr lang="en-US" b="1" dirty="0"/>
              <a:t>Task 3</a:t>
            </a:r>
          </a:p>
          <a:p>
            <a:r>
              <a:rPr lang="en-US" dirty="0"/>
              <a:t>Read website content using </a:t>
            </a:r>
            <a:r>
              <a:rPr lang="en-US" dirty="0" err="1"/>
              <a:t>URLConnection</a:t>
            </a:r>
            <a:r>
              <a:rPr lang="en-US" dirty="0"/>
              <a:t>.</a:t>
            </a:r>
          </a:p>
          <a:p>
            <a:r>
              <a:rPr lang="en-US" b="1" dirty="0"/>
              <a:t>Task 4</a:t>
            </a:r>
          </a:p>
          <a:p>
            <a:r>
              <a:rPr lang="en-US" dirty="0"/>
              <a:t>Display IP address using </a:t>
            </a:r>
            <a:r>
              <a:rPr lang="en-US" dirty="0" err="1"/>
              <a:t>InetAddress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962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532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Retrospect</vt:lpstr>
      <vt:lpstr>Unit 5: Network Programming in Java</vt:lpstr>
      <vt:lpstr>Unit 5: Network Programming</vt:lpstr>
      <vt:lpstr>Slide 2: Learning Objectives</vt:lpstr>
      <vt:lpstr>Slide 3: Introduction to Network Programming</vt:lpstr>
      <vt:lpstr>Slide 4: Network Protocols</vt:lpstr>
      <vt:lpstr>Slide 5: TCP Protocol</vt:lpstr>
      <vt:lpstr>Slide 6: UDP Protocol</vt:lpstr>
      <vt:lpstr>Slide 7: IP Address and Ports</vt:lpstr>
      <vt:lpstr>Common Ports</vt:lpstr>
      <vt:lpstr>Slide 8: Java Networking Classes</vt:lpstr>
      <vt:lpstr>Slide 9: Socket Programming</vt:lpstr>
      <vt:lpstr>Slide 10: TCP Socket Programming Architecture</vt:lpstr>
      <vt:lpstr>URL Class in Java</vt:lpstr>
      <vt:lpstr>URL Example Program</vt:lpstr>
      <vt:lpstr>URLConnection Class</vt:lpstr>
      <vt:lpstr>URLConnection Example</vt:lpstr>
      <vt:lpstr>Advantages of Java Networking</vt:lpstr>
      <vt:lpstr>Practical Lab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Bhattarai</dc:creator>
  <cp:lastModifiedBy>Ashok Bhattarai</cp:lastModifiedBy>
  <cp:revision>3</cp:revision>
  <dcterms:created xsi:type="dcterms:W3CDTF">2026-05-19T16:06:16Z</dcterms:created>
  <dcterms:modified xsi:type="dcterms:W3CDTF">2026-05-20T13:16:22Z</dcterms:modified>
</cp:coreProperties>
</file>