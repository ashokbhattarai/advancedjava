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297680"/>
            <a:ext cx="897940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560320" cy="347472"/>
          </a:xfrm>
          <a:prstGeom prst="rect">
            <a:avLst>
              <a:gd name="adj" fmla="val 1315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MASTER OF COMPUTER APPLICATIONS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F5A623"/>
                </a:solidFill>
              </a:rPr>
              <a:t>UNIT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Event Handling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in Java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▸  </a:t>
            </a:r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Event Model · Listener Interfaces · Adapter Classes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▸ 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Action, Key, Focus, Mouse, Window &amp; Item Events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EDF5"/>
                </a:solidFill>
              </a:rPr>
              <a:t>Prepared &amp; Presented by: Course Instructor  |  Advanced Java Programming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914400"/>
            <a:ext cx="246888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5156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</a:t>
            </a:r>
            <a:pPr algn="l" indent="0" marL="0">
              <a:buNone/>
            </a:pPr>
            <a:r>
              <a:rPr lang="en-US" sz="9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ActionListener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actionPerformed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ActionEvent 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UNIT 3  —  COURSE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3.1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Event Handling Concept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Delegation model, source &amp; listener architecture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64008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52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3.2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Listener Interfaces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476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ActionListener, KeyListener, MouseListener, FocusListener…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64008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52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3.3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Adapter Classes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9476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WindowAdapter, MouseAdapter, KeyAdapter &amp; more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64008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72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3.4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447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Action Commands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8679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setActionCommand(), getActionCommand()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63240"/>
            <a:ext cx="64008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72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3.5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447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Handling All Event Types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8679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Key · Focus · Mouse · Window · Item events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743200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64008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172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447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Practical Work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38679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EE9"/>
                </a:solidFill>
              </a:rPr>
              <a:t>Hands-on: implementing listeners &amp; adapters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 Event Handling Concept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Event handling is the mechanism that controls how events (user actions or system-generated triggers) are captured and responded to in a Java GUI application using the Delegation Event Model.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2743200" cy="731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🖱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Event 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The component that generates the event (e.g., Button, TextField, CheckBox). It fires an event object when the user interacts with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83080"/>
            <a:ext cx="27432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20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Event Object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Encapsulates information about the event — type, source, timestamp. Subclass of java.util.EventObject (e.g., ActionEvent, KeyEvent).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783080"/>
            <a:ext cx="2743200" cy="731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920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👂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</a:rPr>
              <a:t>Event Listener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9260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An object that implements a Listener interface and receives the event to execute the appropriate handler method.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3291840"/>
            <a:ext cx="1828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090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0" y="3291840"/>
            <a:ext cx="1828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090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D4037"/>
                </a:solidFill>
              </a:rPr>
              <a:t>💡  Delegation Model: The source delegates event-handling responsibility to a registered listener — keeping UI and logic decoupled.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 Listener Interfaces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Interface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960120"/>
            <a:ext cx="22860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960120"/>
            <a:ext cx="44805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960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Triggered By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307592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1307592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40280" y="1307592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5144" y="130759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actionPerformed()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26280" y="1307592"/>
            <a:ext cx="44805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307592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click, menu select, Enter key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828800"/>
            <a:ext cx="201168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828800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KeyListener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40280" y="1828800"/>
            <a:ext cx="228600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144" y="1828800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keyPressed()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keyReleased()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keyTyped()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1828800"/>
            <a:ext cx="448056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1828800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key press / release / type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350008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" y="2350008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MouseListener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40280" y="2350008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95144" y="2350008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mouseClicked()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mouseEntered()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mouseExited()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mousePressed()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mouseReleased()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2350008"/>
            <a:ext cx="44805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2350008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button &amp; entry/exit events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871216"/>
            <a:ext cx="201168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" y="2871216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MouseMotionListener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40280" y="2871216"/>
            <a:ext cx="228600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95144" y="2871216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mouseDragged()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mouseMoved()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2871216"/>
            <a:ext cx="448056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2871216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movement &amp; drag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392424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3392424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FocusListener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40280" y="3392424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95144" y="3392424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focusGained()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focusLost()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26280" y="3392424"/>
            <a:ext cx="44805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92424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focus change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3913632"/>
            <a:ext cx="201168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" y="3913632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WindowListener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240280" y="3913632"/>
            <a:ext cx="228600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95144" y="391363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windowOpened()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windowClosing()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windowClosed() + 4 more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26280" y="3913632"/>
            <a:ext cx="4480560" cy="521208"/>
          </a:xfrm>
          <a:prstGeom prst="rect">
            <a:avLst/>
          </a:prstGeom>
          <a:solidFill>
            <a:srgbClr val="E8EDF5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81144" y="3913632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state changes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4434840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4434840"/>
            <a:ext cx="1920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ItemListener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40280" y="4434840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95144" y="4434840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itemStateChanged()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26280" y="4434840"/>
            <a:ext cx="44805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81144" y="4434840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Checkbox, Choice, List selection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E8F4FD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ℹ️  All interfaces extend java.util.EventListener  |  Package: java.awt.event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 Adapter Classes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40690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❌  Problem: Listener Interfaces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Implementing MouseListener forces you 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define ALL 5 methods — even unused ones.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0233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6596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MyHandler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MouseListener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Must implement ALL: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mouseClicked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(...){}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mouseEntered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(...){}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mouseExited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(...){}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mousePressed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(...){}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mouseReleased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(...){}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069080"/>
          </a:xfrm>
          <a:prstGeom prst="rect">
            <a:avLst/>
          </a:prstGeom>
          <a:solidFill>
            <a:srgbClr val="F1FDF5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42062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✅  Solution: Adapter Classes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Extend an Adapter class and override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the methods you need.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40233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MyHandler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MouseAdapter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Override only what you need: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mouseClicked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MouseEvent e)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Your logic here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boilerplate! 🎉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Common Adapters: MouseAdapter  ·  KeyAdapter  ·  WindowAdapter  ·  FocusAdapter  ·  ComponentAdapter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3.4  Handling Action Events &amp; Action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4023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ActionEvent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50876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63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Fired when the user performs a primary action on a component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28600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40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Handled by ActionListener interface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306324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017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Only ONE method to implement: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   actionPerformed(ActionEvent 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84048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947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ActionEvent carries: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  • getSource() — the 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  • getActionCommand() — string tag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  • getModifiers() — keyboard 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840480" cy="2286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</a:rPr>
              <a:t>Sources: JButton · JTextField · JMenuItem · JCheckBox · JRadioButton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97680" cy="4023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Complete ActionListener example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java.awt.event.*;
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javax.swing.*;
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ButtonDemo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
    ActionListener {
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JButton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btn1, btn2;
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actionPerformed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ActionEvent e) {
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e.</a:t>
            </a:r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getActionCommand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</a:t>
            </a:r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("Save"))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saveFile();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openFile();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 Key Events &amp; Focus Events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⌨️  Key Events — KeyListener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463040"/>
            <a:ext cx="39776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keyPressed(KeyEvent 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737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Fired when any key is pressed down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874520"/>
            <a:ext cx="39776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47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keyReleased(KeyEvent 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1488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Fired when a key is released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286000"/>
            <a:ext cx="39776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9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keyTyped(KeyEvent 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560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Fired for character-generating keys (not function/arrow)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688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Useful KeyEvent Methods: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getKeyChar() — character pressed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getKeyCode() — virtual key code (VK_A, VK_ENTER…)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isShiftDown() / isControlDown() — modifier keys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886200"/>
            <a:ext cx="397764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41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KeyAdapter — override only needed methods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361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btn.addKeyListener(new KeyAdapter()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keyPressed(KeyEvent e)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343400"/>
            <a:ext cx="397764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361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btn.addKeyListener(new KeyAdapter()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keyPressed(KeyEvent e)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960120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960120"/>
            <a:ext cx="41605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Focus Events — FocusListener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444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</a:rPr>
              <a:t>Focus = the component currently receiving keyboard input.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1920240"/>
            <a:ext cx="397764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focusGained(FocusEvent 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Component receives keyboard focus — highlight field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397764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587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focusLost(FocusEvent 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Component loses focus — validate input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Common Use Cases: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3429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Form validation on losing focus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Placeholder text (show/hide hints)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97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Change border/color to highlight active field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▶  Auto-select text when field gains focus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 Mouse Events &amp; Window Events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🖱️  Mouse 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</a:rPr>
              <a:t>MouseListener  (5 methods)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mouseClicked — clicked (pressed + released)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mousePressed — button pressed down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mouseReleased — button released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mouseEntered — cursor enters component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mouseExited — cursor leaves component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272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</a:rPr>
              <a:t>MouseMotionListener  (2 methods)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mouseMoved — moved (no button pressed)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• mouseDragged — moved with button held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</a:rPr>
              <a:t>MouseEvent useful: getX(), getY(), getButton(), getClickCount(), SwingUtilities.isRightMouseButton(e)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60120"/>
            <a:ext cx="4160520" cy="38404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🪟  Window Events — WindowListener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windowOpened()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First time window becomes visible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windowClosing()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18105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User clicks X / window close (most used)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157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windowClosed()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15798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Window has been closed completely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505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windowIconified()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25054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Window minimized to taskbar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2852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windowDeiconified()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Restored from taskbar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windowActivated()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Window brought to front / focused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windowDeactivated()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35478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Window loses focus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886200"/>
            <a:ext cx="3977640" cy="7315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977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</a:rPr>
              <a:t>WindowAdapter simplifies by providing empty implementations: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251960"/>
            <a:ext cx="39776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27024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addWindowListener(new WindowAdapter()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windowClosing(WindowEvent 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System.exit(0);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 Item Events — ItemListener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ItemEvent is generated when an item is selected or deselected in components that have selectable items (CheckBox, Choice, List, CheckboxMenuItem).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64008" cy="3291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Interface &amp; Method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075688"/>
            <a:ext cx="39319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09397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itemStateChanged(ItemEvent 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15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Useful ItemEvent Methods: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999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getItem()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65960" y="2999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Returns the item that was (de)selected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getStateChange()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65960" y="3474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ItemEvent.SELECTED or DESELECTED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950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getSource()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The component that fired the event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</a:rPr>
              <a:t>Components that fire ItemEvent: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27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Checkbox  ·  Choice  ·  List  ·  CheckboxMenuItem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691640"/>
            <a:ext cx="416052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737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ItemListener with Checkbox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029968"/>
            <a:ext cx="3977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new </a:t>
            </a:r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("Dark Mode");
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cb.addItemListener(e -&gt;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</a:t>
            </a:r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getStateChange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== ItemEvent.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pPr indent="0" marL="0">
              <a:buNone/>
            </a:pPr>
            <a:r>
              <a:rPr lang="en-US" sz="9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Enable dark mode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applyDarkTheme();
  } else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applyLightTheme();
  }
});
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Also works with Choice list: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choice.</a:t>
            </a:r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addItemListener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4572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⚙️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</a:rPr>
              <a:t>PRACTICAL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</a:rPr>
              <a:t>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EEE9"/>
                </a:solidFill>
              </a:rPr>
              <a:t>Unit 3 — Lab Exercises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</a:rPr>
              <a:t>LAB EXERCISES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749808"/>
            <a:ext cx="5806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49808"/>
            <a:ext cx="64008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77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Lab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987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Listener Interface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7772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Build a calculator that uses ActionListener to handle button clicks for +, −, ×, ÷ operations.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72768" y="786384"/>
            <a:ext cx="0" cy="6949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563624"/>
            <a:ext cx="5806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1563624"/>
            <a:ext cx="64008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5910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Lab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801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Keyboard Tracker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159105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Create a text field that displays key code, key char, and modifier keys pressed in real 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72768" y="1600200"/>
            <a:ext cx="0" cy="6949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2377440"/>
            <a:ext cx="5806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2377440"/>
            <a:ext cx="64008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4048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Lab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6151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Adapter Classes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240487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Use MouseAdapter and WindowAdapter to draw on a canvas and safely close the application.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72768" y="2414016"/>
            <a:ext cx="0" cy="6949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3191256"/>
            <a:ext cx="5806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3191256"/>
            <a:ext cx="64008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2186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Lab 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429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Focus 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00200" y="32186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Build a registration form; validate email and password fields using FocusListener on focusLost().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72768" y="3227832"/>
            <a:ext cx="0" cy="6949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" y="4005072"/>
            <a:ext cx="5806440" cy="731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4005072"/>
            <a:ext cx="64008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0325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Lab 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42428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Events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0200" y="403250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Create a settings panel with Checkboxes &amp; Choice menus — update UI dynamically on selection change.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72768" y="4041648"/>
            <a:ext cx="0" cy="6949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Unit 3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Delegation Event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Events flow from Source → Event Object → Listener. Keeps UI and business logic separated (MVC principle).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6400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Listener Interfaces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53619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Define contracts (methods) for handling events. Must implement ALL methods. Package: java.awt.event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6400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972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Adapter 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53619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Abstract classes with empty implementations. Extend to override only what you need — reduces boilerplate.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6400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17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Event Types Covered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Action · Key · Focus · Mouse · MouseMotion · Window · Item. Each has its own interface, adapter, and event class.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6400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17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4564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Use anonymous inner classes or lambda expressions for concise, in-place event handling in modern Java.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26080"/>
            <a:ext cx="6400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17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Action Commands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4564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</a:rPr>
              <a:t>Use setActionCommand() to assign a string tag to buttons — enables one handler for multiple components.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Advanced Java Programming  |  Unit 3: Event Handling  |  Master of Computer Applications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3: Event Handling in Java</dc:title>
  <dc:subject>PptxGenJS Presentation</dc:subject>
  <dc:creator>Instructor</dc:creator>
  <cp:lastModifiedBy>Instructor</cp:lastModifiedBy>
  <cp:revision>1</cp:revision>
  <dcterms:created xsi:type="dcterms:W3CDTF">2026-04-05T17:50:10Z</dcterms:created>
  <dcterms:modified xsi:type="dcterms:W3CDTF">2026-04-05T17:50:10Z</dcterms:modified>
</cp:coreProperties>
</file>