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73152"/>
            <a:ext cx="54864" cy="50703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6217920" y="73152"/>
            <a:ext cx="2926080" cy="507034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223760" y="1645920"/>
            <a:ext cx="1097280" cy="320040"/>
          </a:xfrm>
          <a:prstGeom prst="ellipse">
            <a:avLst/>
          </a:prstGeom>
          <a:solidFill>
            <a:srgbClr val="00B4D8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223760" y="1965960"/>
            <a:ext cx="1097280" cy="320040"/>
          </a:xfrm>
          <a:prstGeom prst="ellipse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7223760" y="2286000"/>
            <a:ext cx="1097280" cy="320040"/>
          </a:xfrm>
          <a:prstGeom prst="ellipse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223760" y="2606040"/>
            <a:ext cx="1097280" cy="320040"/>
          </a:xfrm>
          <a:prstGeom prst="ellipse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223760" y="1801368"/>
            <a:ext cx="1097280" cy="804672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223760" y="2450592"/>
            <a:ext cx="1097280" cy="320040"/>
          </a:xfrm>
          <a:prstGeom prst="ellipse">
            <a:avLst/>
          </a:prstGeom>
          <a:solidFill>
            <a:srgbClr val="0077B6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675120" y="3108960"/>
            <a:ext cx="2103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4A261"/>
                </a:solidFill>
              </a:rPr>
              <a:t>☕ JAVA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6675120" y="352044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8899AA"/>
                </a:solidFill>
              </a:rPr>
              <a:t>↕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6675120" y="3794760"/>
            <a:ext cx="2103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B4D8"/>
                </a:solidFill>
              </a:rPr>
              <a:t>🗄 DATABASE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65760" y="914400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00B4D8"/>
                </a:solidFill>
              </a:rPr>
              <a:t>MASTERS LEVEL • UNIT 4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365760" y="132588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</a:rPr>
              <a:t>Database Connectivity</a:t>
            </a:r>
            <a:endParaRPr lang="en-US" sz="4000" dirty="0"/>
          </a:p>
        </p:txBody>
      </p:sp>
      <p:sp>
        <p:nvSpPr>
          <p:cNvPr id="16" name="Text 14"/>
          <p:cNvSpPr/>
          <p:nvPr/>
        </p:nvSpPr>
        <p:spPr>
          <a:xfrm>
            <a:off x="365760" y="2011680"/>
            <a:ext cx="5486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dirty="0">
                <a:solidFill>
                  <a:srgbClr val="90E0EF"/>
                </a:solidFill>
              </a:rPr>
              <a:t>with Java &amp; JDBC</a:t>
            </a:r>
            <a:endParaRPr lang="en-US" sz="3200" dirty="0"/>
          </a:p>
        </p:txBody>
      </p:sp>
      <p:sp>
        <p:nvSpPr>
          <p:cNvPr id="17" name="Text 15"/>
          <p:cNvSpPr/>
          <p:nvPr/>
        </p:nvSpPr>
        <p:spPr>
          <a:xfrm>
            <a:off x="365760" y="2834640"/>
            <a:ext cx="5486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AA"/>
                </a:solidFill>
              </a:rPr>
              <a:t>JDBC Architecture  •  DDL &amp; DML Operations</a:t>
            </a:r>
            <a:endParaRPr lang="en-US" sz="13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300" dirty="0">
                <a:solidFill>
                  <a:srgbClr val="8899AA"/>
                </a:solidFill>
              </a:rPr>
              <a:t>Prepared Statements  •  Transactions  •  IntelliJ IDE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0" y="4988052"/>
            <a:ext cx="9144000" cy="15544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What is JDBC?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8595360" cy="731520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57200" y="896112"/>
            <a:ext cx="822960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FFFFFF"/>
                </a:solidFill>
              </a:rPr>
              <a:t>Java Database Connectivity (JDBC) is a Java API that enables Java applications to interact with relational databases using standard SQL.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274320" y="17830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274320" y="1783080"/>
            <a:ext cx="2011680" cy="6400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🌐</a:t>
            </a:r>
            <a:endParaRPr lang="en-US" sz="2600" dirty="0"/>
          </a:p>
        </p:txBody>
      </p:sp>
      <p:sp>
        <p:nvSpPr>
          <p:cNvPr id="10" name="Text 8"/>
          <p:cNvSpPr/>
          <p:nvPr/>
        </p:nvSpPr>
        <p:spPr>
          <a:xfrm>
            <a:off x="274320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Platform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Independent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2432304" y="17830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2432304" y="1783080"/>
            <a:ext cx="2011680" cy="6400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432304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🔄</a:t>
            </a:r>
            <a:endParaRPr lang="en-US" sz="2600" dirty="0"/>
          </a:p>
        </p:txBody>
      </p:sp>
      <p:sp>
        <p:nvSpPr>
          <p:cNvPr id="14" name="Text 12"/>
          <p:cNvSpPr/>
          <p:nvPr/>
        </p:nvSpPr>
        <p:spPr>
          <a:xfrm>
            <a:off x="2432304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Database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Agnostic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4590288" y="17830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590288" y="1783080"/>
            <a:ext cx="2011680" cy="6400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590288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📝</a:t>
            </a:r>
            <a:endParaRPr lang="en-US" sz="2600" dirty="0"/>
          </a:p>
        </p:txBody>
      </p:sp>
      <p:sp>
        <p:nvSpPr>
          <p:cNvPr id="18" name="Text 16"/>
          <p:cNvSpPr/>
          <p:nvPr/>
        </p:nvSpPr>
        <p:spPr>
          <a:xfrm>
            <a:off x="4590288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SQL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Execution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748272" y="1783080"/>
            <a:ext cx="2011680" cy="137160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748272" y="1783080"/>
            <a:ext cx="2011680" cy="6400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748272" y="1920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600" dirty="0">
                <a:solidFill>
                  <a:srgbClr val="000000"/>
                </a:solidFill>
              </a:rPr>
              <a:t>🔗</a:t>
            </a:r>
            <a:endParaRPr lang="en-US" sz="2600" dirty="0"/>
          </a:p>
        </p:txBody>
      </p:sp>
      <p:sp>
        <p:nvSpPr>
          <p:cNvPr id="22" name="Text 20"/>
          <p:cNvSpPr/>
          <p:nvPr/>
        </p:nvSpPr>
        <p:spPr>
          <a:xfrm>
            <a:off x="6748272" y="242316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Connection</a:t>
            </a:r>
            <a:endParaRPr lang="en-US" sz="1200" dirty="0"/>
          </a:p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Pooling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274320" y="33375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Key Concepts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274320" y="3675888"/>
            <a:ext cx="402336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</a:rPr>
              <a:t>Part of Java SE — no additional download needed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</a:rPr>
              <a:t>Sits between application and database driver layer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</a:rPr>
              <a:t>Abstracts vendor-specific SQL dialect differences</a:t>
            </a:r>
            <a:endParaRPr lang="en-US" sz="1200" dirty="0"/>
          </a:p>
          <a:p>
            <a:pPr marL="342900" indent="-342900">
              <a:buSzPct val="100000"/>
              <a:buChar char="•"/>
            </a:pPr>
            <a:r>
              <a:rPr lang="en-US" sz="1200" dirty="0">
                <a:solidFill>
                  <a:srgbClr val="1B2A3B"/>
                </a:solidFill>
              </a:rPr>
              <a:t>Supports Statement, PreparedStatement, CallableStatement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4663440" y="3337560"/>
            <a:ext cx="4206240" cy="1645920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800600" y="3401568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java.sql package imports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3675888"/>
            <a:ext cx="393192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java.sql.Connection;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java.sql.DriverManager;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java.sql.Statement;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java.sql.ResultSet;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java.sql.PreparedStatement;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JDBC Architecture &amp; Driver Types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365760" y="822960"/>
            <a:ext cx="4114800" cy="475488"/>
          </a:xfrm>
          <a:prstGeom prst="rect">
            <a:avLst/>
          </a:prstGeom>
          <a:solidFill>
            <a:srgbClr val="4361EE"/>
          </a:solidFill>
          <a:ln w="12700">
            <a:solidFill>
              <a:srgbClr val="4361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365760" y="82296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Java Application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365760" y="129844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65760" y="1417320"/>
            <a:ext cx="411480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365760" y="141732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JDBC API  (java.sql.*)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365760" y="189280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365760" y="2011680"/>
            <a:ext cx="4114800" cy="475488"/>
          </a:xfrm>
          <a:prstGeom prst="rect">
            <a:avLst/>
          </a:prstGeom>
          <a:solidFill>
            <a:srgbClr val="0077B6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365760" y="201168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JDBC Driver Manager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365760" y="248716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365760" y="2606040"/>
            <a:ext cx="4114800" cy="475488"/>
          </a:xfrm>
          <a:prstGeom prst="rect">
            <a:avLst/>
          </a:prstGeom>
          <a:solidFill>
            <a:srgbClr val="7B2D8B"/>
          </a:solidFill>
          <a:ln w="12700">
            <a:solidFill>
              <a:srgbClr val="7B2D8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365760" y="260604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JDBC Driver (Type 4)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365760" y="3081528"/>
            <a:ext cx="411480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▼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365760" y="3200400"/>
            <a:ext cx="4114800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365760" y="3200400"/>
            <a:ext cx="4114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</a:rPr>
              <a:t>Database Server (MySQL / PostgreSQL)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846320" y="822960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D1B2A"/>
                </a:solidFill>
              </a:rPr>
              <a:t>JDBC Driver Types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846320" y="1234440"/>
            <a:ext cx="658368" cy="658368"/>
          </a:xfrm>
          <a:prstGeom prst="rect">
            <a:avLst/>
          </a:prstGeom>
          <a:solidFill>
            <a:srgbClr val="8899AA"/>
          </a:solidFill>
          <a:ln w="12700">
            <a:solidFill>
              <a:srgbClr val="8899AA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846320" y="1234440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 1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5532120" y="1234440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5623560" y="1289304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JDBC-ODBC Bridge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623560" y="1545336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Bridges to ODBC driver — deprecated in Java 8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846320" y="2130552"/>
            <a:ext cx="658368" cy="658368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46320" y="2130552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 2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5532120" y="2130552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23560" y="2185416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Native API Driver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5623560" y="2441448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Converts JDBC to DB-specific native calls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846320" y="3026664"/>
            <a:ext cx="658368" cy="658368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846320" y="3026664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 3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5532120" y="3026664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3" name="Text 31"/>
          <p:cNvSpPr/>
          <p:nvPr/>
        </p:nvSpPr>
        <p:spPr>
          <a:xfrm>
            <a:off x="5623560" y="3081528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Network Protocol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5623560" y="3337560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Uses middleware server for database access</a:t>
            </a:r>
            <a:endParaRPr lang="en-US" sz="950" dirty="0"/>
          </a:p>
        </p:txBody>
      </p:sp>
      <p:sp>
        <p:nvSpPr>
          <p:cNvPr id="35" name="Shape 33"/>
          <p:cNvSpPr/>
          <p:nvPr/>
        </p:nvSpPr>
        <p:spPr>
          <a:xfrm>
            <a:off x="4846320" y="3922776"/>
            <a:ext cx="658368" cy="65836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4846320" y="3922776"/>
            <a:ext cx="65836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FFFFFF"/>
                </a:solidFill>
              </a:rPr>
              <a:t>Type 4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32120" y="3922776"/>
            <a:ext cx="3337560" cy="65836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8" name="Text 36"/>
          <p:cNvSpPr/>
          <p:nvPr/>
        </p:nvSpPr>
        <p:spPr>
          <a:xfrm>
            <a:off x="5623560" y="3977640"/>
            <a:ext cx="3154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D1B2A"/>
                </a:solidFill>
              </a:rPr>
              <a:t>Thin Driver ✓</a:t>
            </a:r>
            <a:endParaRPr lang="en-US" sz="1150" dirty="0"/>
          </a:p>
        </p:txBody>
      </p:sp>
      <p:sp>
        <p:nvSpPr>
          <p:cNvPr id="39" name="Text 37"/>
          <p:cNvSpPr/>
          <p:nvPr/>
        </p:nvSpPr>
        <p:spPr>
          <a:xfrm>
            <a:off x="5623560" y="4233672"/>
            <a:ext cx="3154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Pure Java — directly connects to DB (most used)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Setting Up JDBC in IntelliJ IDEA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686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914400" y="86868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</a:rPr>
              <a:t>Create Maven/Gradle Project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914400" y="1234440"/>
            <a:ext cx="7955280" cy="914400"/>
          </a:xfrm>
          <a:prstGeom prst="rect">
            <a:avLst/>
          </a:prstGeom>
          <a:solidFill>
            <a:srgbClr val="1E2D3D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051560" y="1271016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File → New Project → Maven/Gradle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GroupId: com.university  ArtifactId: jdbc-demo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274320" y="228600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74320" y="22860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914400" y="228600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</a:rPr>
              <a:t>Add MySQL Driver Dependency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914400" y="2651760"/>
            <a:ext cx="7955280" cy="914400"/>
          </a:xfrm>
          <a:prstGeom prst="rect">
            <a:avLst/>
          </a:prstGeom>
          <a:solidFill>
            <a:srgbClr val="1E2D3D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051560" y="2688336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&lt;dependency&gt;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&lt;groupId&gt;mysql&lt;/groupId&gt;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&lt;artifactId&gt;mysql-connector-java&lt;/artifactId&gt;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&lt;version&gt;8.0.33&lt;/version&gt;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&lt;/dependency&gt;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274320" y="3703320"/>
            <a:ext cx="502920" cy="5029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7432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D1B2A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914400" y="3703320"/>
            <a:ext cx="79552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0D1B2A"/>
                </a:solidFill>
              </a:rPr>
              <a:t>Configure IntelliJ Database Tool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914400" y="4069080"/>
            <a:ext cx="7955280" cy="914400"/>
          </a:xfrm>
          <a:prstGeom prst="rect">
            <a:avLst/>
          </a:prstGeom>
          <a:solidFill>
            <a:srgbClr val="1E2D3D"/>
          </a:solidFill>
          <a:ln w="10160">
            <a:solidFill>
              <a:srgbClr val="00B4D8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51560" y="4105656"/>
            <a:ext cx="768096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View → Tool Windows → Database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Click + → Data Source → MySQL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Host: localhost  Port: 3306  User: root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Establishing a JDBC Connection — Full Example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394960" cy="4114800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59536"/>
            <a:ext cx="5120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JdbcConnection.java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43000"/>
            <a:ext cx="5166360" cy="3703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java.sql.*;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JdbcConnection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JDBC URL format: jdbc:mysql://host:port/dbname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final String URL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"jdbc:mysql://localhost:3306/university";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final String USER = "root";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 final String PASS = "password123";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// try-with-resources → auto-closes connection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conn =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DriverManager.getConnection(URL, USER, PASS)) {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System.out.println("✅ Connected to: "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conn.getMetaData().getDatabaseProductName());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System.out.println("Driver: " +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conn.getMetaData().getDriverVersion());</a:t>
            </a:r>
            <a:endParaRPr lang="en-US" sz="900" dirty="0"/>
          </a:p>
          <a:p>
            <a:pPr indent="0" marL="0">
              <a:buNone/>
            </a:pP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(SQLException e) {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System.err.println("Connection failed!");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e.printStackTrace(); // show error code + message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5852160" y="822960"/>
            <a:ext cx="301752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5852160" y="82296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989320" y="89611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</a:rPr>
              <a:t>🔑  Connection URL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89320" y="118872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jdbc:subprotocol://host:port/database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5852160" y="1828800"/>
            <a:ext cx="301752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852160" y="182880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190195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</a:rPr>
              <a:t>🛡️  try-with-resources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989320" y="219456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Ensures connection is always closed — prevents resource leaks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5852160" y="2834640"/>
            <a:ext cx="301752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5852160" y="283464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5989320" y="290779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</a:rPr>
              <a:t>⚠️  SQLException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989320" y="320040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Checked exception — must handle or declare. Contains SQLState code &amp; error code.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5852160" y="3840480"/>
            <a:ext cx="301752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5852160" y="3840480"/>
            <a:ext cx="54864" cy="91440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5989320" y="3913632"/>
            <a:ext cx="2788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90E0EF"/>
                </a:solidFill>
              </a:rPr>
              <a:t>📋  DatabaseMetaData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989320" y="4206240"/>
            <a:ext cx="2788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</a:rPr>
              <a:t>Inspect DB version, driver info, supported features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DDL Operations — CREATE, ALTER, DROP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1280160" cy="34747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12801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DDL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691640" y="822960"/>
            <a:ext cx="7178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B2A3B"/>
                </a:solidFill>
              </a:rPr>
              <a:t>Data Definition Language — defines schema structure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274320" y="1280160"/>
            <a:ext cx="5029200" cy="3611880"/>
          </a:xfrm>
          <a:prstGeom prst="rect">
            <a:avLst/>
          </a:prstGeom>
          <a:solidFill>
            <a:srgbClr val="1E2D3D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411480" y="1316736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52B78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DDLExample.java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11480" y="1572768"/>
            <a:ext cx="4800600" cy="3246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DDLExample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url = "jdbc:mysql://localhost:3306/uni";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conn =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DriverManager.getConnection(url,"root","pass");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Statement stmt = conn.createStatement()) {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CREATE TABLE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createSQL = """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CREATE TABLE IF NOT EXISTS students 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id         INT PRIMARY KEY AUTO_INCREMENT,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name       VARCHAR(100) NOT NULL,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email      VARCHAR(150) UNIQUE,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gpa        DECIMAL(3,2) DEFAULT 0.00,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created_at TIMESTAMP DEFAULT CURRENT_TIMESTAMP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)""";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stmt.executeUpdate(createSQL);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System.out.println("Table created!");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ALTER TABLE — add column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stmt.executeUpdate(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"ALTER TABLE students ADD department VARCHAR(50)");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DROP TABLE (with safety check)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stmt.executeUpdate(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"DROP TABLE IF EXISTS old_records");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 catch (SQLException e) { e.printStackTrace();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1" name="Text 9"/>
          <p:cNvSpPr/>
          <p:nvPr/>
        </p:nvSpPr>
        <p:spPr>
          <a:xfrm>
            <a:off x="5532120" y="1280160"/>
            <a:ext cx="3337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DDL Command Reference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32120" y="1664208"/>
          <a:ext cx="3337560" cy="1691640"/>
        </p:xfrm>
        <a:graphic>
          <a:graphicData uri="http://schemas.openxmlformats.org/drawingml/2006/table">
            <a:tbl>
              <a:tblPr/>
              <a:tblGrid>
                <a:gridCol w="1668780"/>
                <a:gridCol w="1668780"/>
              </a:tblGrid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Command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Purpose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a new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ALTER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Modify table structure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DROP TABLE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Delete table permanently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TRUNCATE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Remove all rows fast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819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CREATE INDEX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Speed up queries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5532120" y="3520440"/>
            <a:ext cx="3337560" cy="1371600"/>
          </a:xfrm>
          <a:prstGeom prst="rect">
            <a:avLst/>
          </a:prstGeom>
          <a:solidFill>
            <a:srgbClr val="E8F5E9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5669280" y="3584448"/>
            <a:ext cx="3063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2B788"/>
                </a:solidFill>
              </a:rPr>
              <a:t>💡 Key Notes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5669280" y="3895344"/>
            <a:ext cx="306324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Use executeUpdate() for DDL — returns 0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executeQuery() is for SELECT only</a:t>
            </a:r>
            <a:endParaRPr lang="en-US" sz="1050" dirty="0"/>
          </a:p>
          <a:p>
            <a:pPr marL="342900" indent="-342900">
              <a:buSzPct val="100000"/>
              <a:buChar char="•"/>
            </a:pPr>
            <a:r>
              <a:rPr lang="en-US" sz="1050" dirty="0">
                <a:solidFill>
                  <a:srgbClr val="1B2A3B"/>
                </a:solidFill>
              </a:rPr>
              <a:t>IF NOT EXISTS prevents errors on re-run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DML Operations — INSERT, UPDATE, DELETE, SELECT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5120640" cy="4160520"/>
          </a:xfrm>
          <a:prstGeom prst="rect">
            <a:avLst/>
          </a:prstGeom>
          <a:solidFill>
            <a:srgbClr val="1E2D3D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59536"/>
            <a:ext cx="4846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DMLExample.java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4892040" cy="3794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conn = DriverManager.getConnection(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URL, USER, PASS);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Statement stmt = conn.createStatement()) {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INSERT — add new student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int rows = stmt.executeUpdate(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"INSERT INTO students(name, email, gpa) " +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"VALUES('Alice Johnson','alice@uni.edu', 3.85)");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System.out.println("Inserted: " + rows + " row(s)");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 — modify existing record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rows = stmt.executeUpdate(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"UPDATE students SET gpa=3.90 " +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"WHERE email='alice@uni.edu'");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System.out.println("Updated: " + rows + " row(s)");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SELECT — read and iterate ResultSet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ResultSet rs = stmt.executeQuery(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"SELECT id, name, gpa FROM students " +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"WHERE gpa &gt;= 3.5 ORDER BY gpa DESC");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System.out.println("--- High Achievers ---");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(rs.next())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int id     = rs.getInt("id");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nm  = rs.getString("name");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double gpa = rs.getDouble("gpa");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System.out.printf("%d | %-20s | %.2f%n", id, nm, gpa);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DELETE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rows = stmt.executeUpdate(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"DELETE FROM students WHERE id = 5");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5577840" y="841248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ResultSet Navigation</a:t>
            </a:r>
            <a:endParaRPr lang="en-US" sz="13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170432"/>
          <a:ext cx="3291840" cy="1920240"/>
        </p:xfrm>
        <a:graphic>
          <a:graphicData uri="http://schemas.openxmlformats.org/drawingml/2006/table">
            <a:tbl>
              <a:tblPr/>
              <a:tblGrid>
                <a:gridCol w="1645920"/>
                <a:gridCol w="164592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Method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Returns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rs.next()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Move to next row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rs.getString(col)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String value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rs.getInt(col)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int value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rs.getDouble(col)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double value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rs.getDate(col)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java.sql.Date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rs.wasNull()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Check for NULL</a:t>
                      </a:r>
                      <a:endParaRPr lang="en-US" sz="1000" dirty="0"/>
                    </a:p>
                  </a:txBody>
                  <a:tcPr marL="91440" marR="91440" marT="45720" marB="45720">
                    <a:lnL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0160" cap="flat" cmpd="sng" algn="ctr">
                      <a:solidFill>
                        <a:srgbClr val="CCDDE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0" name="Text 7"/>
          <p:cNvSpPr/>
          <p:nvPr/>
        </p:nvSpPr>
        <p:spPr>
          <a:xfrm>
            <a:off x="5577840" y="324612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Execution Methods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5577840" y="3584448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9"/>
          <p:cNvSpPr/>
          <p:nvPr/>
        </p:nvSpPr>
        <p:spPr>
          <a:xfrm>
            <a:off x="5577840" y="3584448"/>
            <a:ext cx="54864" cy="4389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5687568" y="3584448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executeQuery()</a:t>
            </a:r>
            <a:endParaRPr lang="en-US" sz="1000" dirty="0"/>
          </a:p>
        </p:txBody>
      </p:sp>
      <p:sp>
        <p:nvSpPr>
          <p:cNvPr id="14" name="Text 11"/>
          <p:cNvSpPr/>
          <p:nvPr/>
        </p:nvSpPr>
        <p:spPr>
          <a:xfrm>
            <a:off x="5687568" y="3803904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SELECT → ResultSet</a:t>
            </a:r>
            <a:endParaRPr lang="en-US" sz="950" dirty="0"/>
          </a:p>
        </p:txBody>
      </p:sp>
      <p:sp>
        <p:nvSpPr>
          <p:cNvPr id="15" name="Shape 12"/>
          <p:cNvSpPr/>
          <p:nvPr/>
        </p:nvSpPr>
        <p:spPr>
          <a:xfrm>
            <a:off x="5577840" y="4069080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577840" y="4069080"/>
            <a:ext cx="54864" cy="438912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17" name="Text 14"/>
          <p:cNvSpPr/>
          <p:nvPr/>
        </p:nvSpPr>
        <p:spPr>
          <a:xfrm>
            <a:off x="5687568" y="4069080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executeUpdate()</a:t>
            </a:r>
            <a:endParaRPr lang="en-US" sz="1000" dirty="0"/>
          </a:p>
        </p:txBody>
      </p:sp>
      <p:sp>
        <p:nvSpPr>
          <p:cNvPr id="18" name="Text 15"/>
          <p:cNvSpPr/>
          <p:nvPr/>
        </p:nvSpPr>
        <p:spPr>
          <a:xfrm>
            <a:off x="5687568" y="4288536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INSERT/UPDATE/DELETE → int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5577840" y="4553712"/>
            <a:ext cx="329184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7"/>
          <p:cNvSpPr/>
          <p:nvPr/>
        </p:nvSpPr>
        <p:spPr>
          <a:xfrm>
            <a:off x="5577840" y="4553712"/>
            <a:ext cx="54864" cy="438912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5687568" y="4553712"/>
            <a:ext cx="30906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execute()</a:t>
            </a:r>
            <a:endParaRPr lang="en-US" sz="1000" dirty="0"/>
          </a:p>
        </p:txBody>
      </p:sp>
      <p:sp>
        <p:nvSpPr>
          <p:cNvPr id="22" name="Text 19"/>
          <p:cNvSpPr/>
          <p:nvPr/>
        </p:nvSpPr>
        <p:spPr>
          <a:xfrm>
            <a:off x="5687568" y="4773168"/>
            <a:ext cx="30906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8899AA"/>
                </a:solidFill>
              </a:rPr>
              <a:t>Any SQL → boolean</a:t>
            </a:r>
            <a:endParaRPr lang="en-US" sz="9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9B5DE5"/>
          </a:solidFill>
          <a:ln w="12700">
            <a:solidFill>
              <a:srgbClr val="9B5DE5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PreparedStatement — Secure &amp; Efficient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2011680" cy="731520"/>
          </a:xfrm>
          <a:prstGeom prst="rect">
            <a:avLst/>
          </a:prstGeom>
          <a:solidFill>
            <a:srgbClr val="1B2A3B"/>
          </a:solidFill>
          <a:ln w="19050">
            <a:solidFill>
              <a:srgbClr val="52B78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🛡️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777240" y="822960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SQL Injection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52B788"/>
                </a:solidFill>
              </a:rPr>
              <a:t>Prevention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2432304" y="804672"/>
            <a:ext cx="2011680" cy="731520"/>
          </a:xfrm>
          <a:prstGeom prst="rect">
            <a:avLst/>
          </a:prstGeom>
          <a:solidFill>
            <a:srgbClr val="1B2A3B"/>
          </a:solidFill>
          <a:ln w="19050">
            <a:solidFill>
              <a:srgbClr val="00B4D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32304" y="82296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⚡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935224" y="822960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Pre-compiled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00B4D8"/>
                </a:solidFill>
              </a:rPr>
              <a:t>&amp; Faster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590288" y="804672"/>
            <a:ext cx="2011680" cy="731520"/>
          </a:xfrm>
          <a:prstGeom prst="rect">
            <a:avLst/>
          </a:prstGeom>
          <a:solidFill>
            <a:srgbClr val="1B2A3B"/>
          </a:solidFill>
          <a:ln w="19050">
            <a:solidFill>
              <a:srgbClr val="9B5D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90288" y="82296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📦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5093208" y="822960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Type-safe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9B5DE5"/>
                </a:solidFill>
              </a:rPr>
              <a:t>Parameters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748272" y="804672"/>
            <a:ext cx="2011680" cy="731520"/>
          </a:xfrm>
          <a:prstGeom prst="rect">
            <a:avLst/>
          </a:prstGeom>
          <a:solidFill>
            <a:srgbClr val="1B2A3B"/>
          </a:solidFill>
          <a:ln w="19050">
            <a:solidFill>
              <a:srgbClr val="F4A26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48272" y="822960"/>
            <a:ext cx="50292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00000"/>
                </a:solidFill>
              </a:rPr>
              <a:t>♻️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7251192" y="822960"/>
            <a:ext cx="150876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</a:rPr>
              <a:t>Reusable</a:t>
            </a:r>
            <a:endParaRPr lang="en-US" sz="1050" dirty="0"/>
          </a:p>
          <a:p>
            <a:pPr indent="0" marL="0">
              <a:buNone/>
            </a:pPr>
            <a:r>
              <a:rPr lang="en-US" sz="1050" b="1" dirty="0">
                <a:solidFill>
                  <a:srgbClr val="F4A261"/>
                </a:solidFill>
              </a:rPr>
              <a:t>Template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274320" y="1691640"/>
            <a:ext cx="8595360" cy="3246120"/>
          </a:xfrm>
          <a:prstGeom prst="rect">
            <a:avLst/>
          </a:prstGeom>
          <a:solidFill>
            <a:srgbClr val="1E2D3D"/>
          </a:solidFill>
          <a:ln w="12700">
            <a:solidFill>
              <a:srgbClr val="9B5DE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38912" y="173736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9B5DE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PreparedStatementExample.java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38912" y="2029968"/>
            <a:ext cx="8321040" cy="2834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PreparedStatementExample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static void main(String[] args) throws SQLException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conn = DriverManager.getConnection(URL, USER, PASS)) {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// ? = parameter placeholder — never concatenate user input directly!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String insertSQL = "INSERT INTO students(name, email, gpa) VALUES(?, ?, ?)";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try (PreparedStatement pstmt = conn.prepareStatement(insertSQL,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Statement.RETURN_GENERATED_KEYS)) {       // get auto-generated PK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Batch insert — send multiple rows in one trip to DB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String[][] data =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{"Bob Smith", "bob@uni.edu",   "3.70"},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{"Carol Lee", "carol@uni.edu", "3.95"},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{"Dave Kim",  "dave@uni.edu",  "3.55"},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for (String[] row : data)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pstmt.setString(1, row[0]);   // column 1 = name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pstmt.setString(2, row[1]);   // column 2 = email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pstmt.setDouble(3, Double.parseDouble(row[2])); // column 3 = gpa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pstmt.addBatch();             // queue the row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int[] counts = pstmt.executeBatch();    // send ALL rows at once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System.out.println("Batch inserted: " + counts.length + " rows");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// Retrieve generated IDs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ResultSet keys = pstmt.getGeneratedKeys();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while (keys.next()) { System.out.println("New ID: " + keys.getLong(1));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F4A261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Transactions — ACID Properties in Practice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01168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822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49808" y="822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Atomicity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All or nothing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2423160" y="822960"/>
            <a:ext cx="2011680" cy="475488"/>
          </a:xfrm>
          <a:prstGeom prst="rect">
            <a:avLst/>
          </a:prstGeom>
          <a:solidFill>
            <a:srgbClr val="457B9D"/>
          </a:solidFill>
          <a:ln w="12700">
            <a:solidFill>
              <a:srgbClr val="457B9D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23160" y="822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2898648" y="822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Consistency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Valid state always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572000" y="822960"/>
            <a:ext cx="2011680" cy="475488"/>
          </a:xfrm>
          <a:prstGeom prst="rect">
            <a:avLst/>
          </a:prstGeom>
          <a:solidFill>
            <a:srgbClr val="2A9D8F"/>
          </a:solidFill>
          <a:ln w="12700">
            <a:solidFill>
              <a:srgbClr val="2A9D8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572000" y="822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I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5047488" y="822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Isolation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No dirty reads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6720840" y="822960"/>
            <a:ext cx="2011680" cy="475488"/>
          </a:xfrm>
          <a:prstGeom prst="rect">
            <a:avLst/>
          </a:prstGeom>
          <a:solidFill>
            <a:srgbClr val="E9C46A"/>
          </a:solidFill>
          <a:ln w="12700">
            <a:solidFill>
              <a:srgbClr val="E9C46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720840" y="822960"/>
            <a:ext cx="4572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D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7196328" y="822960"/>
            <a:ext cx="1508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Durability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FFFFFF"/>
                </a:solidFill>
              </a:rPr>
              <a:t>Committed = permanent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274320" y="1444752"/>
            <a:ext cx="5029200" cy="3493008"/>
          </a:xfrm>
          <a:prstGeom prst="rect">
            <a:avLst/>
          </a:prstGeom>
          <a:solidFill>
            <a:srgbClr val="1E2D3D"/>
          </a:solidFill>
          <a:ln w="12700">
            <a:solidFill>
              <a:srgbClr val="F4A261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11480" y="148132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4A26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TransactionExample.java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11480" y="1737360"/>
            <a:ext cx="4800600" cy="3154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// Bank transfer: debit Alice, credit Bob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static void transfer(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Connection conn, int fromId, int toId, double amount)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throws SQLException {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Step 1: disable auto-commit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conn.setAutoCommit(false);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debit  = "UPDATE accounts SET balance = balance - ? WHERE id=?";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String credit = "UPDATE accounts SET balance = balance + ? WHERE id=?";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try (PreparedStatement ps1 = conn.prepareStatement(debit);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PreparedStatement ps2 = conn.prepareStatement(credit)) {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ps1.setDouble(1, amount); ps1.setInt(2, fromId);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ps2.setDouble(1, amount); ps2.setInt(2, toId);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ps1.executeUpdate();    // debit Alice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ps2.executeUpdate();    // credit Bob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conn.commit();          // ✅ save both changes together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System.out.println("Transfer successful!");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catch (SQLException e)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conn.rollback();        // ❌ undo everything on error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throw e;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 finally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conn.setAutoCommit(true); // restore default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20" name="Text 18"/>
          <p:cNvSpPr/>
          <p:nvPr/>
        </p:nvSpPr>
        <p:spPr>
          <a:xfrm>
            <a:off x="5532120" y="1444752"/>
            <a:ext cx="3337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Transaction Flow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532120" y="1783080"/>
            <a:ext cx="33375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5623560" y="1783080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1. BEGIN (setAutoCommit=false)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5532120" y="2258568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▼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5532120" y="2350008"/>
            <a:ext cx="3337560" cy="475488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5623560" y="2350008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2. Execute SQL statements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532120" y="2825496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▼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5532120" y="2916936"/>
            <a:ext cx="3337560" cy="475488"/>
          </a:xfrm>
          <a:prstGeom prst="rect">
            <a:avLst/>
          </a:prstGeom>
          <a:solidFill>
            <a:srgbClr val="52B788"/>
          </a:solidFill>
          <a:ln w="12700">
            <a:solidFill>
              <a:srgbClr val="52B78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8" name="Text 26"/>
          <p:cNvSpPr/>
          <p:nvPr/>
        </p:nvSpPr>
        <p:spPr>
          <a:xfrm>
            <a:off x="5623560" y="2916936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3. SUCCESS? → commit()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5532120" y="3392424"/>
            <a:ext cx="3337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8899AA"/>
                </a:solidFill>
              </a:rPr>
              <a:t>▼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532120" y="3483864"/>
            <a:ext cx="3337560" cy="475488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5623560" y="3483864"/>
            <a:ext cx="315468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4. FAILURE? → rollback()</a:t>
            </a:r>
            <a:endParaRPr lang="en-US" sz="1100" dirty="0"/>
          </a:p>
        </p:txBody>
      </p:sp>
      <p:sp>
        <p:nvSpPr>
          <p:cNvPr id="32" name="Shape 30"/>
          <p:cNvSpPr/>
          <p:nvPr/>
        </p:nvSpPr>
        <p:spPr>
          <a:xfrm>
            <a:off x="5532120" y="4069080"/>
            <a:ext cx="3337560" cy="868680"/>
          </a:xfrm>
          <a:prstGeom prst="rect">
            <a:avLst/>
          </a:prstGeom>
          <a:solidFill>
            <a:srgbClr val="FFF3E0"/>
          </a:solidFill>
          <a:ln w="12700">
            <a:solidFill>
              <a:srgbClr val="F4A261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5669280" y="4114800"/>
            <a:ext cx="3063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4A261"/>
                </a:solidFill>
              </a:rPr>
              <a:t>💾 Savepoints</a:t>
            </a:r>
            <a:endParaRPr lang="en-US" sz="1200" dirty="0"/>
          </a:p>
        </p:txBody>
      </p:sp>
      <p:sp>
        <p:nvSpPr>
          <p:cNvPr id="34" name="Text 32"/>
          <p:cNvSpPr/>
          <p:nvPr/>
        </p:nvSpPr>
        <p:spPr>
          <a:xfrm>
            <a:off x="5669280" y="4370832"/>
            <a:ext cx="3063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Savepoint sp = conn.setSavepoint("step1");</a:t>
            </a:r>
            <a:endParaRPr lang="en-US" sz="950" dirty="0"/>
          </a:p>
          <a:p>
            <a:pPr indent="0" marL="0">
              <a:buNone/>
            </a:pPr>
            <a:r>
              <a:rPr lang="en-US" sz="95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conn.rollback(sp); // partial rollback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E63946"/>
          </a:solidFill>
          <a:ln w="12700">
            <a:solidFill>
              <a:srgbClr val="E63946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</a:rPr>
              <a:t>SQLException Handling &amp; SQL Escapes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4937760" cy="3017520"/>
          </a:xfrm>
          <a:prstGeom prst="rect">
            <a:avLst/>
          </a:prstGeom>
          <a:solidFill>
            <a:srgbClr val="1E2D3D"/>
          </a:solidFill>
          <a:ln w="12700">
            <a:solidFill>
              <a:srgbClr val="E6394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11480" y="859536"/>
            <a:ext cx="46634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6394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ExceptionHandling.java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1480" y="1115568"/>
            <a:ext cx="4736592" cy="2679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try (Connection conn = DriverManager.getConnection(...))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Statement stmt = conn.createStatement();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stmt.executeQuery("SELECT * FROM students");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(SQLSyntaxErrorException e)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Subclass: bad SQL syntax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System.err.println("Syntax Error: " + e.getMessage());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(SQLIntegrityConstraintViolationException e)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Subclass: duplicate key, NOT NULL violation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System.err.println("Constraint: " + e.getMessage());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 catch (SQLException e)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Base class — catches anything above missed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System.err.println("SQLState : " + e.getSQLState());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System.err.println("ErrorCode: " + e.getErrorCode());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System.err.println("Message  : " + e.getMessage());</a:t>
            </a:r>
            <a:endParaRPr lang="en-US" sz="880" dirty="0"/>
          </a:p>
          <a:p>
            <a:pPr indent="0" marL="0">
              <a:buNone/>
            </a:pP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Chained exceptions (multiple causes)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Throwable cause = e.getNextException();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while (cause != null) {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System.err.println("Cause: " + cause.getMessage());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cause = ((SQLException) cause).getNextException();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80" dirty="0"/>
          </a:p>
          <a:p>
            <a:pPr indent="0" marL="0">
              <a:buNone/>
            </a:pPr>
            <a:r>
              <a:rPr lang="en-US" sz="88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8" name="Text 6"/>
          <p:cNvSpPr/>
          <p:nvPr/>
        </p:nvSpPr>
        <p:spPr>
          <a:xfrm>
            <a:off x="274320" y="3931920"/>
            <a:ext cx="4937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SQLException Hierarchy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274320" y="4224528"/>
            <a:ext cx="493776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SQLException → SQLWarning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→ BatchUpdateException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→ SQLClientInfoException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→ DataTruncation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→ SQLNonTransientException (syntax, auth)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 → SQLTransientException (timeout, lock)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486400" y="822960"/>
            <a:ext cx="3383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D1B2A"/>
                </a:solidFill>
              </a:rPr>
              <a:t>JDBC SQL Escape Syntax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0" y="1170432"/>
            <a:ext cx="3383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5486400" y="1170432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596128" y="120700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Date/Time Literals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5596128" y="146304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{d '2024-12-25'}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 '14:30:00'}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{ts '2024-12-25 14:30:00'}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5486400" y="2130552"/>
            <a:ext cx="3383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5486400" y="2130552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5596128" y="216712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Scalar Functions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596128" y="242316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{fn UPPER(name)}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{fn CURRENT_DATE()}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{fn CONCAT(a,b)}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486400" y="3090672"/>
            <a:ext cx="3383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486400" y="3090672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596128" y="312724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Outer Joins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5596128" y="338328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{oj students s LEFT OUTER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JOIN courses c ON s.id=c.sid}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486400" y="4050792"/>
            <a:ext cx="3383280" cy="896112"/>
          </a:xfrm>
          <a:prstGeom prst="rect">
            <a:avLst/>
          </a:prstGeom>
          <a:solidFill>
            <a:srgbClr val="FFFFFF"/>
          </a:solidFill>
          <a:ln w="10160">
            <a:solidFill>
              <a:srgbClr val="AABBCC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5486400" y="4050792"/>
            <a:ext cx="54864" cy="89611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596128" y="4087368"/>
            <a:ext cx="318211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D1B2A"/>
                </a:solidFill>
              </a:rPr>
              <a:t>Stored Procedures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5596128" y="4343400"/>
            <a:ext cx="3182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{call getStudentById(?)}</a:t>
            </a:r>
            <a:endParaRPr lang="en-US" sz="900" dirty="0"/>
          </a:p>
          <a:p>
            <a:pPr indent="0" marL="0">
              <a:buNone/>
            </a:pPr>
            <a:r>
              <a:rPr lang="en-US" sz="900" dirty="0">
                <a:solidFill>
                  <a:srgbClr val="1B2A3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{? = call calcGPA(?, ?)}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58368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58368"/>
            <a:ext cx="9144000" cy="45720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365760" y="0"/>
            <a:ext cx="82296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Practical: Student CRUD Application (IntelliJ)</a:t>
            </a:r>
            <a:endParaRPr lang="en-US" sz="2400" dirty="0"/>
          </a:p>
        </p:txBody>
      </p:sp>
      <p:sp>
        <p:nvSpPr>
          <p:cNvPr id="5" name="Shape 3"/>
          <p:cNvSpPr/>
          <p:nvPr/>
        </p:nvSpPr>
        <p:spPr>
          <a:xfrm>
            <a:off x="274320" y="804672"/>
            <a:ext cx="8595360" cy="4160520"/>
          </a:xfrm>
          <a:prstGeom prst="rect">
            <a:avLst/>
          </a:prstGeom>
          <a:solidFill>
            <a:srgbClr val="1E2D3D"/>
          </a:solidFill>
          <a:ln w="12700">
            <a:solidFill>
              <a:srgbClr val="00B4D8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438912" y="841248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B4D8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StudentDAO.java  (Data Access Object pattern)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38912" y="1133856"/>
            <a:ext cx="8321040" cy="3749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public class StudentDAO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final String URL  = "jdbc:mysql://localhost:3306/university?useSSL=false&amp;serverTimezone=UTC";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final String USER = "root";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private static final String PASS = "password";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CREATE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addStudent(String name, String email, double gpa) throws SQLException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String sql = "INSERT INTO students(name, email, gpa) VALUES(?,?,?)";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 = DriverManager.getConnection(URL,USER,PASS);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PreparedStatement ps = c.prepareStatement(sql, Statement.RETURN_GENERATED_KEYS))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ps.setString(1, name); ps.setString(2, email); ps.setDouble(3, gpa);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ps.executeUpdate();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ResultSet keys = ps.getGeneratedKeys();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keys.next() ? keys.getInt(1) : -1;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READ — find by ID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void findStudent(int id) throws SQLException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 = DriverManager.getConnection(URL,USER,PASS);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PreparedStatement ps = c.prepareStatement("SELECT * FROM students WHERE id=?"))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ps.setInt(1, id);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ResultSet rs = ps.executeQuery();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if (rs.next()) System.out.printf("Found: [%d] %s | GPA: %.2f%n",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rs.getInt("id"), rs.getString("name"), rs.getDouble("gpa"));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UPDATE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updateGPA(int id, double newGpa) throws SQLException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 = DriverManager.getConnection(URL,USER,PASS);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PreparedStatement ps = c.prepareStatement("UPDATE students SET gpa=? WHERE id=?"))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ps.setDouble(1, newGpa); ps.setInt(2, id);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return ps.executeUpdate();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// DELETE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public int deleteStudent(int id) throws SQLException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try (Connection c = DriverManager.getConnection(URL,USER,PASS);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PreparedStatement ps = c.prepareStatement("DELETE FROM students WHERE id=?")) {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ps.setInt(1, id);  return ps.executeUpdate();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}</a:t>
            </a:r>
            <a:endParaRPr lang="en-US" sz="830" dirty="0"/>
          </a:p>
          <a:p>
            <a:pPr indent="0" marL="0">
              <a:buNone/>
            </a:pPr>
            <a:r>
              <a:rPr lang="en-US" sz="830" dirty="0">
                <a:solidFill>
                  <a:srgbClr val="A8DADC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3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5070348"/>
            <a:ext cx="9144000" cy="73152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457200" y="228600"/>
            <a:ext cx="8229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</a:rPr>
              <a:t>Unit 4 Summary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71323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00B4D8"/>
                </a:solidFill>
              </a:rPr>
              <a:t>Key Takeaways for Your Masters Examination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274320" y="1143000"/>
            <a:ext cx="4114800" cy="17373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7" name="Shape 5"/>
          <p:cNvSpPr/>
          <p:nvPr/>
        </p:nvSpPr>
        <p:spPr>
          <a:xfrm>
            <a:off x="274320" y="1143000"/>
            <a:ext cx="50292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74320" y="11430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4.1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868680" y="11978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0E0EF"/>
                </a:solidFill>
              </a:rPr>
              <a:t>JDBC Architecture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411480" y="160020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Type 4 driver = pure Java, most common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DriverManager loads &amp; manages connections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Connection URL: jdbc:vendor://host:port/db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143000"/>
            <a:ext cx="4114800" cy="17373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143000"/>
            <a:ext cx="50292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09160" y="114300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4.2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5303520" y="119786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0E0EF"/>
                </a:solidFill>
              </a:rPr>
              <a:t>DDL &amp; DML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4846320" y="160020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executeUpdate() → DDL/DML (returns int)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executeQuery() → SELECT (returns ResultSet)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Always close ResultSet, Statement, Connection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274320" y="3017520"/>
            <a:ext cx="4114800" cy="17373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74320" y="3017520"/>
            <a:ext cx="50292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274320" y="30175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4.3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868680" y="3072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0E0EF"/>
                </a:solidFill>
              </a:rPr>
              <a:t>PreparedStatement</a:t>
            </a:r>
            <a:endParaRPr lang="en-US" sz="1350" dirty="0"/>
          </a:p>
        </p:txBody>
      </p:sp>
      <p:sp>
        <p:nvSpPr>
          <p:cNvPr id="20" name="Text 18"/>
          <p:cNvSpPr/>
          <p:nvPr/>
        </p:nvSpPr>
        <p:spPr>
          <a:xfrm>
            <a:off x="411480" y="347472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? placeholders prevent SQL injection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Compiled once, executed many times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addBatch() + executeBatch() for bulk ops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4709160" y="3017520"/>
            <a:ext cx="4114800" cy="1737360"/>
          </a:xfrm>
          <a:prstGeom prst="rect">
            <a:avLst/>
          </a:prstGeom>
          <a:solidFill>
            <a:srgbClr val="1B2A3B"/>
          </a:solidFill>
          <a:ln w="12700">
            <a:solidFill>
              <a:srgbClr val="0077B6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017520"/>
            <a:ext cx="502920" cy="402336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09160" y="3017520"/>
            <a:ext cx="5029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D1B2A"/>
                </a:solidFill>
              </a:rPr>
              <a:t>4.4</a:t>
            </a:r>
            <a:endParaRPr lang="en-US" sz="1200" dirty="0"/>
          </a:p>
        </p:txBody>
      </p:sp>
      <p:sp>
        <p:nvSpPr>
          <p:cNvPr id="24" name="Text 22"/>
          <p:cNvSpPr/>
          <p:nvPr/>
        </p:nvSpPr>
        <p:spPr>
          <a:xfrm>
            <a:off x="5303520" y="3072384"/>
            <a:ext cx="3429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90E0EF"/>
                </a:solidFill>
              </a:rPr>
              <a:t>Transactions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4846320" y="3474720"/>
            <a:ext cx="3886200" cy="12070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setAutoCommit(false) to begin transaction</a:t>
            </a:r>
            <a:endParaRPr lang="en-US" sz="11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commit() saves; rollback() undoes changes</a:t>
            </a:r>
            <a:endParaRPr lang="en-US" sz="1100" dirty="0"/>
          </a:p>
          <a:p>
            <a:pPr marL="342900" indent="-342900">
              <a:buSzPct val="100000"/>
              <a:buChar char="•"/>
            </a:pPr>
            <a:r>
              <a:rPr lang="en-US" sz="1100" dirty="0">
                <a:solidFill>
                  <a:srgbClr val="8899AA"/>
                </a:solidFill>
              </a:rPr>
              <a:t>Savepoints allow partial rollbacks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Unit 4: Database Connectivity with JDBC</dc:title>
  <dc:subject>PptxGenJS Presentation</dc:subject>
  <dc:creator>Masters Level Course</dc:creator>
  <cp:lastModifiedBy>Masters Level Course</cp:lastModifiedBy>
  <cp:revision>1</cp:revision>
  <dcterms:created xsi:type="dcterms:W3CDTF">2026-04-05T18:03:43Z</dcterms:created>
  <dcterms:modified xsi:type="dcterms:W3CDTF">2026-04-05T18:03:43Z</dcterms:modified>
</cp:coreProperties>
</file>