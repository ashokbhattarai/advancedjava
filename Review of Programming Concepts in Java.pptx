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75" r:id="rId5"/>
    <p:sldId id="259" r:id="rId6"/>
    <p:sldId id="260" r:id="rId7"/>
    <p:sldId id="261" r:id="rId8"/>
    <p:sldId id="262" r:id="rId9"/>
    <p:sldId id="263" r:id="rId10"/>
    <p:sldId id="271" r:id="rId11"/>
    <p:sldId id="272" r:id="rId12"/>
    <p:sldId id="273" r:id="rId13"/>
    <p:sldId id="274" r:id="rId14"/>
    <p:sldId id="264" r:id="rId15"/>
    <p:sldId id="265" r:id="rId16"/>
    <p:sldId id="266" r:id="rId17"/>
    <p:sldId id="267" r:id="rId18"/>
    <p:sldId id="268" r:id="rId19"/>
    <p:sldId id="276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91" y="-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62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9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0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4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8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8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3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6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3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6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2BD419-585D-43E4-94A5-0E201B1209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4C12D7-E3F4-4B5B-B51D-C9068B7DFEC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10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26E15-C34A-4B58-A367-4C6AFFADD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of Programming Concepts in Java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7DAB1-C473-4AC6-2899-42265D0C4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Ashok </a:t>
            </a:r>
            <a:r>
              <a:rPr lang="en-US" dirty="0" err="1"/>
              <a:t>bhattarai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8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2C7D-7658-F9B7-C45A-F6F93CBD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922DB6-44D7-9E60-6428-48C03FDAA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19" y="1846263"/>
            <a:ext cx="60340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7672-B596-7195-D2F3-ECB20F7E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B5F5-CF3A-270A-78BE-AEA1144ED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Source Code (.java)</a:t>
            </a:r>
          </a:p>
          <a:p>
            <a:r>
              <a:rPr lang="en-US" dirty="0"/>
              <a:t>Java Compiler (</a:t>
            </a:r>
            <a:r>
              <a:rPr lang="en-US" dirty="0" err="1"/>
              <a:t>javac</a:t>
            </a:r>
            <a:r>
              <a:rPr lang="en-US" dirty="0"/>
              <a:t>)</a:t>
            </a:r>
          </a:p>
          <a:p>
            <a:r>
              <a:rPr lang="en-US" dirty="0"/>
              <a:t>Bytecode (.class)</a:t>
            </a:r>
          </a:p>
          <a:p>
            <a:r>
              <a:rPr lang="en-US" dirty="0"/>
              <a:t>JVM executes bytecode</a:t>
            </a:r>
          </a:p>
          <a:p>
            <a:r>
              <a:rPr lang="en-US" dirty="0"/>
              <a:t>Platform Independence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1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3D8C-202D-32B8-41F5-02AE8439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53214C-C79A-4F48-9BCA-001F158BA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255" y="1846263"/>
            <a:ext cx="268181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9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6C4D-CA6F-B788-EA13-EA009927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1A8C-E177-6D2D-AA55-10534B1E8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 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Platform Independent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Multithreaded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Robust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0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6BB2-C4B9-265A-EB32-95CE5F38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vs </a:t>
            </a:r>
            <a:r>
              <a:rPr lang="en-US" dirty="0" err="1"/>
              <a:t>Classpath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540E-3E1D-13E6-805D-4979B9504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PATH: Location of Java tools (</a:t>
            </a:r>
            <a:r>
              <a:rPr lang="en-US" dirty="0" err="1"/>
              <a:t>javac</a:t>
            </a:r>
            <a:r>
              <a:rPr lang="en-US" dirty="0"/>
              <a:t>, java)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CLASSPATH: Location of Java classes and packages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PATH=C:\Java\bin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CLASSPATH=.;C:\Java\lib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3D80-8C75-B86C-BE18-0782C49F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Java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66637-2E8D-FF7A-9E61-5721B4599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class HelloWorld {</a:t>
            </a:r>
          </a:p>
          <a:p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("Hello Masters Class");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9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D975-FE29-8850-9760-54E8D7C6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and Run Java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A764-67F9-9CB9-EEC2-068700AB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Compile:</a:t>
            </a:r>
          </a:p>
          <a:p>
            <a:r>
              <a:rPr lang="en-US" dirty="0" err="1"/>
              <a:t>javac</a:t>
            </a:r>
            <a:r>
              <a:rPr lang="en-US" dirty="0"/>
              <a:t> HelloWorld.java</a:t>
            </a:r>
          </a:p>
          <a:p>
            <a:endParaRPr lang="en-US" dirty="0"/>
          </a:p>
          <a:p>
            <a:r>
              <a:rPr lang="en-US" dirty="0"/>
              <a:t>Run:</a:t>
            </a:r>
          </a:p>
          <a:p>
            <a:r>
              <a:rPr lang="en-US" dirty="0"/>
              <a:t>java HelloWorld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Hello Masters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8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13D6-39D4-41E2-DA8D-73A262A7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For-Each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9A55-8CF4-4330-A6A3-64B11E74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int[] </a:t>
            </a:r>
            <a:r>
              <a:rPr lang="en-US" dirty="0" err="1"/>
              <a:t>nums</a:t>
            </a:r>
            <a:r>
              <a:rPr lang="en-US" dirty="0"/>
              <a:t> = {10,20,30};</a:t>
            </a:r>
          </a:p>
          <a:p>
            <a:r>
              <a:rPr lang="en-US" dirty="0"/>
              <a:t>for(int n : </a:t>
            </a:r>
            <a:r>
              <a:rPr lang="en-US" dirty="0" err="1"/>
              <a:t>nums</a:t>
            </a:r>
            <a:r>
              <a:rPr lang="en-US" dirty="0"/>
              <a:t>){</a:t>
            </a:r>
          </a:p>
          <a:p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(n);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82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93B0-96FD-2B75-C166-61D02F3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EB02-6333-95C1-CE37-B48F0027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in Java is a </a:t>
            </a:r>
            <a:r>
              <a:rPr lang="en-US" b="1" dirty="0"/>
              <a:t>user-defined blueprint used to create objects</a:t>
            </a:r>
            <a:r>
              <a:rPr lang="en-US" dirty="0"/>
              <a:t>. It defines the </a:t>
            </a:r>
            <a:r>
              <a:rPr lang="en-US" b="1" dirty="0"/>
              <a:t>properties (variables)</a:t>
            </a:r>
            <a:r>
              <a:rPr lang="en-US" dirty="0"/>
              <a:t> and </a:t>
            </a:r>
            <a:r>
              <a:rPr lang="en-US" b="1" dirty="0"/>
              <a:t>methods (functions)</a:t>
            </a:r>
            <a:r>
              <a:rPr lang="en-US" dirty="0"/>
              <a:t> that objects of that type will have.</a:t>
            </a:r>
          </a:p>
          <a:p>
            <a:r>
              <a:rPr lang="en-US" b="1" dirty="0"/>
              <a:t>Main parts of a class declaration:</a:t>
            </a:r>
            <a:endParaRPr lang="en-US" dirty="0"/>
          </a:p>
          <a:p>
            <a:r>
              <a:rPr lang="en-US" b="1" dirty="0"/>
              <a:t>Modifier</a:t>
            </a:r>
            <a:r>
              <a:rPr lang="en-US" dirty="0"/>
              <a:t> – Defines access level (e.g., public, default).</a:t>
            </a:r>
          </a:p>
          <a:p>
            <a:r>
              <a:rPr lang="en-US" b="1" dirty="0"/>
              <a:t>class keyword</a:t>
            </a:r>
            <a:r>
              <a:rPr lang="en-US" dirty="0"/>
              <a:t> – Used to declare a class.</a:t>
            </a:r>
          </a:p>
          <a:p>
            <a:r>
              <a:rPr lang="en-US" b="1" dirty="0"/>
              <a:t>Class Name</a:t>
            </a:r>
            <a:r>
              <a:rPr lang="en-US" dirty="0"/>
              <a:t> – Usually starts with a capital letter by convention.</a:t>
            </a:r>
          </a:p>
          <a:p>
            <a:r>
              <a:rPr lang="en-US" b="1" dirty="0"/>
              <a:t>Superclass (optional)</a:t>
            </a:r>
            <a:r>
              <a:rPr lang="en-US" dirty="0"/>
              <a:t> – A class can inherit from </a:t>
            </a:r>
            <a:r>
              <a:rPr lang="en-US" b="1" dirty="0"/>
              <a:t>one parent</a:t>
            </a:r>
            <a:r>
              <a:rPr lang="en-US" dirty="0"/>
              <a:t> using extends.</a:t>
            </a:r>
          </a:p>
          <a:p>
            <a:r>
              <a:rPr lang="en-US" b="1" dirty="0"/>
              <a:t>Interfaces (optional)</a:t>
            </a:r>
            <a:r>
              <a:rPr lang="en-US" dirty="0"/>
              <a:t> – A class can implement </a:t>
            </a:r>
            <a:r>
              <a:rPr lang="en-US" b="1" dirty="0"/>
              <a:t>multiple interfaces</a:t>
            </a:r>
            <a:r>
              <a:rPr lang="en-US" dirty="0"/>
              <a:t> using implements.</a:t>
            </a:r>
          </a:p>
          <a:p>
            <a:r>
              <a:rPr lang="en-US" b="1" dirty="0"/>
              <a:t>Body { }</a:t>
            </a:r>
            <a:r>
              <a:rPr lang="en-US" dirty="0"/>
              <a:t> – Contains variables, methods, and constructors.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8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29FD-C53D-BEC6-7EC7-68373172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B9508-1D5A-E974-7AE4-3763A954A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public class Student extends Person implements Serializable {</a:t>
            </a:r>
          </a:p>
          <a:p>
            <a:endParaRPr lang="en-US" dirty="0"/>
          </a:p>
          <a:p>
            <a:r>
              <a:rPr lang="en-US" dirty="0"/>
              <a:t>    int id;</a:t>
            </a:r>
          </a:p>
          <a:p>
            <a:r>
              <a:rPr lang="en-US" dirty="0"/>
              <a:t>    String name;</a:t>
            </a:r>
          </a:p>
          <a:p>
            <a:endParaRPr lang="en-US" dirty="0"/>
          </a:p>
          <a:p>
            <a:r>
              <a:rPr lang="en-US" dirty="0"/>
              <a:t>    void study()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is studying");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84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78A5-B434-16F8-6E42-E263FFB9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33C4-BDAE-C407-5035-E0A77A448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object</a:t>
            </a:r>
            <a:r>
              <a:rPr lang="en-US" dirty="0"/>
              <a:t> is the </a:t>
            </a:r>
            <a:r>
              <a:rPr lang="en-US" b="1" dirty="0"/>
              <a:t>basic unit of Object-Oriented Programming (OOP)</a:t>
            </a:r>
            <a:r>
              <a:rPr lang="en-US" dirty="0"/>
              <a:t> and represents a </a:t>
            </a:r>
            <a:r>
              <a:rPr lang="en-US" b="1" dirty="0"/>
              <a:t>real-world entity</a:t>
            </a:r>
            <a:r>
              <a:rPr lang="en-US" dirty="0"/>
              <a:t>. In a Java program, many objects are created, and they </a:t>
            </a:r>
            <a:r>
              <a:rPr lang="en-US" b="1" dirty="0"/>
              <a:t>interact with each other by calling methods</a:t>
            </a:r>
            <a:r>
              <a:rPr lang="en-US" dirty="0"/>
              <a:t>.</a:t>
            </a:r>
          </a:p>
          <a:p>
            <a:r>
              <a:rPr lang="en-US" b="1" dirty="0"/>
              <a:t>Key components of an object:</a:t>
            </a:r>
            <a:endParaRPr lang="en-US" dirty="0"/>
          </a:p>
          <a:p>
            <a:r>
              <a:rPr lang="en-US" b="1" dirty="0"/>
              <a:t>State</a:t>
            </a:r>
            <a:r>
              <a:rPr lang="en-US" dirty="0"/>
              <a:t> – The </a:t>
            </a:r>
            <a:r>
              <a:rPr lang="en-US" b="1" dirty="0"/>
              <a:t>attributes (variables)</a:t>
            </a:r>
            <a:r>
              <a:rPr lang="en-US" dirty="0"/>
              <a:t> that describe the object's properties.</a:t>
            </a:r>
          </a:p>
          <a:p>
            <a:r>
              <a:rPr lang="en-US" b="1" dirty="0"/>
              <a:t>Behavior</a:t>
            </a:r>
            <a:r>
              <a:rPr lang="en-US" dirty="0"/>
              <a:t> – The </a:t>
            </a:r>
            <a:r>
              <a:rPr lang="en-US" b="1" dirty="0"/>
              <a:t>methods (functions)</a:t>
            </a:r>
            <a:r>
              <a:rPr lang="en-US" dirty="0"/>
              <a:t> that define what the object can do.</a:t>
            </a:r>
          </a:p>
          <a:p>
            <a:r>
              <a:rPr lang="en-US" b="1" dirty="0"/>
              <a:t>Identity</a:t>
            </a:r>
            <a:r>
              <a:rPr lang="en-US" dirty="0"/>
              <a:t> – A </a:t>
            </a:r>
            <a:r>
              <a:rPr lang="en-US" b="1" dirty="0"/>
              <a:t>unique reference/name</a:t>
            </a:r>
            <a:r>
              <a:rPr lang="en-US" dirty="0"/>
              <a:t> that distinguishes the object from 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49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5523-BEEA-B818-9F94-FC862BBA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9940C6-2728-8895-A28B-09AE358A2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19" y="1846263"/>
            <a:ext cx="60340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3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7DA2-FD5E-4582-E416-77E742FF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B00BB-4A0C-BF08-7976-207ECB57C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Student {</a:t>
            </a:r>
          </a:p>
          <a:p>
            <a:r>
              <a:rPr lang="en-US" dirty="0"/>
              <a:t> String name;</a:t>
            </a:r>
          </a:p>
          <a:p>
            <a:r>
              <a:rPr lang="en-US" dirty="0"/>
              <a:t> int age;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Student s = new Student();</a:t>
            </a:r>
          </a:p>
          <a:p>
            <a:r>
              <a:rPr lang="en-US" dirty="0"/>
              <a:t>s.name = "Ram";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06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78C4-9A7D-BC44-DA39-59D7E4FE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EC0BC-2D07-150A-AEF8-40A3DC257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MathUtil</a:t>
            </a:r>
            <a:r>
              <a:rPr lang="en-US" dirty="0"/>
              <a:t>{</a:t>
            </a:r>
          </a:p>
          <a:p>
            <a:r>
              <a:rPr lang="en-US" dirty="0"/>
              <a:t> int add(int </a:t>
            </a:r>
            <a:r>
              <a:rPr lang="en-US" dirty="0" err="1"/>
              <a:t>a,int</a:t>
            </a:r>
            <a:r>
              <a:rPr lang="en-US" dirty="0"/>
              <a:t> b){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r>
              <a:rPr lang="en-US" dirty="0"/>
              <a:t> double add(double </a:t>
            </a:r>
            <a:r>
              <a:rPr lang="en-US" dirty="0" err="1"/>
              <a:t>a,double</a:t>
            </a:r>
            <a:r>
              <a:rPr lang="en-US" dirty="0"/>
              <a:t> b){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929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2249-9CA0-63AF-97B6-5BFDC31A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and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FD89-C03A-036E-98B3-895CDE66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Animal{ void sound(){</a:t>
            </a:r>
            <a:r>
              <a:rPr lang="en-US" dirty="0" err="1"/>
              <a:t>System.out.println</a:t>
            </a:r>
            <a:r>
              <a:rPr lang="en-US" dirty="0"/>
              <a:t>("Animal sound");}}</a:t>
            </a:r>
          </a:p>
          <a:p>
            <a:r>
              <a:rPr lang="en-US" dirty="0"/>
              <a:t>class Dog extends Animal{</a:t>
            </a:r>
          </a:p>
          <a:p>
            <a:r>
              <a:rPr lang="en-US" dirty="0"/>
              <a:t> void sound(){</a:t>
            </a:r>
            <a:r>
              <a:rPr lang="en-US" dirty="0" err="1"/>
              <a:t>System.out.println</a:t>
            </a:r>
            <a:r>
              <a:rPr lang="en-US" dirty="0"/>
              <a:t>("Bark");}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09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EA7F-D48D-8609-C0FA-A60B69D4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04C0-8422-0BA5-2136-4BA7AD73C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try{</a:t>
            </a:r>
          </a:p>
          <a:p>
            <a:r>
              <a:rPr lang="en-US" dirty="0"/>
              <a:t> int a = 10/0;</a:t>
            </a:r>
          </a:p>
          <a:p>
            <a:r>
              <a:rPr lang="en-US" dirty="0"/>
              <a:t>}catch(Exception e){</a:t>
            </a:r>
          </a:p>
          <a:p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(e);</a:t>
            </a:r>
          </a:p>
          <a:p>
            <a:r>
              <a:rPr lang="en-US" dirty="0"/>
              <a:t>}finally{</a:t>
            </a:r>
          </a:p>
          <a:p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("Done");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10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6EE7-CA2A-4047-D14B-7BEFEB94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AC29-B922-D754-3769-4B9E2B2D9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AgeException</a:t>
            </a:r>
            <a:r>
              <a:rPr lang="en-US" dirty="0"/>
              <a:t> extends Exception{</a:t>
            </a:r>
          </a:p>
          <a:p>
            <a:r>
              <a:rPr lang="en-US" dirty="0"/>
              <a:t> </a:t>
            </a:r>
            <a:r>
              <a:rPr lang="en-US" dirty="0" err="1"/>
              <a:t>AgeException</a:t>
            </a:r>
            <a:r>
              <a:rPr lang="en-US" dirty="0"/>
              <a:t>(String msg){ super(msg);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627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3558-A5C8-C68A-CDC1-3DBD6A25E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9DEB-1B5F-55F0-AA75-4E1BC7E3D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4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662A-0506-CAEA-FB4F-1BFC9C5E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D94C-5B33-307F-1675-D835CD6C0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States: New, Runnable, Running, Waiting, Terminated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Thread t = new Thread();</a:t>
            </a:r>
          </a:p>
          <a:p>
            <a:r>
              <a:rPr lang="en-US" dirty="0" err="1"/>
              <a:t>t.start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21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07B3-5A8A-FCCA-4D39-0B594FFAA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A8A77-1888-026C-89E6-5C341FDC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synchronized void print(){</a:t>
            </a:r>
          </a:p>
          <a:p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("Thread Safe");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766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</TotalTime>
  <Words>611</Words>
  <Application>Microsoft Office PowerPoint</Application>
  <PresentationFormat>Widescreen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Retrospect</vt:lpstr>
      <vt:lpstr>Review of Programming Concepts in Java </vt:lpstr>
      <vt:lpstr>Java Architecture</vt:lpstr>
      <vt:lpstr>Java Architecture</vt:lpstr>
      <vt:lpstr>Java Architecture</vt:lpstr>
      <vt:lpstr>Java Buzzwords</vt:lpstr>
      <vt:lpstr>Path vs Classpath</vt:lpstr>
      <vt:lpstr>Sample Java Program</vt:lpstr>
      <vt:lpstr>Compile and Run Java Program</vt:lpstr>
      <vt:lpstr>Arrays and For-Each Loop</vt:lpstr>
      <vt:lpstr>Class</vt:lpstr>
      <vt:lpstr>Class</vt:lpstr>
      <vt:lpstr>Object</vt:lpstr>
      <vt:lpstr>Example</vt:lpstr>
      <vt:lpstr>Class and Object Example</vt:lpstr>
      <vt:lpstr>Method Overloading</vt:lpstr>
      <vt:lpstr>Inheritance and Overriding</vt:lpstr>
      <vt:lpstr>Exception Handling</vt:lpstr>
      <vt:lpstr>Custom Exception</vt:lpstr>
      <vt:lpstr>PowerPoint Presentation</vt:lpstr>
      <vt:lpstr>Java Concurrency</vt:lpstr>
      <vt:lpstr>Thread Synchronization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4</cp:revision>
  <dcterms:created xsi:type="dcterms:W3CDTF">2026-03-11T16:17:03Z</dcterms:created>
  <dcterms:modified xsi:type="dcterms:W3CDTF">2026-03-11T17:00:08Z</dcterms:modified>
</cp:coreProperties>
</file>