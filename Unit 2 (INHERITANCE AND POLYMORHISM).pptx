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3" r:id="rId4"/>
    <p:sldId id="294" r:id="rId5"/>
    <p:sldId id="295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60" r:id="rId14"/>
    <p:sldId id="291" r:id="rId15"/>
    <p:sldId id="263" r:id="rId16"/>
    <p:sldId id="292" r:id="rId17"/>
    <p:sldId id="261" r:id="rId18"/>
    <p:sldId id="271" r:id="rId19"/>
    <p:sldId id="262" r:id="rId20"/>
    <p:sldId id="273" r:id="rId21"/>
    <p:sldId id="275" r:id="rId22"/>
    <p:sldId id="274" r:id="rId23"/>
    <p:sldId id="264" r:id="rId24"/>
    <p:sldId id="282" r:id="rId25"/>
    <p:sldId id="283" r:id="rId26"/>
    <p:sldId id="265" r:id="rId27"/>
    <p:sldId id="266" r:id="rId28"/>
    <p:sldId id="281" r:id="rId29"/>
    <p:sldId id="267" r:id="rId30"/>
    <p:sldId id="276" r:id="rId31"/>
    <p:sldId id="277" r:id="rId32"/>
    <p:sldId id="278" r:id="rId33"/>
    <p:sldId id="280" r:id="rId34"/>
    <p:sldId id="272" r:id="rId35"/>
    <p:sldId id="279" r:id="rId36"/>
    <p:sldId id="268" r:id="rId37"/>
    <p:sldId id="269" r:id="rId38"/>
    <p:sldId id="27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4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29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5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96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10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0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9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6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6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6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9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4A6456-C695-4F92-8973-D6B4617775F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C389E0-DAA0-409C-85C4-BB527BADAB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51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INHERITANCE AND POLYMORHISM</a:t>
            </a:r>
          </a:p>
        </p:txBody>
      </p:sp>
    </p:spTree>
    <p:extLst>
      <p:ext uri="{BB962C8B-B14F-4D97-AF65-F5344CB8AC3E}">
        <p14:creationId xmlns:p14="http://schemas.microsoft.com/office/powerpoint/2010/main" val="216676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class, sub class, inheritance and member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70000"/>
              </a:spcBef>
            </a:pPr>
            <a:r>
              <a:rPr lang="en-US" i="1" dirty="0"/>
              <a:t>Inheritance</a:t>
            </a:r>
            <a:r>
              <a:rPr lang="en-US" dirty="0"/>
              <a:t> allows a software developer to derive a new class from an existing one</a:t>
            </a:r>
          </a:p>
          <a:p>
            <a:pPr>
              <a:spcBef>
                <a:spcPct val="70000"/>
              </a:spcBef>
            </a:pPr>
            <a:r>
              <a:rPr lang="en-US" dirty="0"/>
              <a:t>The existing class is called the </a:t>
            </a:r>
            <a:r>
              <a:rPr lang="en-US" i="1" dirty="0"/>
              <a:t>parent class,</a:t>
            </a:r>
            <a:r>
              <a:rPr lang="en-US" dirty="0"/>
              <a:t> or </a:t>
            </a:r>
            <a:r>
              <a:rPr lang="en-US" i="1" dirty="0"/>
              <a:t>superclass</a:t>
            </a:r>
            <a:r>
              <a:rPr lang="en-US" dirty="0"/>
              <a:t>, or </a:t>
            </a:r>
            <a:r>
              <a:rPr lang="en-US" i="1" dirty="0"/>
              <a:t>base class</a:t>
            </a:r>
          </a:p>
          <a:p>
            <a:pPr>
              <a:spcBef>
                <a:spcPct val="70000"/>
              </a:spcBef>
            </a:pPr>
            <a:r>
              <a:rPr lang="en-US" dirty="0"/>
              <a:t>The derived class is called the </a:t>
            </a:r>
            <a:r>
              <a:rPr lang="en-US" i="1" dirty="0"/>
              <a:t>child class</a:t>
            </a:r>
            <a:r>
              <a:rPr lang="en-US" dirty="0"/>
              <a:t> or </a:t>
            </a:r>
            <a:r>
              <a:rPr lang="en-US" i="1" dirty="0"/>
              <a:t>subclass</a:t>
            </a:r>
            <a:r>
              <a:rPr lang="en-US" dirty="0"/>
              <a:t>.</a:t>
            </a:r>
          </a:p>
          <a:p>
            <a:pPr>
              <a:spcBef>
                <a:spcPct val="70000"/>
              </a:spcBef>
            </a:pPr>
            <a:r>
              <a:rPr lang="en-US" dirty="0"/>
              <a:t>As the name implies, the child inherits characteristics of the parent</a:t>
            </a:r>
          </a:p>
          <a:p>
            <a:pPr>
              <a:spcBef>
                <a:spcPct val="70000"/>
              </a:spcBef>
            </a:pPr>
            <a:r>
              <a:rPr lang="en-US" dirty="0"/>
              <a:t>That is, the child class inherits the methods and data defined for the parent class</a:t>
            </a:r>
          </a:p>
        </p:txBody>
      </p:sp>
    </p:spTree>
    <p:extLst>
      <p:ext uri="{BB962C8B-B14F-4D97-AF65-F5344CB8AC3E}">
        <p14:creationId xmlns:p14="http://schemas.microsoft.com/office/powerpoint/2010/main" val="322026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003"/>
            <a:ext cx="5210902" cy="61947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68" y="219105"/>
            <a:ext cx="5865283" cy="428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5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30" y="360609"/>
            <a:ext cx="9195515" cy="6156102"/>
          </a:xfrm>
        </p:spPr>
      </p:pic>
    </p:spTree>
    <p:extLst>
      <p:ext uri="{BB962C8B-B14F-4D97-AF65-F5344CB8AC3E}">
        <p14:creationId xmlns:p14="http://schemas.microsoft.com/office/powerpoint/2010/main" val="21609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6" y="399245"/>
            <a:ext cx="8615967" cy="6130344"/>
          </a:xfrm>
        </p:spPr>
      </p:pic>
    </p:spTree>
    <p:extLst>
      <p:ext uri="{BB962C8B-B14F-4D97-AF65-F5344CB8AC3E}">
        <p14:creationId xmlns:p14="http://schemas.microsoft.com/office/powerpoint/2010/main" val="43583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Types of Inheritance</a:t>
            </a:r>
            <a:br>
              <a:rPr lang="en-US" b="1"/>
            </a:br>
            <a:endParaRPr lang="en-US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Single Inheritance:</a:t>
            </a:r>
          </a:p>
          <a:p>
            <a:endParaRPr lang="en-US" b="1"/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1D4147E-04DE-4595-9EB8-CA5F2CD5FEF5}" type="slidenum">
              <a:rPr lang="en-US" sz="1400"/>
              <a:pPr/>
              <a:t>6</a:t>
            </a:fld>
            <a:endParaRPr lang="en-US" sz="1400"/>
          </a:p>
        </p:txBody>
      </p:sp>
      <p:pic>
        <p:nvPicPr>
          <p:cNvPr id="512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819400"/>
            <a:ext cx="24765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5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2209800" y="533400"/>
            <a:ext cx="8153400" cy="4114800"/>
          </a:xfrm>
        </p:spPr>
        <p:txBody>
          <a:bodyPr/>
          <a:lstStyle/>
          <a:p>
            <a:r>
              <a:rPr lang="en-US" b="1"/>
              <a:t>Multiple Inheritance: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B3C52DA-4BF4-4221-B3E0-A3E6D765D401}" type="slidenum">
              <a:rPr lang="en-US" sz="1400"/>
              <a:pPr/>
              <a:t>7</a:t>
            </a:fld>
            <a:endParaRPr lang="en-US" sz="1400"/>
          </a:p>
        </p:txBody>
      </p:sp>
      <p:pic>
        <p:nvPicPr>
          <p:cNvPr id="614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905000"/>
            <a:ext cx="62865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23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xfrm>
            <a:off x="2362200" y="685800"/>
            <a:ext cx="8153400" cy="4114800"/>
          </a:xfrm>
        </p:spPr>
        <p:txBody>
          <a:bodyPr/>
          <a:lstStyle/>
          <a:p>
            <a:r>
              <a:rPr lang="en-US" b="1"/>
              <a:t>Multilevel Inheritance: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9953EDC-7C05-494D-9B22-2AF1881C853B}" type="slidenum">
              <a:rPr lang="en-US" sz="1400"/>
              <a:pPr/>
              <a:t>8</a:t>
            </a:fld>
            <a:endParaRPr lang="en-US" sz="1400"/>
          </a:p>
        </p:txBody>
      </p:sp>
      <p:pic>
        <p:nvPicPr>
          <p:cNvPr id="717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0"/>
            <a:ext cx="2476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43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2133600" y="762000"/>
            <a:ext cx="8153400" cy="4114800"/>
          </a:xfrm>
        </p:spPr>
        <p:txBody>
          <a:bodyPr/>
          <a:lstStyle/>
          <a:p>
            <a:r>
              <a:rPr lang="en-US" b="1"/>
              <a:t>Hierarchical Inheritance: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BE2D474-DEFA-4981-A6DC-FD01C9DBC590}" type="slidenum">
              <a:rPr lang="en-US" sz="1400"/>
              <a:pPr/>
              <a:t>9</a:t>
            </a:fld>
            <a:endParaRPr lang="en-US" sz="1400"/>
          </a:p>
        </p:txBody>
      </p:sp>
      <p:pic>
        <p:nvPicPr>
          <p:cNvPr id="819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809750"/>
            <a:ext cx="78105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8191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2209800" y="685800"/>
            <a:ext cx="8153400" cy="4114800"/>
          </a:xfrm>
        </p:spPr>
        <p:txBody>
          <a:bodyPr/>
          <a:lstStyle/>
          <a:p>
            <a:r>
              <a:rPr lang="en-US" b="1"/>
              <a:t>Hybrid Inheritance: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5523D02-D91B-4E54-B258-2A975A6B844D}" type="slidenum">
              <a:rPr lang="en-US" sz="1400"/>
              <a:pPr/>
              <a:t>10</a:t>
            </a:fld>
            <a:endParaRPr lang="en-US" sz="1400"/>
          </a:p>
        </p:txBody>
      </p:sp>
      <p:pic>
        <p:nvPicPr>
          <p:cNvPr id="9220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143000"/>
            <a:ext cx="8191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07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Shared Functionality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9BECEE-2AA4-4A89-83CB-50F41FCC8E60}" type="slidenum">
              <a:rPr lang="en-US" sz="14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sz="14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09800" y="1752600"/>
            <a:ext cx="4191000" cy="44005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public class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Student {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name;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</a:rPr>
              <a:t>char 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gender;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dirty="0">
                <a:latin typeface="Courier New" panose="02070309020205020404" pitchFamily="49" charset="0"/>
              </a:rPr>
              <a:t>Date 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birthday;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Vector&lt;Grade&gt; grades;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</a:rPr>
              <a:t>double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getGPA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defRPr/>
            </a:pP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rgbClr val="3333CC"/>
                </a:solidFill>
                <a:latin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3333CC"/>
                </a:solidFill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getAge</a:t>
            </a: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(Date today) {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}    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477000" y="1752600"/>
            <a:ext cx="4191000" cy="44005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 class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Professor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String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name;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char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gender;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Date birthday;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Vector&lt;Paper&gt; papers;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int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getCiteCount()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int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getAge(Date today)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… 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}    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361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99"/>
              </a:buClr>
              <a:buFont typeface="Wingdings" panose="05000000000000000000" pitchFamily="2" charset="2"/>
              <a:buChar char="s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268C30-D4AE-4BF5-860E-6AF70AF0443E}" type="slidenum">
              <a:rPr lang="en-US" sz="14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sz="14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191000" y="228601"/>
            <a:ext cx="4191000" cy="28622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 class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Person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String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name;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char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gender;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latin typeface="Courier New" panose="02070309020205020404" pitchFamily="49" charset="0"/>
              </a:rPr>
              <a:t>Date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birthday;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int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getAge(Date today)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}    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209800" y="3505201"/>
            <a:ext cx="4191000" cy="28622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 class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Student                    	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extends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Person {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Vector&lt;Grade&gt; grades;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double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getGPA()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477000" y="3505201"/>
            <a:ext cx="4191000" cy="28622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>
                <a:solidFill>
                  <a:schemeClr val="accent2"/>
                </a:solidFill>
                <a:latin typeface="Courier New" panose="02070309020205020404" pitchFamily="49" charset="0"/>
              </a:rPr>
              <a:t>public class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Professor 	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extends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Person {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Vector&lt;Paper&gt; papers;</a:t>
            </a:r>
          </a:p>
          <a:p>
            <a:pPr eaLnBrk="1" hangingPunct="1">
              <a:defRPr/>
            </a:pPr>
            <a:endParaRPr lang="en-US" sz="200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>
                <a:solidFill>
                  <a:srgbClr val="3333CC"/>
                </a:solidFill>
                <a:latin typeface="Courier New" panose="02070309020205020404" pitchFamily="49" charset="0"/>
              </a:rPr>
              <a:t>int </a:t>
            </a: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getCiteCount() {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defRPr/>
            </a:pPr>
            <a:r>
              <a:rPr lang="en-US" sz="200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6296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Overriding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When a method in a subclass has the same name and type signature  as  a method in its superclass , then the method in a subclass is said to override the method the method in the superclass.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When an overridden method is called from within a subclass, it will always refer to the version of that method defined by the subclass.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version of the method defined  by the superclass will be hidden.</a:t>
            </a:r>
          </a:p>
        </p:txBody>
      </p:sp>
    </p:spTree>
    <p:extLst>
      <p:ext uri="{BB962C8B-B14F-4D97-AF65-F5344CB8AC3E}">
        <p14:creationId xmlns:p14="http://schemas.microsoft.com/office/powerpoint/2010/main" val="3038084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7" y="372477"/>
            <a:ext cx="5324343" cy="292226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06" y="3495739"/>
            <a:ext cx="5325218" cy="29486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350" y="1364343"/>
            <a:ext cx="5746650" cy="402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6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classes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prevent a class from being inherited, precede the class declaration with final. </a:t>
            </a:r>
          </a:p>
          <a:p>
            <a:pPr marL="0" indent="0">
              <a:buNone/>
            </a:pPr>
            <a:r>
              <a:rPr lang="en-US" dirty="0"/>
              <a:t>final class A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//……..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//the following class is illegal</a:t>
            </a:r>
          </a:p>
          <a:p>
            <a:pPr marL="0" indent="0">
              <a:buNone/>
            </a:pPr>
            <a:r>
              <a:rPr lang="en-US" dirty="0"/>
              <a:t>Class B extends A {   //ERROR! </a:t>
            </a:r>
            <a:r>
              <a:rPr lang="en-US" dirty="0" err="1"/>
              <a:t>Cant’t</a:t>
            </a:r>
            <a:r>
              <a:rPr lang="en-US" dirty="0"/>
              <a:t> subclass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22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7618"/>
          </a:xfrm>
        </p:spPr>
        <p:txBody>
          <a:bodyPr/>
          <a:lstStyle/>
          <a:p>
            <a:r>
              <a:rPr lang="en-US" dirty="0"/>
              <a:t>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9486"/>
            <a:ext cx="10515600" cy="4667477"/>
          </a:xfrm>
        </p:spPr>
        <p:txBody>
          <a:bodyPr>
            <a:normAutofit fontScale="55000" lnSpcReduction="20000"/>
          </a:bodyPr>
          <a:lstStyle/>
          <a:p>
            <a:r>
              <a:rPr lang="en-US" sz="2400" b="1" dirty="0"/>
              <a:t>To prevent a method  from being overridden, precede the method declaration with final.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Class A{</a:t>
            </a:r>
          </a:p>
          <a:p>
            <a:pPr marL="0" indent="0">
              <a:buNone/>
            </a:pPr>
            <a:r>
              <a:rPr lang="en-US" sz="2000" dirty="0" err="1"/>
              <a:t>inal</a:t>
            </a:r>
            <a:r>
              <a:rPr lang="en-US" sz="2000" dirty="0"/>
              <a:t> void method()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System.out.println(“This is a final method”);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Class B extends A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Void method() //Error! Can’t override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System.out.println(“Illegal !”);</a:t>
            </a:r>
          </a:p>
          <a:p>
            <a:pPr marL="0" indent="0">
              <a:buNone/>
            </a:pPr>
            <a:r>
              <a:rPr lang="en-US" sz="20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372436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The Object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 class</a:t>
            </a:r>
            <a:r>
              <a:rPr lang="en-US" dirty="0"/>
              <a:t> is the parent class of all the classes in java by default</a:t>
            </a:r>
          </a:p>
          <a:p>
            <a:r>
              <a:rPr lang="en-US" dirty="0"/>
              <a:t>topmost class of java</a:t>
            </a:r>
          </a:p>
          <a:p>
            <a:r>
              <a:rPr lang="en-US" b="1" dirty="0"/>
              <a:t>Object</a:t>
            </a:r>
            <a:r>
              <a:rPr lang="en-US" dirty="0"/>
              <a:t> class is present in </a:t>
            </a:r>
            <a:r>
              <a:rPr lang="en-US" b="1" dirty="0" err="1"/>
              <a:t>java.lang</a:t>
            </a:r>
            <a:r>
              <a:rPr lang="en-US" dirty="0"/>
              <a:t> package</a:t>
            </a:r>
          </a:p>
          <a:p>
            <a:r>
              <a:rPr lang="en-US" dirty="0"/>
              <a:t>Every class in Java is directly or indirectly derived from the </a:t>
            </a:r>
            <a:r>
              <a:rPr lang="en-US" b="1" dirty="0"/>
              <a:t>Object</a:t>
            </a:r>
            <a:r>
              <a:rPr lang="en-US" dirty="0"/>
              <a:t> class</a:t>
            </a:r>
          </a:p>
          <a:p>
            <a:r>
              <a:rPr lang="en-US" dirty="0"/>
              <a:t>If a Class does not extend any other class then it is direct child class of </a:t>
            </a:r>
            <a:r>
              <a:rPr lang="en-US" b="1" dirty="0"/>
              <a:t>Object</a:t>
            </a:r>
            <a:r>
              <a:rPr lang="en-US" dirty="0"/>
              <a:t> and if extends other class then it is an indirectly derived. </a:t>
            </a:r>
          </a:p>
          <a:p>
            <a:r>
              <a:rPr lang="en-US" dirty="0"/>
              <a:t>Therefore the Object class methods are available to all Java classes. </a:t>
            </a:r>
          </a:p>
          <a:p>
            <a:r>
              <a:rPr lang="en-US" dirty="0"/>
              <a:t>Hence Object class acts as a root of inheritance hierarchy in any Java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998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14" y="-128361"/>
            <a:ext cx="10515600" cy="1325563"/>
          </a:xfrm>
        </p:spPr>
        <p:txBody>
          <a:bodyPr/>
          <a:lstStyle/>
          <a:p>
            <a:r>
              <a:rPr lang="en-US" dirty="0"/>
              <a:t>Methods of Object class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957337"/>
              </p:ext>
            </p:extLst>
          </p:nvPr>
        </p:nvGraphicFramePr>
        <p:xfrm>
          <a:off x="243114" y="798287"/>
          <a:ext cx="9898742" cy="6101053"/>
        </p:xfrm>
        <a:graphic>
          <a:graphicData uri="http://schemas.openxmlformats.org/drawingml/2006/table">
            <a:tbl>
              <a:tblPr/>
              <a:tblGrid>
                <a:gridCol w="514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5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48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44281" marR="44281" marT="44281" marB="44281">
                    <a:lnL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4281" marR="44281" marT="44281" marB="44281">
                    <a:lnL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69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40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Class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getClass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returns the Class class object of this object. The Class class can further be used to get the metadata of this class.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5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int hashCode()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returns the hashcode number for this object.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5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boolean equals(Object obj)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compares the given object to this object.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protected Object clone() throws CloneNotSupportedException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creates and returns the exact copy (clone) of this object.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35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String toString()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returns the string representation of this object.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2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void notify()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wakes up single thread, waiting on this object's monitor.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2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void notifyAll()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wakes up all the threads, waiting on this object's monitor.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815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void wait(long timeout)throws InterruptedException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causes the current thread to wait for the specified milliseconds, until another thread notifies (invokes notify() or notifyAll() method).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815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void wait(long timeout,int nanos)throws InterruptedException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causes the current thread to wait for the specified milliseconds and nanoseconds, until another thread notifies (invokes notify() or notifyAll() method).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75408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public final void wait()throws Interrupted Exception</a:t>
                      </a:r>
                    </a:p>
                    <a:p>
                      <a:pPr algn="l" fontAlgn="t"/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causes the current thread to wait, until another thread notifies (invokes notify() or notifyAll() method).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928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protected void finalize()throws Throwable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is invoked by the garbage collector before object is being garbage collected.</a:t>
                      </a:r>
                    </a:p>
                  </a:txBody>
                  <a:tcPr marL="29521" marR="29521" marT="29521" marB="29521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934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Object Cloning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9543"/>
            <a:ext cx="12192000" cy="51174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object cloning</a:t>
            </a:r>
            <a:r>
              <a:rPr lang="en-US" dirty="0"/>
              <a:t> is a way to create exact copy of an object.</a:t>
            </a:r>
          </a:p>
          <a:p>
            <a:r>
              <a:rPr lang="en-US" dirty="0"/>
              <a:t>clone() method of Object class is used </a:t>
            </a:r>
          </a:p>
          <a:p>
            <a:r>
              <a:rPr lang="en-US" b="1" dirty="0"/>
              <a:t>java.lang.Cloneable interface</a:t>
            </a:r>
            <a:r>
              <a:rPr lang="en-US" dirty="0"/>
              <a:t> must be implemented by the class whose object clone we want to create. If we don't implement Cloneable interface, clone() method generates </a:t>
            </a:r>
            <a:r>
              <a:rPr lang="en-US" b="1" dirty="0"/>
              <a:t>CloneNotSupportedException</a:t>
            </a:r>
            <a:r>
              <a:rPr lang="en-US" dirty="0"/>
              <a:t>.</a:t>
            </a:r>
          </a:p>
          <a:p>
            <a:r>
              <a:rPr lang="en-US" dirty="0"/>
              <a:t>The </a:t>
            </a:r>
            <a:r>
              <a:rPr lang="en-US" b="1" dirty="0"/>
              <a:t>clone() method</a:t>
            </a:r>
            <a:r>
              <a:rPr lang="en-US" dirty="0"/>
              <a:t> is defined in the Object class. Syntax of the clone() method is as follows: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3600" b="1" dirty="0"/>
              <a:t>protected Object clone() throws CloneNotSupportedException</a:t>
            </a:r>
          </a:p>
        </p:txBody>
      </p:sp>
    </p:spTree>
    <p:extLst>
      <p:ext uri="{BB962C8B-B14F-4D97-AF65-F5344CB8AC3E}">
        <p14:creationId xmlns:p14="http://schemas.microsoft.com/office/powerpoint/2010/main" val="3372273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3829"/>
            <a:ext cx="10515600" cy="6328228"/>
          </a:xfrm>
        </p:spPr>
        <p:txBody>
          <a:bodyPr>
            <a:normAutofit/>
          </a:bodyPr>
          <a:lstStyle/>
          <a:p>
            <a:r>
              <a:rPr lang="en-US" dirty="0"/>
              <a:t>Three types of Copying object:</a:t>
            </a:r>
          </a:p>
          <a:p>
            <a:endParaRPr lang="en-US" dirty="0"/>
          </a:p>
          <a:p>
            <a:pPr lvl="1"/>
            <a:r>
              <a:rPr lang="en-US" dirty="0"/>
              <a:t>Shallow copy</a:t>
            </a:r>
          </a:p>
          <a:p>
            <a:pPr marL="914400" lvl="2" indent="0">
              <a:buNone/>
            </a:pPr>
            <a:r>
              <a:rPr lang="en-US" dirty="0"/>
              <a:t>        Point p</a:t>
            </a:r>
            <a:r>
              <a:rPr lang="en-US" baseline="-25000" dirty="0"/>
              <a:t>0</a:t>
            </a:r>
            <a:r>
              <a:rPr lang="en-US" dirty="0"/>
              <a:t> = new Point(10,20);</a:t>
            </a:r>
          </a:p>
          <a:p>
            <a:pPr marL="914400" lvl="2" indent="0">
              <a:buNone/>
            </a:pPr>
            <a:r>
              <a:rPr lang="en-US" dirty="0"/>
              <a:t>        Point p</a:t>
            </a:r>
            <a:r>
              <a:rPr lang="en-US" baseline="-25000" dirty="0"/>
              <a:t>1</a:t>
            </a:r>
            <a:r>
              <a:rPr lang="en-US" dirty="0"/>
              <a:t> = p</a:t>
            </a:r>
            <a:r>
              <a:rPr lang="en-US" baseline="-25000" dirty="0"/>
              <a:t>0</a:t>
            </a:r>
            <a:r>
              <a:rPr lang="en-US" dirty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Deep copy</a:t>
            </a:r>
          </a:p>
          <a:p>
            <a:pPr marL="914400" lvl="2" indent="0">
              <a:buNone/>
            </a:pPr>
            <a:r>
              <a:rPr lang="en-US" dirty="0"/>
              <a:t>Point p</a:t>
            </a:r>
            <a:r>
              <a:rPr lang="en-US" baseline="-25000" dirty="0"/>
              <a:t>0</a:t>
            </a:r>
            <a:r>
              <a:rPr lang="en-US" dirty="0"/>
              <a:t> = new Point(10,20);</a:t>
            </a:r>
          </a:p>
          <a:p>
            <a:pPr marL="914400" lvl="2" indent="0">
              <a:buNone/>
            </a:pPr>
            <a:r>
              <a:rPr lang="en-US" dirty="0"/>
              <a:t>Point p</a:t>
            </a:r>
            <a:r>
              <a:rPr lang="en-US" baseline="-25000" dirty="0"/>
              <a:t>1</a:t>
            </a:r>
            <a:r>
              <a:rPr lang="en-US" dirty="0"/>
              <a:t> = new Point()</a:t>
            </a:r>
          </a:p>
          <a:p>
            <a:pPr marL="914400" lvl="2" indent="0">
              <a:buNone/>
            </a:pPr>
            <a:r>
              <a:rPr lang="en-US" dirty="0"/>
              <a:t>p</a:t>
            </a:r>
            <a:r>
              <a:rPr lang="en-US" baseline="-25000" dirty="0"/>
              <a:t>1.</a:t>
            </a:r>
            <a:r>
              <a:rPr lang="en-US" dirty="0"/>
              <a:t>.x = 10;</a:t>
            </a:r>
          </a:p>
          <a:p>
            <a:pPr marL="914400" lvl="2" indent="0">
              <a:buNone/>
            </a:pPr>
            <a:r>
              <a:rPr lang="en-US" dirty="0"/>
              <a:t>p</a:t>
            </a:r>
            <a:r>
              <a:rPr lang="en-US" baseline="-25000" dirty="0"/>
              <a:t>1.</a:t>
            </a:r>
            <a:r>
              <a:rPr lang="en-US" dirty="0"/>
              <a:t>.y = 20;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871" y="333829"/>
            <a:ext cx="2487100" cy="28012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515" y="333828"/>
            <a:ext cx="2257740" cy="28012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125" y="3541069"/>
            <a:ext cx="2476846" cy="27150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765" y="3562413"/>
            <a:ext cx="2180490" cy="26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36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4657" y="940253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Cloning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00" y="1893238"/>
            <a:ext cx="3520313" cy="4522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971" y="1893239"/>
            <a:ext cx="3077029" cy="45220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858" y="1893237"/>
            <a:ext cx="2674257" cy="30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34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78882"/>
            <a:ext cx="5696671" cy="403986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858" y="217714"/>
            <a:ext cx="517279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 class that is declared with the reserved word </a:t>
            </a:r>
            <a:r>
              <a:rPr lang="en-US" sz="2400" b="1" dirty="0">
                <a:latin typeface="Courier New" panose="02070309020205020404" pitchFamily="49" charset="0"/>
                <a:cs typeface="Times New Roman" panose="02020603050405020304" pitchFamily="18" charset="0"/>
              </a:rPr>
              <a:t>abstract</a:t>
            </a:r>
            <a:r>
              <a:rPr lang="en-US" sz="2400" dirty="0">
                <a:cs typeface="Times New Roman" panose="02020603050405020304" pitchFamily="18" charset="0"/>
              </a:rPr>
              <a:t> in its heading</a:t>
            </a:r>
          </a:p>
          <a:p>
            <a:r>
              <a:rPr lang="en-US" sz="2400" dirty="0"/>
              <a:t>An abstract class can contain instance variables, constructors, finalizers, and non-abstract methods</a:t>
            </a:r>
          </a:p>
          <a:p>
            <a:r>
              <a:rPr lang="en-US" sz="2400" dirty="0"/>
              <a:t>An abstract class can contain abstract methods</a:t>
            </a:r>
          </a:p>
          <a:p>
            <a:r>
              <a:rPr lang="en-US" sz="2400" dirty="0"/>
              <a:t>If a class contains an abstract method, the class must be declared abstract</a:t>
            </a:r>
          </a:p>
          <a:p>
            <a:r>
              <a:rPr lang="en-US" sz="2400" dirty="0"/>
              <a:t> cannot instantiate an object of an abstract class type; can only declare a reference variable of an abstract class type</a:t>
            </a:r>
          </a:p>
          <a:p>
            <a:r>
              <a:rPr lang="en-US" sz="2400" dirty="0"/>
              <a:t> can instantiate an object of a subclass of an abstract class, but only if the subclass gives the definitions of </a:t>
            </a:r>
            <a:r>
              <a:rPr lang="en-US" sz="2400" i="1" dirty="0"/>
              <a:t>all</a:t>
            </a:r>
            <a:r>
              <a:rPr lang="en-US" sz="2400" dirty="0"/>
              <a:t> the abstract methods of the superclass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124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A method that has only the heading with no body</a:t>
            </a:r>
          </a:p>
          <a:p>
            <a:r>
              <a:rPr lang="en-US" dirty="0">
                <a:cs typeface="Times New Roman" panose="02020603050405020304" pitchFamily="18" charset="0"/>
              </a:rPr>
              <a:t>Must be implemented in a subclass</a:t>
            </a:r>
          </a:p>
          <a:p>
            <a:r>
              <a:rPr lang="en-US" dirty="0">
                <a:cs typeface="Times New Roman" panose="02020603050405020304" pitchFamily="18" charset="0"/>
              </a:rPr>
              <a:t>Must be declared abstract</a:t>
            </a:r>
          </a:p>
          <a:p>
            <a:pPr lvl="1">
              <a:buNone/>
            </a:pPr>
            <a:endParaRPr lang="en-US" sz="1000" dirty="0"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sz="2200" dirty="0">
                <a:latin typeface="Courier New" panose="02070309020205020404" pitchFamily="49" charset="0"/>
              </a:rPr>
              <a:t>public double abstract area();</a:t>
            </a:r>
          </a:p>
          <a:p>
            <a:pPr lvl="1">
              <a:buNone/>
            </a:pPr>
            <a:r>
              <a:rPr lang="en-US" sz="2200" dirty="0">
                <a:latin typeface="Courier New" panose="02070309020205020404" pitchFamily="49" charset="0"/>
              </a:rPr>
              <a:t>public void abstract print();</a:t>
            </a:r>
          </a:p>
          <a:p>
            <a:pPr lvl="1">
              <a:buNone/>
            </a:pPr>
            <a:r>
              <a:rPr lang="en-US" sz="2200" dirty="0">
                <a:latin typeface="Courier New" panose="02070309020205020404" pitchFamily="49" charset="0"/>
              </a:rPr>
              <a:t>public abstract object larger(object , object);</a:t>
            </a:r>
          </a:p>
          <a:p>
            <a:pPr lvl="1">
              <a:buNone/>
            </a:pPr>
            <a:r>
              <a:rPr lang="en-US" sz="2200" dirty="0">
                <a:latin typeface="Courier New" panose="02070309020205020404" pitchFamily="49" charset="0"/>
              </a:rPr>
              <a:t>void abstract insert(int insert_Item);</a:t>
            </a:r>
            <a:endParaRPr lang="en-US" sz="22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857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286"/>
            <a:ext cx="11136086" cy="537867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public abstract class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AbstractClassExample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protected int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x;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public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AbstractClassExample()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    x = 0;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public void abstract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print();</a:t>
            </a:r>
          </a:p>
          <a:p>
            <a:pPr>
              <a:lnSpc>
                <a:spcPct val="80000"/>
              </a:lnSpc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public void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set_X(int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</a:rPr>
              <a:t>a)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{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     x = a;</a:t>
            </a: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5073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Creating and using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that contains only abstract methods and/or named constants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Java implements multiple inheritance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able to handle a variety of events, Java allows a class to implement more than one interface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contain any concrete methods (methods that have code). All the methods of an interface are abstract methods.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cannot be instantiated. However, classes that implement interfaces can be instantiated. Interfaces never contain instance variables but, they can contain public static final variables (i.e., constant class variables)</a:t>
            </a:r>
          </a:p>
        </p:txBody>
      </p:sp>
    </p:spTree>
    <p:extLst>
      <p:ext uri="{BB962C8B-B14F-4D97-AF65-F5344CB8AC3E}">
        <p14:creationId xmlns:p14="http://schemas.microsoft.com/office/powerpoint/2010/main" val="662775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714" y="0"/>
            <a:ext cx="10515600" cy="1325563"/>
          </a:xfrm>
        </p:spPr>
        <p:txBody>
          <a:bodyPr/>
          <a:lstStyle/>
          <a:p>
            <a:pPr lvl="0"/>
            <a:r>
              <a:rPr lang="en-US" b="1" dirty="0"/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43" y="1690688"/>
            <a:ext cx="10515600" cy="48271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Method Overloading is a feature that allows a class to have more than one method having the same name, if their argument lists are different.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It is similar to </a:t>
            </a:r>
            <a:r>
              <a:rPr lang="en-US" b="1" dirty="0"/>
              <a:t>constructor overloading</a:t>
            </a:r>
            <a:r>
              <a:rPr lang="en-US" dirty="0"/>
              <a:t> in Java, that allows a class to have more than one constructor having different argument lists.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For example the argument list of a method add(int a, int b) having two parameters is different from the argument list of the method add(int a, int b, int c) having three parameters.</a:t>
            </a:r>
          </a:p>
        </p:txBody>
      </p:sp>
    </p:spTree>
    <p:extLst>
      <p:ext uri="{BB962C8B-B14F-4D97-AF65-F5344CB8AC3E}">
        <p14:creationId xmlns:p14="http://schemas.microsoft.com/office/powerpoint/2010/main" val="548145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Three ways to overload a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overload a method, the argument lists of the methods must differ in either of these:</a:t>
            </a:r>
          </a:p>
          <a:p>
            <a:pPr lvl="1"/>
            <a:r>
              <a:rPr lang="en-US" dirty="0"/>
              <a:t>Number of parameters.</a:t>
            </a:r>
          </a:p>
          <a:p>
            <a:pPr lvl="2"/>
            <a:r>
              <a:rPr lang="en-US" dirty="0"/>
              <a:t>add(int, int)</a:t>
            </a:r>
          </a:p>
          <a:p>
            <a:pPr lvl="2"/>
            <a:r>
              <a:rPr lang="en-US" dirty="0"/>
              <a:t>add(int , int , int)</a:t>
            </a:r>
          </a:p>
          <a:p>
            <a:pPr lvl="1"/>
            <a:r>
              <a:rPr lang="en-US" dirty="0"/>
              <a:t>Data type of parameters</a:t>
            </a:r>
          </a:p>
          <a:p>
            <a:pPr lvl="2"/>
            <a:r>
              <a:rPr lang="en-US" dirty="0"/>
              <a:t>add(int , int)</a:t>
            </a:r>
          </a:p>
          <a:p>
            <a:pPr lvl="2"/>
            <a:r>
              <a:rPr lang="en-US" dirty="0"/>
              <a:t>add(int , float)</a:t>
            </a:r>
          </a:p>
          <a:p>
            <a:pPr lvl="1"/>
            <a:r>
              <a:rPr lang="en-US" dirty="0"/>
              <a:t>Sequence of Data type of parameters.</a:t>
            </a:r>
          </a:p>
          <a:p>
            <a:pPr lvl="2"/>
            <a:r>
              <a:rPr lang="en-US" dirty="0"/>
              <a:t>add(int , float)</a:t>
            </a:r>
          </a:p>
          <a:p>
            <a:pPr lvl="2"/>
            <a:r>
              <a:rPr lang="en-US" dirty="0"/>
              <a:t>add(float , int)</a:t>
            </a:r>
          </a:p>
        </p:txBody>
      </p:sp>
    </p:spTree>
    <p:extLst>
      <p:ext uri="{BB962C8B-B14F-4D97-AF65-F5344CB8AC3E}">
        <p14:creationId xmlns:p14="http://schemas.microsoft.com/office/powerpoint/2010/main" val="3244690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Upcasting and downcasting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Upcasting</a:t>
            </a:r>
          </a:p>
          <a:p>
            <a:pPr lvl="1"/>
            <a:r>
              <a:rPr lang="en-US" dirty="0"/>
              <a:t>Upcasting is the typecasting </a:t>
            </a:r>
            <a:r>
              <a:rPr lang="en-US" b="1" dirty="0"/>
              <a:t>of a child object to a parent object</a:t>
            </a:r>
            <a:r>
              <a:rPr lang="en-US" dirty="0"/>
              <a:t>. Upcasting can be done implicitly.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Upcasting gives us the flexibility to access the parent class members but it is not possible to access all the child class members using this feature.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Instead of all the members, we can access some specified members of the child class. For instance, we can access the overridden methods.</a:t>
            </a:r>
          </a:p>
        </p:txBody>
      </p:sp>
    </p:spTree>
    <p:extLst>
      <p:ext uri="{BB962C8B-B14F-4D97-AF65-F5344CB8AC3E}">
        <p14:creationId xmlns:p14="http://schemas.microsoft.com/office/powerpoint/2010/main" val="2225866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63" y="678896"/>
            <a:ext cx="9157979" cy="5431619"/>
          </a:xfrm>
        </p:spPr>
      </p:pic>
    </p:spTree>
    <p:extLst>
      <p:ext uri="{BB962C8B-B14F-4D97-AF65-F5344CB8AC3E}">
        <p14:creationId xmlns:p14="http://schemas.microsoft.com/office/powerpoint/2010/main" val="2314362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downcasting means the typecasting of a </a:t>
            </a:r>
            <a:r>
              <a:rPr lang="en-US" b="1" dirty="0"/>
              <a:t>parent object to a child object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Downcasting cannot be implicitly.</a:t>
            </a:r>
          </a:p>
          <a:p>
            <a:endParaRPr lang="en-US" dirty="0"/>
          </a:p>
          <a:p>
            <a:r>
              <a:rPr lang="en-US" dirty="0"/>
              <a:t>After defining these type of casting explicitly, the compiler checks in the background if this type of casting is possible or not. If it’s not possible, the compiler throws a </a:t>
            </a:r>
            <a:r>
              <a:rPr lang="en-US" dirty="0">
                <a:solidFill>
                  <a:srgbClr val="FF0000"/>
                </a:solidFill>
              </a:rPr>
              <a:t>ClassCastException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8685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1" y="311342"/>
            <a:ext cx="5128305" cy="293985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1" y="3497943"/>
            <a:ext cx="5026705" cy="2960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30" y="537448"/>
            <a:ext cx="5772754" cy="61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58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Java Object</a:t>
            </a:r>
            <a:r>
              <a:rPr lang="en-US" dirty="0"/>
              <a:t> class is the super class of all the Java classes. All Java classes implements the Object class by default.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Java Object class provides the two important methods</a:t>
            </a:r>
          </a:p>
          <a:p>
            <a:pPr marL="0" indent="0" algn="just">
              <a:buNone/>
            </a:pPr>
            <a:r>
              <a:rPr lang="en-US" dirty="0"/>
              <a:t> to </a:t>
            </a:r>
            <a:r>
              <a:rPr lang="en-US" b="1" dirty="0"/>
              <a:t>compare two objects in Java</a:t>
            </a:r>
            <a:r>
              <a:rPr lang="en-US" dirty="0"/>
              <a:t>, i.e. </a:t>
            </a:r>
            <a:r>
              <a:rPr lang="en-US" b="1" dirty="0"/>
              <a:t>equals()</a:t>
            </a:r>
            <a:r>
              <a:rPr lang="en-US" dirty="0"/>
              <a:t> and </a:t>
            </a:r>
            <a:r>
              <a:rPr lang="en-US" b="1" dirty="0"/>
              <a:t>hashCode()</a:t>
            </a:r>
            <a:r>
              <a:rPr lang="en-US" dirty="0"/>
              <a:t> method.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Java equals() Method</a:t>
            </a:r>
          </a:p>
          <a:p>
            <a:pPr algn="just"/>
            <a:r>
              <a:rPr lang="en-US" dirty="0"/>
              <a:t>Java hashCode() Method</a:t>
            </a:r>
          </a:p>
        </p:txBody>
      </p:sp>
    </p:spTree>
    <p:extLst>
      <p:ext uri="{BB962C8B-B14F-4D97-AF65-F5344CB8AC3E}">
        <p14:creationId xmlns:p14="http://schemas.microsoft.com/office/powerpoint/2010/main" val="175883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Overriding equals() Method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equals()</a:t>
            </a:r>
            <a:r>
              <a:rPr lang="en-US" dirty="0"/>
              <a:t> method of the Object class compare the equality of two objects. </a:t>
            </a:r>
          </a:p>
          <a:p>
            <a:r>
              <a:rPr lang="en-US" dirty="0"/>
              <a:t>The two objects will be equal if they share the same memory address.</a:t>
            </a:r>
          </a:p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lvl="1"/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boolean</a:t>
            </a:r>
            <a:r>
              <a:rPr lang="en-US" dirty="0"/>
              <a:t> equals(Object obj)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4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hashCode()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448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hash code is a 32-bit signed integer value. It is a unique id provided by JVM to Java object. </a:t>
            </a:r>
          </a:p>
          <a:p>
            <a:pPr algn="just"/>
            <a:r>
              <a:rPr lang="en-US" dirty="0"/>
              <a:t>Each Java object is associated with the hash code. The hash code is managed by a hash-based data structure, such as HashTable, </a:t>
            </a:r>
            <a:r>
              <a:rPr lang="en-US" dirty="0" err="1"/>
              <a:t>HashSet</a:t>
            </a:r>
            <a:r>
              <a:rPr lang="en-US" dirty="0"/>
              <a:t>, etc.</a:t>
            </a:r>
          </a:p>
          <a:p>
            <a:pPr algn="just"/>
            <a:r>
              <a:rPr lang="en-US" dirty="0"/>
              <a:t>When we override the equals() method, it is necessary to override the hashCode() method.</a:t>
            </a:r>
          </a:p>
          <a:p>
            <a:pPr marL="0" indent="0" algn="just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   public</a:t>
            </a:r>
            <a:r>
              <a:rPr lang="en-US" dirty="0"/>
              <a:t> </a:t>
            </a:r>
            <a:r>
              <a:rPr lang="en-US" b="1" dirty="0"/>
              <a:t>int</a:t>
            </a:r>
            <a:r>
              <a:rPr lang="en-US" dirty="0"/>
              <a:t> hashCode()  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It returns a randomly generated hash code value of the object that is unique for each instance. The randomly generated value might change during the several executions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3193379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import java.util.LinkedHashSet;</a:t>
            </a:r>
          </a:p>
          <a:p>
            <a:pPr marL="0" indent="0">
              <a:buNone/>
            </a:pPr>
            <a:r>
              <a:rPr lang="en-US" sz="1800" dirty="0"/>
              <a:t>public class Person {</a:t>
            </a:r>
          </a:p>
          <a:p>
            <a:pPr marL="0" indent="0">
              <a:buNone/>
            </a:pPr>
            <a:r>
              <a:rPr lang="en-US" sz="1800" dirty="0"/>
              <a:t>    public String name;</a:t>
            </a:r>
          </a:p>
          <a:p>
            <a:pPr marL="0" indent="0">
              <a:buNone/>
            </a:pPr>
            <a:r>
              <a:rPr lang="en-US" sz="1800" dirty="0"/>
              <a:t>    public int age;</a:t>
            </a:r>
          </a:p>
          <a:p>
            <a:pPr marL="0" indent="0">
              <a:buNone/>
            </a:pPr>
            <a:r>
              <a:rPr lang="en-US" sz="1800" dirty="0"/>
              <a:t>    public Person(String name, int roll) {</a:t>
            </a:r>
          </a:p>
          <a:p>
            <a:pPr marL="0" indent="0">
              <a:buNone/>
            </a:pPr>
            <a:r>
              <a:rPr lang="en-US" sz="1800" dirty="0"/>
              <a:t>        this.name = name;</a:t>
            </a:r>
          </a:p>
          <a:p>
            <a:pPr marL="0" indent="0">
              <a:buNone/>
            </a:pPr>
            <a:r>
              <a:rPr lang="en-US" sz="1800" dirty="0"/>
              <a:t>        this.age = roll;</a:t>
            </a:r>
          </a:p>
          <a:p>
            <a:pPr marL="0" indent="0">
              <a:buNone/>
            </a:pPr>
            <a:r>
              <a:rPr lang="en-US" sz="1800" dirty="0"/>
              <a:t>    }   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0386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4850"/>
            <a:ext cx="10515600" cy="65231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class Student extends Person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    int roll;</a:t>
            </a:r>
          </a:p>
          <a:p>
            <a:pPr marL="0" indent="0">
              <a:buNone/>
            </a:pPr>
            <a:r>
              <a:rPr lang="en-US" sz="1800" dirty="0"/>
              <a:t>    public Student(String name, int age ,int roll) {</a:t>
            </a:r>
          </a:p>
          <a:p>
            <a:pPr marL="0" indent="0">
              <a:buNone/>
            </a:pPr>
            <a:r>
              <a:rPr lang="en-US" sz="1800" dirty="0"/>
              <a:t>        super(name, age);</a:t>
            </a:r>
          </a:p>
          <a:p>
            <a:pPr marL="0" indent="0">
              <a:buNone/>
            </a:pPr>
            <a:r>
              <a:rPr lang="en-US" sz="1800" dirty="0"/>
              <a:t>        this.roll = roll;</a:t>
            </a:r>
          </a:p>
          <a:p>
            <a:pPr marL="0" indent="0">
              <a:buNone/>
            </a:pPr>
            <a:r>
              <a:rPr lang="en-US" sz="1800" dirty="0"/>
              <a:t>    }    </a:t>
            </a:r>
          </a:p>
          <a:p>
            <a:pPr marL="0" indent="0">
              <a:buNone/>
            </a:pPr>
            <a:r>
              <a:rPr lang="en-US" sz="1800" dirty="0"/>
              <a:t>    @Override</a:t>
            </a:r>
          </a:p>
          <a:p>
            <a:pPr marL="0" indent="0">
              <a:buNone/>
            </a:pPr>
            <a:r>
              <a:rPr lang="en-US" sz="1800" dirty="0"/>
              <a:t>    public int hashCode()</a:t>
            </a:r>
          </a:p>
          <a:p>
            <a:pPr marL="0" indent="0">
              <a:buNone/>
            </a:pPr>
            <a:r>
              <a:rPr lang="en-US" sz="1800" dirty="0"/>
              <a:t>    {</a:t>
            </a:r>
          </a:p>
          <a:p>
            <a:pPr marL="0" indent="0">
              <a:buNone/>
            </a:pPr>
            <a:r>
              <a:rPr lang="en-US" sz="1800" dirty="0"/>
              <a:t>      return this.roll;  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@Override</a:t>
            </a:r>
          </a:p>
          <a:p>
            <a:pPr marL="0" indent="0">
              <a:buNone/>
            </a:pPr>
            <a:r>
              <a:rPr lang="en-US" sz="1800" dirty="0"/>
              <a:t>    public boolean equals(Object obj) {</a:t>
            </a:r>
          </a:p>
          <a:p>
            <a:pPr marL="0" indent="0">
              <a:buNone/>
            </a:pPr>
            <a:r>
              <a:rPr lang="en-US" sz="1800" dirty="0"/>
              <a:t>        Student obj1 = (Student)obj ; ///Downcasting</a:t>
            </a:r>
          </a:p>
          <a:p>
            <a:pPr marL="0" indent="0">
              <a:buNone/>
            </a:pPr>
            <a:r>
              <a:rPr lang="en-US" sz="1800" dirty="0"/>
              <a:t>        return this.name.equals(obj1.name) &amp;&amp; this.age==obj1.age &amp;&amp; this.roll==obj1.roll;</a:t>
            </a:r>
          </a:p>
          <a:p>
            <a:pPr marL="0" indent="0">
              <a:buNone/>
            </a:pPr>
            <a:r>
              <a:rPr lang="en-US" sz="1800" dirty="0"/>
              <a:t>    }    </a:t>
            </a:r>
          </a:p>
          <a:p>
            <a:pPr marL="0" indent="0">
              <a:buNone/>
            </a:pPr>
            <a:r>
              <a:rPr lang="en-US" sz="1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50047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114"/>
            <a:ext cx="10515600" cy="6741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@Override</a:t>
            </a:r>
          </a:p>
          <a:p>
            <a:pPr marL="0" indent="0">
              <a:buNone/>
            </a:pPr>
            <a:r>
              <a:rPr lang="en-US" sz="1800" dirty="0"/>
              <a:t>     public String toString() {</a:t>
            </a:r>
          </a:p>
          <a:p>
            <a:pPr marL="0" indent="0">
              <a:buNone/>
            </a:pPr>
            <a:r>
              <a:rPr lang="en-US" sz="1800" dirty="0"/>
              <a:t>        return this.name + " " + this.age + " " +this.roll; </a:t>
            </a:r>
          </a:p>
          <a:p>
            <a:pPr marL="0" indent="0">
              <a:buNone/>
            </a:pPr>
            <a:r>
              <a:rPr lang="en-US" sz="1800" dirty="0"/>
              <a:t>     } }     </a:t>
            </a:r>
          </a:p>
          <a:p>
            <a:pPr marL="0" indent="0">
              <a:buNone/>
            </a:pPr>
            <a:r>
              <a:rPr lang="en-US" sz="1800" dirty="0"/>
              <a:t>class EqualHashcodetoStringDemo{</a:t>
            </a:r>
          </a:p>
          <a:p>
            <a:pPr marL="0" indent="0">
              <a:buNone/>
            </a:pPr>
            <a:r>
              <a:rPr lang="en-US" sz="1800" dirty="0"/>
              <a:t>    public static void main(String[] args) {      </a:t>
            </a:r>
          </a:p>
          <a:p>
            <a:pPr marL="0" indent="0">
              <a:buNone/>
            </a:pPr>
            <a:r>
              <a:rPr lang="en-US" sz="1800" dirty="0"/>
              <a:t>        Student s1 = new Student("ram", 20, 1);</a:t>
            </a:r>
          </a:p>
          <a:p>
            <a:pPr marL="0" indent="0">
              <a:buNone/>
            </a:pPr>
            <a:r>
              <a:rPr lang="en-US" sz="1800" dirty="0"/>
              <a:t>        Student s2 = new Student("ram", 20, 1);</a:t>
            </a:r>
          </a:p>
          <a:p>
            <a:pPr marL="0" indent="0">
              <a:buNone/>
            </a:pPr>
            <a:r>
              <a:rPr lang="en-US" sz="1800" dirty="0"/>
              <a:t>        Student s3 = new Student("sita", 20, 1);</a:t>
            </a:r>
          </a:p>
          <a:p>
            <a:pPr marL="0" indent="0">
              <a:buNone/>
            </a:pPr>
            <a:r>
              <a:rPr lang="en-US" sz="1800" dirty="0"/>
              <a:t>        Student s4 = new Student("ram", 20, 4);              </a:t>
            </a:r>
          </a:p>
          <a:p>
            <a:pPr marL="0" indent="0">
              <a:buNone/>
            </a:pPr>
            <a:r>
              <a:rPr lang="en-US" sz="1800" dirty="0"/>
              <a:t>        LinkedHashSet &lt;Student&gt; student = new LinkedHashSet&lt;&gt;();</a:t>
            </a:r>
          </a:p>
          <a:p>
            <a:pPr marL="0" indent="0">
              <a:buNone/>
            </a:pPr>
            <a:r>
              <a:rPr lang="en-US" sz="1800" dirty="0"/>
              <a:t>        student.add(s1);</a:t>
            </a:r>
          </a:p>
          <a:p>
            <a:pPr marL="0" indent="0">
              <a:buNone/>
            </a:pPr>
            <a:r>
              <a:rPr lang="en-US" sz="1800" dirty="0"/>
              <a:t>        student.add(s2);</a:t>
            </a:r>
          </a:p>
          <a:p>
            <a:pPr marL="0" indent="0">
              <a:buNone/>
            </a:pPr>
            <a:r>
              <a:rPr lang="en-US" sz="1800" dirty="0"/>
              <a:t>        student.add(s3);</a:t>
            </a:r>
          </a:p>
          <a:p>
            <a:pPr marL="0" indent="0">
              <a:buNone/>
            </a:pPr>
            <a:r>
              <a:rPr lang="en-US" sz="1800" dirty="0"/>
              <a:t>        student.add(s4);        </a:t>
            </a:r>
          </a:p>
          <a:p>
            <a:pPr marL="0" indent="0">
              <a:buNone/>
            </a:pPr>
            <a:r>
              <a:rPr lang="en-US" sz="1800" dirty="0"/>
              <a:t>        student.forEach((s) -&gt; { //functional operation</a:t>
            </a:r>
          </a:p>
          <a:p>
            <a:pPr marL="0" indent="0">
              <a:buNone/>
            </a:pPr>
            <a:r>
              <a:rPr lang="en-US" sz="1800" dirty="0"/>
              <a:t>            System.out.println(s);</a:t>
            </a:r>
          </a:p>
          <a:p>
            <a:pPr marL="0" indent="0">
              <a:buNone/>
            </a:pPr>
            <a:r>
              <a:rPr lang="en-US" sz="1800" dirty="0"/>
              <a:t>        });}}</a:t>
            </a:r>
          </a:p>
        </p:txBody>
      </p:sp>
    </p:spTree>
    <p:extLst>
      <p:ext uri="{BB962C8B-B14F-4D97-AF65-F5344CB8AC3E}">
        <p14:creationId xmlns:p14="http://schemas.microsoft.com/office/powerpoint/2010/main" val="8068087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674</TotalTime>
  <Words>2085</Words>
  <Application>Microsoft Office PowerPoint</Application>
  <PresentationFormat>Widescreen</PresentationFormat>
  <Paragraphs>298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Calibri</vt:lpstr>
      <vt:lpstr>Calibri Light</vt:lpstr>
      <vt:lpstr>Courier New</vt:lpstr>
      <vt:lpstr>Times New Roman</vt:lpstr>
      <vt:lpstr>Times New Roman</vt:lpstr>
      <vt:lpstr>verdana</vt:lpstr>
      <vt:lpstr>Retrospect</vt:lpstr>
      <vt:lpstr>INHERITANCE AND POLYMORHISM</vt:lpstr>
      <vt:lpstr>Super class, sub class, inheritance and member access</vt:lpstr>
      <vt:lpstr>PowerPoint Presentation</vt:lpstr>
      <vt:lpstr>PowerPoint Presentation</vt:lpstr>
      <vt:lpstr>PowerPoint Presentation</vt:lpstr>
      <vt:lpstr>Types of Inheritance </vt:lpstr>
      <vt:lpstr>PowerPoint Presentation</vt:lpstr>
      <vt:lpstr>PowerPoint Presentation</vt:lpstr>
      <vt:lpstr>PowerPoint Presentation</vt:lpstr>
      <vt:lpstr>PowerPoint Presentation</vt:lpstr>
      <vt:lpstr>Example: Shared Functionality</vt:lpstr>
      <vt:lpstr>PowerPoint Presentation</vt:lpstr>
      <vt:lpstr>Overriding methods</vt:lpstr>
      <vt:lpstr>PowerPoint Presentation</vt:lpstr>
      <vt:lpstr>Final classes and methods</vt:lpstr>
      <vt:lpstr>Methods </vt:lpstr>
      <vt:lpstr>The Object class</vt:lpstr>
      <vt:lpstr>Methods of Object class</vt:lpstr>
      <vt:lpstr>Object Cloning </vt:lpstr>
      <vt:lpstr>PowerPoint Presentation</vt:lpstr>
      <vt:lpstr>PowerPoint Presentation</vt:lpstr>
      <vt:lpstr>PowerPoint Presentation</vt:lpstr>
      <vt:lpstr>Abstract classes</vt:lpstr>
      <vt:lpstr>Abstract  methods</vt:lpstr>
      <vt:lpstr>PowerPoint Presentation</vt:lpstr>
      <vt:lpstr>Creating and using interface</vt:lpstr>
      <vt:lpstr>Method overloading</vt:lpstr>
      <vt:lpstr>Three ways to overload a method</vt:lpstr>
      <vt:lpstr>Upcasting and downcasting</vt:lpstr>
      <vt:lpstr>PowerPoint Presentation</vt:lpstr>
      <vt:lpstr>Downcasting</vt:lpstr>
      <vt:lpstr>PowerPoint Presentation</vt:lpstr>
      <vt:lpstr>Object equivalence</vt:lpstr>
      <vt:lpstr>Overriding equals() Method </vt:lpstr>
      <vt:lpstr>hashCode() Method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AND POLYMORHISM</dc:title>
  <dc:creator>Dell</dc:creator>
  <cp:lastModifiedBy>Ashok Bhattarai</cp:lastModifiedBy>
  <cp:revision>53</cp:revision>
  <dcterms:created xsi:type="dcterms:W3CDTF">2021-05-04T00:29:32Z</dcterms:created>
  <dcterms:modified xsi:type="dcterms:W3CDTF">2026-04-05T16:48:26Z</dcterms:modified>
</cp:coreProperties>
</file>