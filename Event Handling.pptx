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1" r:id="rId15"/>
    <p:sldId id="272" r:id="rId16"/>
    <p:sldId id="273" r:id="rId17"/>
    <p:sldId id="274" r:id="rId18"/>
    <p:sldId id="269" r:id="rId19"/>
    <p:sldId id="270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93" d="100"/>
          <a:sy n="93" d="100"/>
        </p:scale>
        <p:origin x="30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51BC60-EB2B-496A-8696-EDD78D22125A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95385A-FDAF-4B3E-8C6F-2FE6592D05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5501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FlowLayout</a:t>
            </a:r>
            <a:r>
              <a:rPr lang="en-US"/>
              <a:t> is used because it </a:t>
            </a:r>
            <a:r>
              <a:rPr lang="en-US" b="1"/>
              <a:t>automatically arranges components from left to right and keeps the GUI simple</a:t>
            </a:r>
            <a:r>
              <a:rPr lang="en-US"/>
              <a:t>, which is perfect for a small event-handling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95385A-FDAF-4B3E-8C6F-2FE6592D05C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0104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61D65-FBC9-4858-8B28-D7F95C24DB1E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27CE5-137F-4B00-B026-6A3B6ECDFEB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728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61D65-FBC9-4858-8B28-D7F95C24DB1E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27CE5-137F-4B00-B026-6A3B6ECDF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102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61D65-FBC9-4858-8B28-D7F95C24DB1E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27CE5-137F-4B00-B026-6A3B6ECDFEB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1997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61D65-FBC9-4858-8B28-D7F95C24DB1E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27CE5-137F-4B00-B026-6A3B6ECDF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381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61D65-FBC9-4858-8B28-D7F95C24DB1E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27CE5-137F-4B00-B026-6A3B6ECDF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751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61D65-FBC9-4858-8B28-D7F95C24DB1E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27CE5-137F-4B00-B026-6A3B6ECDF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049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61D65-FBC9-4858-8B28-D7F95C24DB1E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27CE5-137F-4B00-B026-6A3B6ECDF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5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7161D65-FBC9-4858-8B28-D7F95C24DB1E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9427CE5-137F-4B00-B026-6A3B6ECDF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73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61D65-FBC9-4858-8B28-D7F95C24DB1E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27CE5-137F-4B00-B026-6A3B6ECDF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7876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61D65-FBC9-4858-8B28-D7F95C24DB1E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27CE5-137F-4B00-B026-6A3B6ECDF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927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61D65-FBC9-4858-8B28-D7F95C24DB1E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27CE5-137F-4B00-B026-6A3B6ECDF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898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7161D65-FBC9-4858-8B28-D7F95C24DB1E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89427CE5-137F-4B00-B026-6A3B6ECDFEB7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1935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49450-4CD7-CF14-9F25-AAD7B37FEC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Event Handling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98976D-38E9-818E-43DE-3055ED4DD7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Unit 3</a:t>
            </a:r>
          </a:p>
          <a:p>
            <a:r>
              <a:rPr lang="en-US" dirty="0"/>
              <a:t>Advanced Java, MICTE</a:t>
            </a:r>
          </a:p>
        </p:txBody>
      </p:sp>
    </p:spTree>
    <p:extLst>
      <p:ext uri="{BB962C8B-B14F-4D97-AF65-F5344CB8AC3E}">
        <p14:creationId xmlns:p14="http://schemas.microsoft.com/office/powerpoint/2010/main" val="42481658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01E5C-3AC5-EB45-DCE7-5C792ADF6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 Handling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D0A7AA-BF71-353D-92FF-B49A8CAA66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Event Handling</a:t>
            </a:r>
            <a:r>
              <a:rPr lang="en-US" dirty="0"/>
              <a:t> is the mechanism in Java that allows a program to </a:t>
            </a:r>
            <a:r>
              <a:rPr lang="en-US" b="1" dirty="0"/>
              <a:t>respond to user actions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Examples of events:</a:t>
            </a:r>
          </a:p>
          <a:p>
            <a:r>
              <a:rPr lang="en-US" dirty="0"/>
              <a:t>Clicking a button </a:t>
            </a:r>
          </a:p>
          <a:p>
            <a:r>
              <a:rPr lang="en-US" dirty="0"/>
              <a:t>Pressing a key </a:t>
            </a:r>
          </a:p>
          <a:p>
            <a:r>
              <a:rPr lang="en-US" dirty="0"/>
              <a:t>Moving the mouse </a:t>
            </a:r>
          </a:p>
          <a:p>
            <a:r>
              <a:rPr lang="en-US" dirty="0"/>
              <a:t>Selecting an item from a menu </a:t>
            </a:r>
          </a:p>
          <a:p>
            <a:r>
              <a:rPr lang="en-US" dirty="0"/>
              <a:t>Closing a window </a:t>
            </a:r>
          </a:p>
          <a:p>
            <a:pPr marL="0" indent="0">
              <a:buNone/>
            </a:pPr>
            <a:r>
              <a:rPr lang="en-US" dirty="0"/>
              <a:t>Java mainly handles events using the </a:t>
            </a:r>
            <a:r>
              <a:rPr lang="en-US" b="1" dirty="0"/>
              <a:t>Delegation Event Model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63525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13DA4-ECFC-808B-36FC-5F58AC3E6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Delegation Event Model (DEM)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4CE11D-620A-87C9-A21C-383CE0C600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dirty="0"/>
              <a:t>In this model there are </a:t>
            </a:r>
            <a:r>
              <a:rPr lang="en-US" b="1" dirty="0"/>
              <a:t>three main parts</a:t>
            </a:r>
            <a:r>
              <a:rPr lang="en-US" dirty="0"/>
              <a:t>: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Event Source</a:t>
            </a:r>
            <a:r>
              <a:rPr lang="en-US" dirty="0"/>
              <a:t> 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Event Object</a:t>
            </a:r>
            <a:r>
              <a:rPr lang="en-US" dirty="0"/>
              <a:t> 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Event Listener</a:t>
            </a:r>
            <a:r>
              <a:rPr lang="en-US" dirty="0"/>
              <a:t> </a:t>
            </a:r>
          </a:p>
          <a:p>
            <a:pPr>
              <a:buNone/>
            </a:pPr>
            <a:r>
              <a:rPr lang="en-US" dirty="0"/>
              <a:t>Example flow: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User clicks Button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  ↓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Button (Event Source) creates Event Object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  ↓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Event Listener receives event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  ↓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Listener executes event handling code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753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1BF24-30D8-DD9C-A85B-A26C0A915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735075-3B23-E804-A5D8-6A9047F801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Example:</a:t>
            </a:r>
          </a:p>
          <a:p>
            <a:pPr rtl="0">
              <a:buNone/>
            </a:pPr>
            <a:r>
              <a:rPr lang="en-US" dirty="0" err="1">
                <a:latin typeface="Courier New" panose="02070309020205020404" pitchFamily="49" charset="0"/>
              </a:rPr>
              <a:t>button.addActionListener</a:t>
            </a:r>
            <a:r>
              <a:rPr lang="en-US" dirty="0">
                <a:latin typeface="Courier New" panose="02070309020205020404" pitchFamily="49" charset="0"/>
              </a:rPr>
              <a:t>(new ActionListener() {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public void </a:t>
            </a:r>
            <a:r>
              <a:rPr lang="en-US" dirty="0" err="1">
                <a:latin typeface="Courier New" panose="02070309020205020404" pitchFamily="49" charset="0"/>
              </a:rPr>
              <a:t>actionPerformed</a:t>
            </a:r>
            <a:r>
              <a:rPr lang="en-US" dirty="0">
                <a:latin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</a:rPr>
              <a:t>ActionEvent</a:t>
            </a:r>
            <a:r>
              <a:rPr lang="en-US" dirty="0">
                <a:latin typeface="Courier New" panose="02070309020205020404" pitchFamily="49" charset="0"/>
              </a:rPr>
              <a:t> e) {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    </a:t>
            </a:r>
            <a:r>
              <a:rPr lang="en-US" dirty="0" err="1">
                <a:latin typeface="Courier New" panose="02070309020205020404" pitchFamily="49" charset="0"/>
              </a:rPr>
              <a:t>System.out.println</a:t>
            </a:r>
            <a:r>
              <a:rPr lang="en-US" dirty="0">
                <a:latin typeface="Courier New" panose="02070309020205020404" pitchFamily="49" charset="0"/>
              </a:rPr>
              <a:t>("Button Clicked");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}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});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496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DF0BE-8C82-B09F-D8CE-69D129459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Listener Interfaces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CC5810-3258-C720-4254-58339492A2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</a:t>
            </a:r>
            <a:r>
              <a:rPr lang="en-US" b="1" dirty="0"/>
              <a:t>Listener Interface</a:t>
            </a:r>
            <a:r>
              <a:rPr lang="en-US" dirty="0"/>
              <a:t> receives and handles events.</a:t>
            </a:r>
          </a:p>
          <a:p>
            <a:pPr marL="0" indent="0">
              <a:buNone/>
            </a:pPr>
            <a:r>
              <a:rPr lang="en-US" dirty="0"/>
              <a:t>Some common listener interfaces: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F1B6C3F-068B-F273-0822-0CBF8D4795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0715108"/>
              </p:ext>
            </p:extLst>
          </p:nvPr>
        </p:nvGraphicFramePr>
        <p:xfrm>
          <a:off x="838200" y="2721133"/>
          <a:ext cx="10515600" cy="37717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52047083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798256715"/>
                    </a:ext>
                  </a:extLst>
                </a:gridCol>
              </a:tblGrid>
              <a:tr h="5388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Listener Interface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Used For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9609564"/>
                  </a:ext>
                </a:extLst>
              </a:tr>
              <a:tr h="5388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ActionListener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Button click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5937036"/>
                  </a:ext>
                </a:extLst>
              </a:tr>
              <a:tr h="5388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MouseListener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Mouse actions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0652027"/>
                  </a:ext>
                </a:extLst>
              </a:tr>
              <a:tr h="5388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KeyListener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Keyboard events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6029845"/>
                  </a:ext>
                </a:extLst>
              </a:tr>
              <a:tr h="5388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WindowListener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Window events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0567797"/>
                  </a:ext>
                </a:extLst>
              </a:tr>
              <a:tr h="5388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ItemListener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Checkbox / choice events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7173078"/>
                  </a:ext>
                </a:extLst>
              </a:tr>
              <a:tr h="5388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FocusListener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Focus gained or lost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00329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11309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14F1F-A005-1D5A-BFCE-4CF847C49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345D77-B00B-D698-D95B-F85954B129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MyClass</a:t>
            </a:r>
            <a:r>
              <a:rPr lang="en-US" dirty="0"/>
              <a:t> implements ActionListener {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public void </a:t>
            </a:r>
            <a:r>
              <a:rPr lang="en-US" dirty="0" err="1"/>
              <a:t>actionPerformed</a:t>
            </a:r>
            <a:r>
              <a:rPr lang="en-US" dirty="0"/>
              <a:t>(</a:t>
            </a:r>
            <a:r>
              <a:rPr lang="en-US" dirty="0" err="1"/>
              <a:t>ActionEvent</a:t>
            </a:r>
            <a:r>
              <a:rPr lang="en-US" dirty="0"/>
              <a:t> e)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("Action performed");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200892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CEC02-7315-A7CF-BDEB-C0863D337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Action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B3FC3F-5BD8-B280-FC8B-EB2E5AEFB0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Action Commands</a:t>
            </a:r>
            <a:r>
              <a:rPr lang="en-US" dirty="0"/>
              <a:t> identify which component triggered an event.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pPr marL="0" indent="0">
              <a:buNone/>
            </a:pPr>
            <a:r>
              <a:rPr lang="en-US" dirty="0" err="1"/>
              <a:t>button.setActionCommand</a:t>
            </a:r>
            <a:r>
              <a:rPr lang="en-US" dirty="0"/>
              <a:t>("SAVE");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Handling:</a:t>
            </a:r>
          </a:p>
          <a:p>
            <a:pPr marL="0" indent="0">
              <a:buNone/>
            </a:pPr>
            <a:r>
              <a:rPr lang="en-US" dirty="0"/>
              <a:t>public void </a:t>
            </a:r>
            <a:r>
              <a:rPr lang="en-US" dirty="0" err="1"/>
              <a:t>actionPerformed</a:t>
            </a:r>
            <a:r>
              <a:rPr lang="en-US" dirty="0"/>
              <a:t>(</a:t>
            </a:r>
            <a:r>
              <a:rPr lang="en-US" dirty="0" err="1"/>
              <a:t>ActionEvent</a:t>
            </a:r>
            <a:r>
              <a:rPr lang="en-US" dirty="0"/>
              <a:t> e) {</a:t>
            </a:r>
          </a:p>
          <a:p>
            <a:pPr marL="0" indent="0">
              <a:buNone/>
            </a:pPr>
            <a:r>
              <a:rPr lang="en-US" dirty="0"/>
              <a:t>    if(</a:t>
            </a:r>
            <a:r>
              <a:rPr lang="en-US" dirty="0" err="1"/>
              <a:t>e.getActionCommand</a:t>
            </a:r>
            <a:r>
              <a:rPr lang="en-US" dirty="0"/>
              <a:t>().equals("SAVE"))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("Save button clicked");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Useful when </a:t>
            </a:r>
            <a:r>
              <a:rPr lang="en-US" b="1" dirty="0"/>
              <a:t>multiple buttons share one listener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9221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3307E-CF30-B21E-F612-9AE876438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Adapter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BF1E9-C083-A92B-F118-959B9805CE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Sometimes listener interfaces contain </a:t>
            </a:r>
            <a:r>
              <a:rPr lang="en-US" b="1" dirty="0"/>
              <a:t>many methods</a:t>
            </a:r>
            <a:r>
              <a:rPr lang="en-US" dirty="0"/>
              <a:t>, but we may need only one.</a:t>
            </a:r>
          </a:p>
          <a:p>
            <a:pPr>
              <a:buNone/>
            </a:pPr>
            <a:r>
              <a:rPr lang="en-US" dirty="0"/>
              <a:t>Instead of implementing all methods, Java provides </a:t>
            </a:r>
            <a:r>
              <a:rPr lang="en-US" b="1" dirty="0"/>
              <a:t>Adapter Classes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Example:</a:t>
            </a:r>
          </a:p>
          <a:p>
            <a:pPr>
              <a:buNone/>
            </a:pPr>
            <a:r>
              <a:rPr lang="en-US" dirty="0" err="1">
                <a:latin typeface="Courier New" panose="02070309020205020404" pitchFamily="49" charset="0"/>
              </a:rPr>
              <a:t>WindowListener</a:t>
            </a:r>
            <a:r>
              <a:rPr lang="en-US" dirty="0"/>
              <a:t> has </a:t>
            </a:r>
            <a:r>
              <a:rPr lang="en-US" b="1" dirty="0"/>
              <a:t>7 methods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Instead of writing all, use </a:t>
            </a:r>
            <a:r>
              <a:rPr lang="en-US" b="1" dirty="0" err="1"/>
              <a:t>WindowAdapter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18024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1E366-9F1F-BAD7-765E-CCECE58C6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FD4200-3E42-E3EB-9520-84A35234F6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java.awt.event</a:t>
            </a:r>
            <a:r>
              <a:rPr lang="en-US" dirty="0"/>
              <a:t>.*;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MyWindow</a:t>
            </a:r>
            <a:r>
              <a:rPr lang="en-US" dirty="0"/>
              <a:t> extends </a:t>
            </a:r>
            <a:r>
              <a:rPr lang="en-US" dirty="0" err="1"/>
              <a:t>WindowAdapter</a:t>
            </a: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dirty="0"/>
              <a:t>    public void </a:t>
            </a:r>
            <a:r>
              <a:rPr lang="en-US" dirty="0" err="1"/>
              <a:t>windowClosing</a:t>
            </a:r>
            <a:r>
              <a:rPr lang="en-US" dirty="0"/>
              <a:t>(</a:t>
            </a:r>
            <a:r>
              <a:rPr lang="en-US" dirty="0" err="1"/>
              <a:t>WindowEvent</a:t>
            </a:r>
            <a:r>
              <a:rPr lang="en-US" dirty="0"/>
              <a:t> e)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System.exit</a:t>
            </a:r>
            <a:r>
              <a:rPr lang="en-US" dirty="0"/>
              <a:t>(0);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024761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F7533-6257-B4B0-9C0D-593D404F1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Adapter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26E45F-8B40-02F9-8832-C071E4FEE7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Advantages: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Reduces code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Only override required methods</a:t>
            </a:r>
          </a:p>
          <a:p>
            <a:pPr marL="0" indent="0">
              <a:buNone/>
            </a:pPr>
            <a:r>
              <a:rPr lang="en-US" dirty="0"/>
              <a:t>Common adapter classes: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B2FBD3F-702B-E5EC-A498-E56C761792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2374819"/>
              </p:ext>
            </p:extLst>
          </p:nvPr>
        </p:nvGraphicFramePr>
        <p:xfrm>
          <a:off x="694509" y="3896791"/>
          <a:ext cx="10515600" cy="1828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43948757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5041467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Adapter Class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Listener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33232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WindowAdapter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WindowListener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29543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MouseAdapter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MouseListener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27506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KeyAdapter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KeyListener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45869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FocusAdapter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FocusListener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59754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29932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A06A0-EAEF-B5DF-9B4E-8869A9384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Handling Action Events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138966-2597-DDFD-B73D-DD063DE7C4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Action events occur when: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Button is clicked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Menu item selected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Enter key pressed in text field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61393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DBA45-A9FC-FFC4-9DE3-6BE6CD19B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47AA42-EB79-B0CB-B801-CC9457E94E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7111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83894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6FD24-8F37-FC3D-EEB9-5BA77FA98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Events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46066-A113-98D8-7E00-B03553A7F7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Occurs when a </a:t>
            </a:r>
            <a:r>
              <a:rPr lang="en-US" b="1" dirty="0"/>
              <a:t>key is pressed or released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Methods in </a:t>
            </a:r>
            <a:r>
              <a:rPr lang="en-US" dirty="0" err="1">
                <a:latin typeface="Courier New" panose="02070309020205020404" pitchFamily="49" charset="0"/>
              </a:rPr>
              <a:t>KeyListener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>
                <a:latin typeface="Courier New" panose="02070309020205020404" pitchFamily="49" charset="0"/>
              </a:rPr>
              <a:t>keyPressed</a:t>
            </a:r>
            <a:r>
              <a:rPr lang="en-US" dirty="0">
                <a:latin typeface="Courier New" panose="02070309020205020404" pitchFamily="49" charset="0"/>
              </a:rPr>
              <a:t>()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>
                <a:latin typeface="Courier New" panose="02070309020205020404" pitchFamily="49" charset="0"/>
              </a:rPr>
              <a:t>keyReleased</a:t>
            </a:r>
            <a:r>
              <a:rPr lang="en-US" dirty="0">
                <a:latin typeface="Courier New" panose="02070309020205020404" pitchFamily="49" charset="0"/>
              </a:rPr>
              <a:t>()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>
                <a:latin typeface="Courier New" panose="02070309020205020404" pitchFamily="49" charset="0"/>
              </a:rPr>
              <a:t>keyTyped</a:t>
            </a:r>
            <a:r>
              <a:rPr lang="en-US" dirty="0">
                <a:latin typeface="Courier New" panose="02070309020205020404" pitchFamily="49" charset="0"/>
              </a:rPr>
              <a:t>()</a:t>
            </a:r>
          </a:p>
          <a:p>
            <a:pPr>
              <a:buNone/>
            </a:pPr>
            <a:r>
              <a:rPr lang="en-US" dirty="0"/>
              <a:t>Example:</a:t>
            </a:r>
          </a:p>
          <a:p>
            <a:pPr marL="0" indent="0">
              <a:buNone/>
            </a:pPr>
            <a:r>
              <a:rPr lang="en-US" dirty="0"/>
              <a:t>public void </a:t>
            </a:r>
            <a:r>
              <a:rPr lang="en-US" dirty="0" err="1"/>
              <a:t>keyPressed</a:t>
            </a:r>
            <a:r>
              <a:rPr lang="en-US" dirty="0"/>
              <a:t>(</a:t>
            </a:r>
            <a:r>
              <a:rPr lang="en-US" dirty="0" err="1"/>
              <a:t>KeyEvent</a:t>
            </a:r>
            <a:r>
              <a:rPr lang="en-US" dirty="0"/>
              <a:t> e) {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System.out.println</a:t>
            </a:r>
            <a:r>
              <a:rPr lang="en-US" dirty="0"/>
              <a:t>("Key Pressed: " + </a:t>
            </a:r>
            <a:r>
              <a:rPr lang="en-US" dirty="0" err="1"/>
              <a:t>e.getKeyChar</a:t>
            </a:r>
            <a:r>
              <a:rPr lang="en-US" dirty="0"/>
              <a:t>());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766115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A2645-3C57-77D4-3F87-BBC857094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Focus Events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392108-043F-E005-971C-4D04355E87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dirty="0"/>
              <a:t>Focus event occurs when a component </a:t>
            </a:r>
            <a:r>
              <a:rPr lang="en-US" b="1" dirty="0"/>
              <a:t>gains or loses focus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Example: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Clicking inside a text field → focus gained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Clicking elsewhere → focus lost </a:t>
            </a:r>
          </a:p>
          <a:p>
            <a:pPr>
              <a:buNone/>
            </a:pPr>
            <a:r>
              <a:rPr lang="en-US" dirty="0"/>
              <a:t>Methods: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>
                <a:latin typeface="Courier New" panose="02070309020205020404" pitchFamily="49" charset="0"/>
              </a:rPr>
              <a:t>focusGained</a:t>
            </a:r>
            <a:r>
              <a:rPr lang="en-US" dirty="0">
                <a:latin typeface="Courier New" panose="02070309020205020404" pitchFamily="49" charset="0"/>
              </a:rPr>
              <a:t>()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>
                <a:latin typeface="Courier New" panose="02070309020205020404" pitchFamily="49" charset="0"/>
              </a:rPr>
              <a:t>focusLost</a:t>
            </a:r>
            <a:r>
              <a:rPr lang="en-US" dirty="0">
                <a:latin typeface="Courier New" panose="02070309020205020404" pitchFamily="49" charset="0"/>
              </a:rPr>
              <a:t>()</a:t>
            </a:r>
            <a:r>
              <a:rPr lang="en-US" dirty="0"/>
              <a:t> </a:t>
            </a:r>
          </a:p>
          <a:p>
            <a:pPr>
              <a:buNone/>
            </a:pPr>
            <a:r>
              <a:rPr lang="en-US" dirty="0"/>
              <a:t>Example: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public void </a:t>
            </a:r>
            <a:r>
              <a:rPr lang="en-US" dirty="0" err="1">
                <a:latin typeface="Courier New" panose="02070309020205020404" pitchFamily="49" charset="0"/>
              </a:rPr>
              <a:t>focusGained</a:t>
            </a:r>
            <a:r>
              <a:rPr lang="en-US" dirty="0">
                <a:latin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</a:rPr>
              <a:t>FocusEvent</a:t>
            </a:r>
            <a:r>
              <a:rPr lang="en-US" dirty="0">
                <a:latin typeface="Courier New" panose="02070309020205020404" pitchFamily="49" charset="0"/>
              </a:rPr>
              <a:t> e) {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</a:rPr>
              <a:t>System.out.println</a:t>
            </a:r>
            <a:r>
              <a:rPr lang="en-US" dirty="0">
                <a:latin typeface="Courier New" panose="02070309020205020404" pitchFamily="49" charset="0"/>
              </a:rPr>
              <a:t>("Focus gained");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15425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EF04F-6747-4946-E882-9F8D83C42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Mouse Events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5E2B77-8D32-3BD6-EEEB-84080DF44F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Mouse actions include: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Click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Press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Release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Enter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Exit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6469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4F0FD-7164-B96C-D56E-2BDDE77DC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Mouse Events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A7C0AE-6D2A-7590-3EDA-0A8640AAEA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Methods in </a:t>
            </a:r>
            <a:r>
              <a:rPr lang="en-US" dirty="0" err="1"/>
              <a:t>MouseListener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sz="1600" dirty="0"/>
              <a:t>public void </a:t>
            </a:r>
            <a:r>
              <a:rPr lang="en-US" sz="1600" dirty="0" err="1"/>
              <a:t>mouseClicked</a:t>
            </a:r>
            <a:r>
              <a:rPr lang="en-US" sz="1600" dirty="0"/>
              <a:t>(</a:t>
            </a:r>
            <a:r>
              <a:rPr lang="en-US" sz="1600" dirty="0" err="1"/>
              <a:t>MouseEvent</a:t>
            </a:r>
            <a:r>
              <a:rPr lang="en-US" sz="1600" dirty="0"/>
              <a:t> e) {</a:t>
            </a:r>
          </a:p>
          <a:p>
            <a:pPr marL="0" indent="0">
              <a:buNone/>
            </a:pPr>
            <a:r>
              <a:rPr lang="en-US" sz="1600" dirty="0"/>
              <a:t>    </a:t>
            </a:r>
            <a:r>
              <a:rPr lang="en-US" sz="1600" dirty="0" err="1"/>
              <a:t>System.out.println</a:t>
            </a:r>
            <a:r>
              <a:rPr lang="en-US" sz="1600" dirty="0"/>
              <a:t>("Mouse clicked");</a:t>
            </a:r>
          </a:p>
          <a:p>
            <a:pPr marL="0" indent="0">
              <a:buNone/>
            </a:pPr>
            <a:r>
              <a:rPr lang="en-US" sz="1600" dirty="0"/>
              <a:t>}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D04CF07-847C-F4CE-964A-5B7304AA63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4419499"/>
              </p:ext>
            </p:extLst>
          </p:nvPr>
        </p:nvGraphicFramePr>
        <p:xfrm>
          <a:off x="838200" y="3777225"/>
          <a:ext cx="8182232" cy="2194560"/>
        </p:xfrm>
        <a:graphic>
          <a:graphicData uri="http://schemas.openxmlformats.org/drawingml/2006/table">
            <a:tbl>
              <a:tblPr/>
              <a:tblGrid>
                <a:gridCol w="4091116">
                  <a:extLst>
                    <a:ext uri="{9D8B030D-6E8A-4147-A177-3AD203B41FA5}">
                      <a16:colId xmlns:a16="http://schemas.microsoft.com/office/drawing/2014/main" val="689329864"/>
                    </a:ext>
                  </a:extLst>
                </a:gridCol>
                <a:gridCol w="4091116">
                  <a:extLst>
                    <a:ext uri="{9D8B030D-6E8A-4147-A177-3AD203B41FA5}">
                      <a16:colId xmlns:a16="http://schemas.microsoft.com/office/drawing/2014/main" val="417905945"/>
                    </a:ext>
                  </a:extLst>
                </a:gridCol>
              </a:tblGrid>
              <a:tr h="3466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Method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2424665"/>
                  </a:ext>
                </a:extLst>
              </a:tr>
              <a:tr h="3466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mouseClicked()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Mouse clicked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9879010"/>
                  </a:ext>
                </a:extLst>
              </a:tr>
              <a:tr h="3466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mousePressed()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Button pressed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5219704"/>
                  </a:ext>
                </a:extLst>
              </a:tr>
              <a:tr h="3466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mouseReleased</a:t>
                      </a:r>
                      <a:r>
                        <a:rPr lang="en-US" dirty="0"/>
                        <a:t>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Button released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892486"/>
                  </a:ext>
                </a:extLst>
              </a:tr>
              <a:tr h="3466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mouseEntered</a:t>
                      </a:r>
                      <a:r>
                        <a:rPr lang="en-US" dirty="0"/>
                        <a:t>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Mouse enters component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434240"/>
                  </a:ext>
                </a:extLst>
              </a:tr>
              <a:tr h="3466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mouseExited</a:t>
                      </a:r>
                      <a:r>
                        <a:rPr lang="en-US" dirty="0"/>
                        <a:t>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Mouse leaves component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7631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80763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D2DAC-304B-F5DE-405E-CAE0BC310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Windows Events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7C6D6-613F-83E5-B6C1-57558DF6FF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US" dirty="0"/>
              <a:t>Window events occur when: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Window opens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Window closes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Window minimizes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Window activates </a:t>
            </a:r>
          </a:p>
          <a:p>
            <a:pPr>
              <a:buNone/>
            </a:pPr>
            <a:r>
              <a:rPr lang="en-US" dirty="0"/>
              <a:t>Methods: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>
                <a:latin typeface="Courier New" panose="02070309020205020404" pitchFamily="49" charset="0"/>
              </a:rPr>
              <a:t>windowOpened</a:t>
            </a:r>
            <a:r>
              <a:rPr lang="en-US" dirty="0">
                <a:latin typeface="Courier New" panose="02070309020205020404" pitchFamily="49" charset="0"/>
              </a:rPr>
              <a:t>()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>
                <a:latin typeface="Courier New" panose="02070309020205020404" pitchFamily="49" charset="0"/>
              </a:rPr>
              <a:t>windowClosing</a:t>
            </a:r>
            <a:r>
              <a:rPr lang="en-US" dirty="0">
                <a:latin typeface="Courier New" panose="02070309020205020404" pitchFamily="49" charset="0"/>
              </a:rPr>
              <a:t>()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>
                <a:latin typeface="Courier New" panose="02070309020205020404" pitchFamily="49" charset="0"/>
              </a:rPr>
              <a:t>windowClosed</a:t>
            </a:r>
            <a:r>
              <a:rPr lang="en-US" dirty="0">
                <a:latin typeface="Courier New" panose="02070309020205020404" pitchFamily="49" charset="0"/>
              </a:rPr>
              <a:t>()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>
                <a:latin typeface="Courier New" panose="02070309020205020404" pitchFamily="49" charset="0"/>
              </a:rPr>
              <a:t>windowActivated</a:t>
            </a:r>
            <a:r>
              <a:rPr lang="en-US" dirty="0">
                <a:latin typeface="Courier New" panose="02070309020205020404" pitchFamily="49" charset="0"/>
              </a:rPr>
              <a:t>()</a:t>
            </a:r>
            <a:r>
              <a:rPr lang="en-US" dirty="0"/>
              <a:t> </a:t>
            </a:r>
          </a:p>
          <a:p>
            <a:pPr>
              <a:buNone/>
            </a:pPr>
            <a:r>
              <a:rPr lang="en-US" dirty="0"/>
              <a:t>Example: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public void </a:t>
            </a:r>
            <a:r>
              <a:rPr lang="en-US" dirty="0" err="1">
                <a:latin typeface="Courier New" panose="02070309020205020404" pitchFamily="49" charset="0"/>
              </a:rPr>
              <a:t>windowClosing</a:t>
            </a:r>
            <a:r>
              <a:rPr lang="en-US" dirty="0">
                <a:latin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</a:rPr>
              <a:t>WindowEvent</a:t>
            </a:r>
            <a:r>
              <a:rPr lang="en-US" dirty="0">
                <a:latin typeface="Courier New" panose="02070309020205020404" pitchFamily="49" charset="0"/>
              </a:rPr>
              <a:t> e) {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</a:rPr>
              <a:t>System.exit</a:t>
            </a:r>
            <a:r>
              <a:rPr lang="en-US" dirty="0">
                <a:latin typeface="Courier New" panose="02070309020205020404" pitchFamily="49" charset="0"/>
              </a:rPr>
              <a:t>(0);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19865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FE075-FFAB-C6E7-F87A-AECABF148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Item Events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A27EED-F9BD-8715-4D93-2BA5858C14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dirty="0"/>
              <a:t>Item events occur when selecting: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Checkbox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Choice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List </a:t>
            </a:r>
          </a:p>
          <a:p>
            <a:pPr>
              <a:buNone/>
            </a:pPr>
            <a:r>
              <a:rPr lang="en-US" dirty="0"/>
              <a:t>Listener: </a:t>
            </a:r>
            <a:r>
              <a:rPr lang="en-US" dirty="0" err="1">
                <a:latin typeface="Courier New" panose="02070309020205020404" pitchFamily="49" charset="0"/>
              </a:rPr>
              <a:t>ItemListener</a:t>
            </a:r>
            <a:endParaRPr lang="en-US" dirty="0"/>
          </a:p>
          <a:p>
            <a:pPr>
              <a:buNone/>
            </a:pPr>
            <a:r>
              <a:rPr lang="en-US" dirty="0"/>
              <a:t>Method:</a:t>
            </a:r>
          </a:p>
          <a:p>
            <a:pPr marL="0" indent="0">
              <a:buNone/>
            </a:pPr>
            <a:r>
              <a:rPr lang="en-US" dirty="0" err="1"/>
              <a:t>itemStateChanged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pPr marL="0" indent="0">
              <a:buNone/>
            </a:pPr>
            <a:r>
              <a:rPr lang="en-US" dirty="0"/>
              <a:t>public void </a:t>
            </a:r>
            <a:r>
              <a:rPr lang="en-US" dirty="0" err="1"/>
              <a:t>itemStateChanged</a:t>
            </a:r>
            <a:r>
              <a:rPr lang="en-US" dirty="0"/>
              <a:t>(</a:t>
            </a:r>
            <a:r>
              <a:rPr lang="en-US" dirty="0" err="1"/>
              <a:t>ItemEvent</a:t>
            </a:r>
            <a:r>
              <a:rPr lang="en-US" dirty="0"/>
              <a:t> e) {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System.out.println</a:t>
            </a:r>
            <a:r>
              <a:rPr lang="en-US" dirty="0"/>
              <a:t>("Item selected");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092246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F8AA2-5B51-E548-9AFE-5FEA1A0CE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693A5A2-9E1E-43C2-BB12-2F2BC26EF9E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904014"/>
          <a:ext cx="10515600" cy="219456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405587175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8380753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Concept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87655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Event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User action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24142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Event Source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Component generating event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14286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Event Object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Contains event info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39586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Listener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Handles event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5979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Adapter Class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Simplifies listener implementation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42654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771093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26</TotalTime>
  <Words>709</Words>
  <Application>Microsoft Office PowerPoint</Application>
  <PresentationFormat>Widescreen</PresentationFormat>
  <Paragraphs>178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Courier New</vt:lpstr>
      <vt:lpstr>Retrospect</vt:lpstr>
      <vt:lpstr>Event Handling</vt:lpstr>
      <vt:lpstr>Event Handling </vt:lpstr>
      <vt:lpstr>Delegation Event Model (DEM) </vt:lpstr>
      <vt:lpstr>Example</vt:lpstr>
      <vt:lpstr>Listener Interfaces</vt:lpstr>
      <vt:lpstr>Example</vt:lpstr>
      <vt:lpstr>Using Action Commands</vt:lpstr>
      <vt:lpstr>Adapter Classes</vt:lpstr>
      <vt:lpstr>Example:</vt:lpstr>
      <vt:lpstr>Adapter Classes</vt:lpstr>
      <vt:lpstr>Handling Action Events</vt:lpstr>
      <vt:lpstr>Example</vt:lpstr>
      <vt:lpstr>Key Events</vt:lpstr>
      <vt:lpstr>Focus Events</vt:lpstr>
      <vt:lpstr>Mouse Events</vt:lpstr>
      <vt:lpstr>Mouse Events</vt:lpstr>
      <vt:lpstr>Windows Events</vt:lpstr>
      <vt:lpstr>Item Events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Ashok Bhattarai</dc:creator>
  <cp:lastModifiedBy>Ashok Bhattarai</cp:lastModifiedBy>
  <cp:revision>2</cp:revision>
  <dcterms:created xsi:type="dcterms:W3CDTF">2026-04-23T17:13:05Z</dcterms:created>
  <dcterms:modified xsi:type="dcterms:W3CDTF">2026-04-23T17:39:44Z</dcterms:modified>
</cp:coreProperties>
</file>