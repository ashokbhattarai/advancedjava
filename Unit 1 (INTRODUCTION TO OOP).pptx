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8" r:id="rId3"/>
    <p:sldId id="292" r:id="rId4"/>
    <p:sldId id="291" r:id="rId5"/>
    <p:sldId id="257" r:id="rId6"/>
    <p:sldId id="275" r:id="rId7"/>
    <p:sldId id="259" r:id="rId8"/>
    <p:sldId id="276" r:id="rId9"/>
    <p:sldId id="277" r:id="rId10"/>
    <p:sldId id="278" r:id="rId11"/>
    <p:sldId id="279" r:id="rId12"/>
    <p:sldId id="260" r:id="rId13"/>
    <p:sldId id="288" r:id="rId14"/>
    <p:sldId id="289" r:id="rId15"/>
    <p:sldId id="290" r:id="rId16"/>
    <p:sldId id="261" r:id="rId17"/>
    <p:sldId id="280" r:id="rId18"/>
    <p:sldId id="281" r:id="rId19"/>
    <p:sldId id="262" r:id="rId20"/>
    <p:sldId id="269" r:id="rId21"/>
    <p:sldId id="274" r:id="rId22"/>
    <p:sldId id="272" r:id="rId23"/>
    <p:sldId id="273" r:id="rId24"/>
    <p:sldId id="263" r:id="rId25"/>
    <p:sldId id="270" r:id="rId26"/>
    <p:sldId id="271" r:id="rId27"/>
    <p:sldId id="264" r:id="rId28"/>
    <p:sldId id="295" r:id="rId29"/>
    <p:sldId id="296" r:id="rId30"/>
    <p:sldId id="297" r:id="rId31"/>
    <p:sldId id="265" r:id="rId32"/>
    <p:sldId id="293" r:id="rId33"/>
    <p:sldId id="266" r:id="rId34"/>
    <p:sldId id="294" r:id="rId35"/>
    <p:sldId id="267" r:id="rId36"/>
    <p:sldId id="282" r:id="rId37"/>
    <p:sldId id="283" r:id="rId38"/>
    <p:sldId id="284" r:id="rId39"/>
    <p:sldId id="285" r:id="rId40"/>
    <p:sldId id="287" r:id="rId41"/>
    <p:sldId id="286" r:id="rId42"/>
    <p:sldId id="268" r:id="rId4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98" d="100"/>
          <a:sy n="98" d="100"/>
        </p:scale>
        <p:origin x="110"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AEA9C1F-999C-4483-A575-49C289147A4A}" type="datetimeFigureOut">
              <a:rPr lang="en-US" smtClean="0"/>
              <a:t>3/11/2026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CB7923-9E25-4DFF-8FEE-10FA2443C3B6}"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468965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AEA9C1F-999C-4483-A575-49C289147A4A}" type="datetimeFigureOut">
              <a:rPr lang="en-US" smtClean="0"/>
              <a:t>3/11/2026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CB7923-9E25-4DFF-8FEE-10FA2443C3B6}" type="slidenum">
              <a:rPr lang="en-US" smtClean="0"/>
              <a:t>‹#›</a:t>
            </a:fld>
            <a:endParaRPr lang="en-US"/>
          </a:p>
        </p:txBody>
      </p:sp>
    </p:spTree>
    <p:extLst>
      <p:ext uri="{BB962C8B-B14F-4D97-AF65-F5344CB8AC3E}">
        <p14:creationId xmlns:p14="http://schemas.microsoft.com/office/powerpoint/2010/main" val="22716429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AEA9C1F-999C-4483-A575-49C289147A4A}" type="datetimeFigureOut">
              <a:rPr lang="en-US" smtClean="0"/>
              <a:t>3/11/2026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CB7923-9E25-4DFF-8FEE-10FA2443C3B6}"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858003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AEA9C1F-999C-4483-A575-49C289147A4A}" type="datetimeFigureOut">
              <a:rPr lang="en-US" smtClean="0"/>
              <a:t>3/11/2026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ECB7923-9E25-4DFF-8FEE-10FA2443C3B6}" type="slidenum">
              <a:rPr lang="en-US" smtClean="0"/>
              <a:t>‹#›</a:t>
            </a:fld>
            <a:endParaRPr lang="en-US"/>
          </a:p>
        </p:txBody>
      </p:sp>
    </p:spTree>
    <p:extLst>
      <p:ext uri="{BB962C8B-B14F-4D97-AF65-F5344CB8AC3E}">
        <p14:creationId xmlns:p14="http://schemas.microsoft.com/office/powerpoint/2010/main" val="22050713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AEA9C1F-999C-4483-A575-49C289147A4A}" type="datetimeFigureOut">
              <a:rPr lang="en-US" smtClean="0"/>
              <a:t>3/11/2026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ECB7923-9E25-4DFF-8FEE-10FA2443C3B6}" type="slidenum">
              <a:rPr lang="en-US" smtClean="0"/>
              <a:t>‹#›</a:t>
            </a:fld>
            <a:endParaRPr lang="en-US"/>
          </a:p>
        </p:txBody>
      </p:sp>
    </p:spTree>
    <p:extLst>
      <p:ext uri="{BB962C8B-B14F-4D97-AF65-F5344CB8AC3E}">
        <p14:creationId xmlns:p14="http://schemas.microsoft.com/office/powerpoint/2010/main" val="39207772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AEA9C1F-999C-4483-A575-49C289147A4A}" type="datetimeFigureOut">
              <a:rPr lang="en-US" smtClean="0"/>
              <a:t>3/11/2026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ECB7923-9E25-4DFF-8FEE-10FA2443C3B6}" type="slidenum">
              <a:rPr lang="en-US" smtClean="0"/>
              <a:t>‹#›</a:t>
            </a:fld>
            <a:endParaRPr lang="en-US"/>
          </a:p>
        </p:txBody>
      </p:sp>
    </p:spTree>
    <p:extLst>
      <p:ext uri="{BB962C8B-B14F-4D97-AF65-F5344CB8AC3E}">
        <p14:creationId xmlns:p14="http://schemas.microsoft.com/office/powerpoint/2010/main" val="21574889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2AEA9C1F-999C-4483-A575-49C289147A4A}" type="datetimeFigureOut">
              <a:rPr lang="en-US" smtClean="0"/>
              <a:t>3/11/2026</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BECB7923-9E25-4DFF-8FEE-10FA2443C3B6}" type="slidenum">
              <a:rPr lang="en-US" smtClean="0"/>
              <a:t>‹#›</a:t>
            </a:fld>
            <a:endParaRPr lang="en-US"/>
          </a:p>
        </p:txBody>
      </p:sp>
    </p:spTree>
    <p:extLst>
      <p:ext uri="{BB962C8B-B14F-4D97-AF65-F5344CB8AC3E}">
        <p14:creationId xmlns:p14="http://schemas.microsoft.com/office/powerpoint/2010/main" val="23901328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2AEA9C1F-999C-4483-A575-49C289147A4A}" type="datetimeFigureOut">
              <a:rPr lang="en-US" smtClean="0"/>
              <a:t>3/11/2026</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BECB7923-9E25-4DFF-8FEE-10FA2443C3B6}" type="slidenum">
              <a:rPr lang="en-US" smtClean="0"/>
              <a:t>‹#›</a:t>
            </a:fld>
            <a:endParaRPr lang="en-US"/>
          </a:p>
        </p:txBody>
      </p:sp>
    </p:spTree>
    <p:extLst>
      <p:ext uri="{BB962C8B-B14F-4D97-AF65-F5344CB8AC3E}">
        <p14:creationId xmlns:p14="http://schemas.microsoft.com/office/powerpoint/2010/main" val="17581350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AEA9C1F-999C-4483-A575-49C289147A4A}" type="datetimeFigureOut">
              <a:rPr lang="en-US" smtClean="0"/>
              <a:t>3/11/2026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ECB7923-9E25-4DFF-8FEE-10FA2443C3B6}" type="slidenum">
              <a:rPr lang="en-US" smtClean="0"/>
              <a:t>‹#›</a:t>
            </a:fld>
            <a:endParaRPr lang="en-US"/>
          </a:p>
        </p:txBody>
      </p:sp>
    </p:spTree>
    <p:extLst>
      <p:ext uri="{BB962C8B-B14F-4D97-AF65-F5344CB8AC3E}">
        <p14:creationId xmlns:p14="http://schemas.microsoft.com/office/powerpoint/2010/main" val="32799240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AEA9C1F-999C-4483-A575-49C289147A4A}" type="datetimeFigureOut">
              <a:rPr lang="en-US" smtClean="0"/>
              <a:t>3/11/2026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CB7923-9E25-4DFF-8FEE-10FA2443C3B6}" type="slidenum">
              <a:rPr lang="en-US" smtClean="0"/>
              <a:t>‹#›</a:t>
            </a:fld>
            <a:endParaRPr lang="en-US"/>
          </a:p>
        </p:txBody>
      </p:sp>
    </p:spTree>
    <p:extLst>
      <p:ext uri="{BB962C8B-B14F-4D97-AF65-F5344CB8AC3E}">
        <p14:creationId xmlns:p14="http://schemas.microsoft.com/office/powerpoint/2010/main" val="36304196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AEA9C1F-999C-4483-A575-49C289147A4A}" type="datetimeFigureOut">
              <a:rPr lang="en-US" smtClean="0"/>
              <a:t>3/11/2026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CB7923-9E25-4DFF-8FEE-10FA2443C3B6}" type="slidenum">
              <a:rPr lang="en-US" smtClean="0"/>
              <a:t>‹#›</a:t>
            </a:fld>
            <a:endParaRPr lang="en-US"/>
          </a:p>
        </p:txBody>
      </p:sp>
    </p:spTree>
    <p:extLst>
      <p:ext uri="{BB962C8B-B14F-4D97-AF65-F5344CB8AC3E}">
        <p14:creationId xmlns:p14="http://schemas.microsoft.com/office/powerpoint/2010/main" val="30524403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2AEA9C1F-999C-4483-A575-49C289147A4A}" type="datetimeFigureOut">
              <a:rPr lang="en-US" smtClean="0"/>
              <a:t>3/11/2026</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BECB7923-9E25-4DFF-8FEE-10FA2443C3B6}"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3050281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INTRODUCTION TO OOP</a:t>
            </a:r>
          </a:p>
        </p:txBody>
      </p:sp>
    </p:spTree>
    <p:extLst>
      <p:ext uri="{BB962C8B-B14F-4D97-AF65-F5344CB8AC3E}">
        <p14:creationId xmlns:p14="http://schemas.microsoft.com/office/powerpoint/2010/main" val="77238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Classes and Objects</a:t>
            </a:r>
          </a:p>
        </p:txBody>
      </p:sp>
      <p:sp>
        <p:nvSpPr>
          <p:cNvPr id="3" name="Content Placeholder 2"/>
          <p:cNvSpPr>
            <a:spLocks noGrp="1"/>
          </p:cNvSpPr>
          <p:nvPr>
            <p:ph idx="1"/>
          </p:nvPr>
        </p:nvSpPr>
        <p:spPr>
          <a:xfrm>
            <a:off x="838200" y="1505243"/>
            <a:ext cx="10515600" cy="4671720"/>
          </a:xfrm>
        </p:spPr>
        <p:txBody>
          <a:bodyPr>
            <a:normAutofit/>
          </a:bodyPr>
          <a:lstStyle/>
          <a:p>
            <a:pPr marL="0" indent="0" algn="just">
              <a:buNone/>
            </a:pPr>
            <a:endParaRPr lang="en-US" sz="2000" dirty="0"/>
          </a:p>
          <a:p>
            <a:pPr algn="just"/>
            <a:r>
              <a:rPr lang="en-US" sz="2000" dirty="0"/>
              <a:t>A class can contain any of the following variable types.</a:t>
            </a:r>
          </a:p>
          <a:p>
            <a:pPr lvl="1" algn="just"/>
            <a:r>
              <a:rPr lang="en-US" sz="2000" b="1" dirty="0"/>
              <a:t>Local variables</a:t>
            </a:r>
            <a:r>
              <a:rPr lang="en-US" sz="2000" dirty="0"/>
              <a:t> − Variables defined inside methods, constructors or blocks are called local variables. The variable will be declared and initialized within the method and the variable will be destroyed when the method has completed.</a:t>
            </a:r>
          </a:p>
          <a:p>
            <a:pPr lvl="1" algn="just"/>
            <a:r>
              <a:rPr lang="en-US" sz="2000" b="1" dirty="0"/>
              <a:t>Instance variables</a:t>
            </a:r>
            <a:r>
              <a:rPr lang="en-US" sz="2000" dirty="0"/>
              <a:t> − Instance variables are variables within a class but outside any method. These variables are initialized when the class is instantiated. Instance variables can be accessed from inside any method, constructor or blocks of that particular class.</a:t>
            </a:r>
          </a:p>
          <a:p>
            <a:pPr lvl="1" algn="just"/>
            <a:r>
              <a:rPr lang="en-US" sz="2000" b="1" dirty="0"/>
              <a:t>Class variables</a:t>
            </a:r>
            <a:r>
              <a:rPr lang="en-US" sz="2000" dirty="0"/>
              <a:t> − Class variables are variables declared within a class, outside any method, with the static keyword.</a:t>
            </a:r>
          </a:p>
          <a:p>
            <a:pPr algn="just"/>
            <a:endParaRPr lang="en-US" sz="2000" dirty="0"/>
          </a:p>
        </p:txBody>
      </p:sp>
    </p:spTree>
    <p:extLst>
      <p:ext uri="{BB962C8B-B14F-4D97-AF65-F5344CB8AC3E}">
        <p14:creationId xmlns:p14="http://schemas.microsoft.com/office/powerpoint/2010/main" val="284772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Classes</a:t>
            </a:r>
          </a:p>
        </p:txBody>
      </p:sp>
      <p:sp>
        <p:nvSpPr>
          <p:cNvPr id="3" name="Content Placeholder 2"/>
          <p:cNvSpPr>
            <a:spLocks noGrp="1"/>
          </p:cNvSpPr>
          <p:nvPr>
            <p:ph idx="1"/>
          </p:nvPr>
        </p:nvSpPr>
        <p:spPr>
          <a:xfrm>
            <a:off x="838200" y="1494971"/>
            <a:ext cx="10515600" cy="4681992"/>
          </a:xfrm>
        </p:spPr>
        <p:txBody>
          <a:bodyPr>
            <a:normAutofit/>
          </a:bodyPr>
          <a:lstStyle/>
          <a:p>
            <a:pPr algn="just" fontAlgn="base"/>
            <a:r>
              <a:rPr lang="en-US" sz="2000" dirty="0"/>
              <a:t>A class is a user defined blueprint or prototype from which objects are created.  It represents the set of properties or methods that are common to all objects of one type. In general, class declarations can include these components, in order: </a:t>
            </a:r>
          </a:p>
          <a:p>
            <a:pPr algn="just" fontAlgn="base"/>
            <a:endParaRPr lang="en-US" sz="2000" dirty="0"/>
          </a:p>
          <a:p>
            <a:pPr lvl="1" algn="just" fontAlgn="base"/>
            <a:r>
              <a:rPr lang="en-US" sz="2000" b="1" dirty="0"/>
              <a:t>Modifiers</a:t>
            </a:r>
            <a:r>
              <a:rPr lang="en-US" sz="2000" dirty="0"/>
              <a:t>: A class can be public or has default access.</a:t>
            </a:r>
          </a:p>
          <a:p>
            <a:pPr lvl="1" algn="just" fontAlgn="base"/>
            <a:r>
              <a:rPr lang="en-US" sz="2000" b="1" dirty="0"/>
              <a:t>class keyword: </a:t>
            </a:r>
            <a:r>
              <a:rPr lang="en-US" sz="2000" dirty="0"/>
              <a:t>class keyword is used to create a class.</a:t>
            </a:r>
          </a:p>
          <a:p>
            <a:pPr lvl="1" algn="just" fontAlgn="base"/>
            <a:r>
              <a:rPr lang="en-US" sz="2000" b="1" dirty="0"/>
              <a:t>Class name:</a:t>
            </a:r>
            <a:r>
              <a:rPr lang="en-US" sz="2000" dirty="0"/>
              <a:t> The name should begin with an initial letter (capitalized by convention).</a:t>
            </a:r>
          </a:p>
          <a:p>
            <a:pPr lvl="1" algn="just" fontAlgn="base"/>
            <a:r>
              <a:rPr lang="en-US" sz="2000" b="1" dirty="0"/>
              <a:t>Superclass(if any):</a:t>
            </a:r>
            <a:r>
              <a:rPr lang="en-US" sz="2000" dirty="0"/>
              <a:t> The name of the class’s parent (superclass), if any, preceded by the keyword extends. A class can only extend (subclass) one parent.</a:t>
            </a:r>
          </a:p>
          <a:p>
            <a:pPr lvl="1" algn="just" fontAlgn="base"/>
            <a:r>
              <a:rPr lang="en-US" sz="2000" b="1" dirty="0"/>
              <a:t>Interfaces(if any):</a:t>
            </a:r>
            <a:r>
              <a:rPr lang="en-US" sz="2000" dirty="0"/>
              <a:t> A comma-separated list of interfaces implemented by the class, if any, preceded by the keyword implements. A class can implement more than one interface.</a:t>
            </a:r>
          </a:p>
          <a:p>
            <a:pPr lvl="1" algn="just" fontAlgn="base"/>
            <a:r>
              <a:rPr lang="en-US" sz="2000" b="1" dirty="0"/>
              <a:t>Body:</a:t>
            </a:r>
            <a:r>
              <a:rPr lang="en-US" sz="2000" dirty="0"/>
              <a:t> The class body surrounded by braces, { }.</a:t>
            </a:r>
          </a:p>
        </p:txBody>
      </p:sp>
    </p:spTree>
    <p:extLst>
      <p:ext uri="{BB962C8B-B14F-4D97-AF65-F5344CB8AC3E}">
        <p14:creationId xmlns:p14="http://schemas.microsoft.com/office/powerpoint/2010/main" val="39392502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b="1" dirty="0"/>
              <a:t>Object</a:t>
            </a:r>
          </a:p>
        </p:txBody>
      </p:sp>
      <p:sp>
        <p:nvSpPr>
          <p:cNvPr id="3" name="Content Placeholder 2"/>
          <p:cNvSpPr>
            <a:spLocks noGrp="1"/>
          </p:cNvSpPr>
          <p:nvPr>
            <p:ph idx="1"/>
          </p:nvPr>
        </p:nvSpPr>
        <p:spPr/>
        <p:txBody>
          <a:bodyPr>
            <a:normAutofit/>
          </a:bodyPr>
          <a:lstStyle/>
          <a:p>
            <a:pPr fontAlgn="base"/>
            <a:r>
              <a:rPr lang="en-US" sz="2000" dirty="0"/>
              <a:t>It is a basic unit of Object-Oriented Programming and represents the real life entities.  A typical Java program creates many objects, which as you know, interact by invoking methods. An object consists of : </a:t>
            </a:r>
          </a:p>
          <a:p>
            <a:pPr lvl="1" fontAlgn="base"/>
            <a:r>
              <a:rPr lang="en-US" sz="2000" b="1" dirty="0"/>
              <a:t>State</a:t>
            </a:r>
            <a:r>
              <a:rPr lang="en-US" sz="2000" dirty="0"/>
              <a:t>: It is represented by attributes of an object. It also reflects the properties of an object.</a:t>
            </a:r>
          </a:p>
          <a:p>
            <a:pPr lvl="1" fontAlgn="base"/>
            <a:r>
              <a:rPr lang="en-US" sz="2000" b="1" dirty="0"/>
              <a:t>Behavior</a:t>
            </a:r>
            <a:r>
              <a:rPr lang="en-US" sz="2000" dirty="0"/>
              <a:t>: It is represented by methods of an object. It also reflects the response of an object with other objects.</a:t>
            </a:r>
          </a:p>
          <a:p>
            <a:pPr lvl="1" fontAlgn="base"/>
            <a:r>
              <a:rPr lang="en-US" sz="2000" b="1" dirty="0"/>
              <a:t>Identity</a:t>
            </a:r>
            <a:r>
              <a:rPr lang="en-US" sz="2000" dirty="0"/>
              <a:t>: It gives a unique name to an object and enables one object to interact with other objects.</a:t>
            </a:r>
          </a:p>
        </p:txBody>
      </p:sp>
    </p:spTree>
    <p:extLst>
      <p:ext uri="{BB962C8B-B14F-4D97-AF65-F5344CB8AC3E}">
        <p14:creationId xmlns:p14="http://schemas.microsoft.com/office/powerpoint/2010/main" val="34934920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838200" y="365126"/>
            <a:ext cx="10515600" cy="793974"/>
          </a:xfrm>
        </p:spPr>
        <p:txBody>
          <a:bodyPr>
            <a:normAutofit fontScale="90000"/>
          </a:bodyPr>
          <a:lstStyle/>
          <a:p>
            <a:r>
              <a:rPr lang="en-US" b="1" dirty="0"/>
              <a:t>Structured and Object Oriented Programming</a:t>
            </a:r>
            <a:endParaRPr lang="en-US" dirty="0"/>
          </a:p>
        </p:txBody>
      </p:sp>
      <p:graphicFrame>
        <p:nvGraphicFramePr>
          <p:cNvPr id="8" name="Content Placeholder 7"/>
          <p:cNvGraphicFramePr>
            <a:graphicFrameLocks noGrp="1"/>
          </p:cNvGraphicFramePr>
          <p:nvPr>
            <p:ph idx="1"/>
            <p:extLst>
              <p:ext uri="{D42A27DB-BD31-4B8C-83A1-F6EECF244321}">
                <p14:modId xmlns:p14="http://schemas.microsoft.com/office/powerpoint/2010/main" val="1547727277"/>
              </p:ext>
            </p:extLst>
          </p:nvPr>
        </p:nvGraphicFramePr>
        <p:xfrm>
          <a:off x="838200" y="1262131"/>
          <a:ext cx="10515600" cy="5607740"/>
        </p:xfrm>
        <a:graphic>
          <a:graphicData uri="http://schemas.openxmlformats.org/drawingml/2006/table">
            <a:tbl>
              <a:tblPr/>
              <a:tblGrid>
                <a:gridCol w="5257800">
                  <a:extLst>
                    <a:ext uri="{9D8B030D-6E8A-4147-A177-3AD203B41FA5}">
                      <a16:colId xmlns:a16="http://schemas.microsoft.com/office/drawing/2014/main" val="20000"/>
                    </a:ext>
                  </a:extLst>
                </a:gridCol>
                <a:gridCol w="5257800">
                  <a:extLst>
                    <a:ext uri="{9D8B030D-6E8A-4147-A177-3AD203B41FA5}">
                      <a16:colId xmlns:a16="http://schemas.microsoft.com/office/drawing/2014/main" val="20001"/>
                    </a:ext>
                  </a:extLst>
                </a:gridCol>
              </a:tblGrid>
              <a:tr h="585882">
                <a:tc>
                  <a:txBody>
                    <a:bodyPr/>
                    <a:lstStyle/>
                    <a:p>
                      <a:pPr algn="just" fontAlgn="base"/>
                      <a:r>
                        <a:rPr lang="en-US" sz="2800" b="1" dirty="0">
                          <a:solidFill>
                            <a:srgbClr val="00B0F0"/>
                          </a:solidFill>
                          <a:effectLst/>
                        </a:rPr>
                        <a:t>Structured Programming  </a:t>
                      </a:r>
                    </a:p>
                  </a:txBody>
                  <a:tcPr marL="95250" marR="95250" marT="133350" marB="133350" anchor="ctr">
                    <a:lnL>
                      <a:noFill/>
                    </a:lnL>
                    <a:lnR>
                      <a:noFill/>
                    </a:lnR>
                    <a:lnT>
                      <a:noFill/>
                    </a:lnT>
                    <a:lnB>
                      <a:noFill/>
                    </a:lnB>
                    <a:solidFill>
                      <a:schemeClr val="bg1">
                        <a:lumMod val="95000"/>
                      </a:schemeClr>
                    </a:solidFill>
                  </a:tcPr>
                </a:tc>
                <a:tc>
                  <a:txBody>
                    <a:bodyPr/>
                    <a:lstStyle/>
                    <a:p>
                      <a:pPr algn="just" fontAlgn="base"/>
                      <a:r>
                        <a:rPr lang="en-US" sz="2800" b="1" dirty="0">
                          <a:solidFill>
                            <a:srgbClr val="00B0F0"/>
                          </a:solidFill>
                          <a:effectLst/>
                        </a:rPr>
                        <a:t>Object-Oriented Programming</a:t>
                      </a:r>
                    </a:p>
                  </a:txBody>
                  <a:tcPr marL="95250" marR="95250" marT="133350" marB="133350" anchor="ctr">
                    <a:lnL>
                      <a:noFill/>
                    </a:lnL>
                    <a:lnR>
                      <a:noFill/>
                    </a:lnR>
                    <a:lnT>
                      <a:noFill/>
                    </a:lnT>
                    <a:lnB>
                      <a:noFill/>
                    </a:lnB>
                    <a:solidFill>
                      <a:schemeClr val="bg1">
                        <a:lumMod val="95000"/>
                      </a:schemeClr>
                    </a:solidFill>
                  </a:tcPr>
                </a:tc>
                <a:extLst>
                  <a:ext uri="{0D108BD9-81ED-4DB2-BD59-A6C34878D82A}">
                    <a16:rowId xmlns:a16="http://schemas.microsoft.com/office/drawing/2014/main" val="10000"/>
                  </a:ext>
                </a:extLst>
              </a:tr>
              <a:tr h="585882">
                <a:tc>
                  <a:txBody>
                    <a:bodyPr/>
                    <a:lstStyle/>
                    <a:p>
                      <a:pPr algn="just" fontAlgn="base"/>
                      <a:r>
                        <a:rPr lang="en-US" sz="1800" b="1" dirty="0">
                          <a:effectLst/>
                        </a:rPr>
                        <a:t>It is a subset of procedural programming. </a:t>
                      </a:r>
                    </a:p>
                  </a:txBody>
                  <a:tcPr marL="95250" marR="95250" marT="133350" marB="133350" anchor="ctr">
                    <a:lnL>
                      <a:noFill/>
                    </a:lnL>
                    <a:lnR>
                      <a:noFill/>
                    </a:lnR>
                    <a:lnT>
                      <a:noFill/>
                    </a:lnT>
                    <a:lnB>
                      <a:noFill/>
                    </a:lnB>
                    <a:solidFill>
                      <a:schemeClr val="bg1">
                        <a:lumMod val="95000"/>
                      </a:schemeClr>
                    </a:solidFill>
                  </a:tcPr>
                </a:tc>
                <a:tc>
                  <a:txBody>
                    <a:bodyPr/>
                    <a:lstStyle/>
                    <a:p>
                      <a:pPr algn="just" fontAlgn="base"/>
                      <a:r>
                        <a:rPr lang="en-US" sz="1800" b="1">
                          <a:effectLst/>
                        </a:rPr>
                        <a:t>It relies on concept of objects that contain data and code. </a:t>
                      </a:r>
                    </a:p>
                  </a:txBody>
                  <a:tcPr marL="95250" marR="95250" marT="133350" marB="133350" anchor="ctr">
                    <a:lnL>
                      <a:noFill/>
                    </a:lnL>
                    <a:lnR>
                      <a:noFill/>
                    </a:lnR>
                    <a:lnT>
                      <a:noFill/>
                    </a:lnT>
                    <a:lnB>
                      <a:noFill/>
                    </a:lnB>
                    <a:solidFill>
                      <a:schemeClr val="bg1">
                        <a:lumMod val="95000"/>
                      </a:schemeClr>
                    </a:solidFill>
                  </a:tcPr>
                </a:tc>
                <a:extLst>
                  <a:ext uri="{0D108BD9-81ED-4DB2-BD59-A6C34878D82A}">
                    <a16:rowId xmlns:a16="http://schemas.microsoft.com/office/drawing/2014/main" val="10001"/>
                  </a:ext>
                </a:extLst>
              </a:tr>
              <a:tr h="585882">
                <a:tc>
                  <a:txBody>
                    <a:bodyPr/>
                    <a:lstStyle/>
                    <a:p>
                      <a:pPr algn="just" fontAlgn="base"/>
                      <a:r>
                        <a:rPr lang="en-US" sz="1800" b="1" dirty="0">
                          <a:effectLst/>
                        </a:rPr>
                        <a:t>Programs are divided into small programs or functions. </a:t>
                      </a:r>
                    </a:p>
                  </a:txBody>
                  <a:tcPr marL="95250" marR="95250" marT="133350" marB="133350" anchor="ctr">
                    <a:lnL>
                      <a:noFill/>
                    </a:lnL>
                    <a:lnR>
                      <a:noFill/>
                    </a:lnR>
                    <a:lnT>
                      <a:noFill/>
                    </a:lnT>
                    <a:lnB>
                      <a:noFill/>
                    </a:lnB>
                    <a:solidFill>
                      <a:schemeClr val="bg1">
                        <a:lumMod val="95000"/>
                      </a:schemeClr>
                    </a:solidFill>
                  </a:tcPr>
                </a:tc>
                <a:tc>
                  <a:txBody>
                    <a:bodyPr/>
                    <a:lstStyle/>
                    <a:p>
                      <a:pPr algn="just" fontAlgn="base"/>
                      <a:r>
                        <a:rPr lang="en-US" sz="1800" b="1">
                          <a:effectLst/>
                        </a:rPr>
                        <a:t>Programs are divided into objects or entities.  </a:t>
                      </a:r>
                    </a:p>
                  </a:txBody>
                  <a:tcPr marL="95250" marR="95250" marT="133350" marB="133350" anchor="ctr">
                    <a:lnL>
                      <a:noFill/>
                    </a:lnL>
                    <a:lnR>
                      <a:noFill/>
                    </a:lnR>
                    <a:lnT>
                      <a:noFill/>
                    </a:lnT>
                    <a:lnB>
                      <a:noFill/>
                    </a:lnB>
                    <a:solidFill>
                      <a:schemeClr val="bg1">
                        <a:lumMod val="95000"/>
                      </a:schemeClr>
                    </a:solidFill>
                  </a:tcPr>
                </a:tc>
                <a:extLst>
                  <a:ext uri="{0D108BD9-81ED-4DB2-BD59-A6C34878D82A}">
                    <a16:rowId xmlns:a16="http://schemas.microsoft.com/office/drawing/2014/main" val="10002"/>
                  </a:ext>
                </a:extLst>
              </a:tr>
              <a:tr h="830000">
                <a:tc>
                  <a:txBody>
                    <a:bodyPr/>
                    <a:lstStyle/>
                    <a:p>
                      <a:pPr algn="just" fontAlgn="base"/>
                      <a:r>
                        <a:rPr lang="en-US" sz="1800" b="1" dirty="0">
                          <a:effectLst/>
                        </a:rPr>
                        <a:t>It is all about facilitating creation of programs with readable code and reusable components.  </a:t>
                      </a:r>
                    </a:p>
                  </a:txBody>
                  <a:tcPr marL="95250" marR="95250" marT="133350" marB="133350" anchor="ctr">
                    <a:lnL>
                      <a:noFill/>
                    </a:lnL>
                    <a:lnR>
                      <a:noFill/>
                    </a:lnR>
                    <a:lnT>
                      <a:noFill/>
                    </a:lnT>
                    <a:lnB>
                      <a:noFill/>
                    </a:lnB>
                    <a:solidFill>
                      <a:schemeClr val="bg1">
                        <a:lumMod val="95000"/>
                      </a:schemeClr>
                    </a:solidFill>
                  </a:tcPr>
                </a:tc>
                <a:tc>
                  <a:txBody>
                    <a:bodyPr/>
                    <a:lstStyle/>
                    <a:p>
                      <a:pPr algn="just" fontAlgn="base"/>
                      <a:r>
                        <a:rPr lang="en-US" sz="1800" b="1">
                          <a:effectLst/>
                        </a:rPr>
                        <a:t>It is all about creating objects that usually contain both functions and data.  </a:t>
                      </a:r>
                    </a:p>
                  </a:txBody>
                  <a:tcPr marL="95250" marR="95250" marT="133350" marB="133350" anchor="ctr">
                    <a:lnL>
                      <a:noFill/>
                    </a:lnL>
                    <a:lnR>
                      <a:noFill/>
                    </a:lnR>
                    <a:lnT>
                      <a:noFill/>
                    </a:lnT>
                    <a:lnB>
                      <a:noFill/>
                    </a:lnB>
                    <a:solidFill>
                      <a:schemeClr val="bg1">
                        <a:lumMod val="95000"/>
                      </a:schemeClr>
                    </a:solidFill>
                  </a:tcPr>
                </a:tc>
                <a:extLst>
                  <a:ext uri="{0D108BD9-81ED-4DB2-BD59-A6C34878D82A}">
                    <a16:rowId xmlns:a16="http://schemas.microsoft.com/office/drawing/2014/main" val="10003"/>
                  </a:ext>
                </a:extLst>
              </a:tr>
              <a:tr h="830000">
                <a:tc>
                  <a:txBody>
                    <a:bodyPr/>
                    <a:lstStyle/>
                    <a:p>
                      <a:pPr algn="just" fontAlgn="base"/>
                      <a:r>
                        <a:rPr lang="en-US" sz="1800" b="1" dirty="0">
                          <a:effectLst/>
                        </a:rPr>
                        <a:t>Its main aim is to improve and increase quality, clarity, and development time of computer program.  </a:t>
                      </a:r>
                    </a:p>
                  </a:txBody>
                  <a:tcPr marL="95250" marR="95250" marT="133350" marB="133350" anchor="ctr">
                    <a:lnL>
                      <a:noFill/>
                    </a:lnL>
                    <a:lnR>
                      <a:noFill/>
                    </a:lnR>
                    <a:lnT>
                      <a:noFill/>
                    </a:lnT>
                    <a:lnB>
                      <a:noFill/>
                    </a:lnB>
                    <a:solidFill>
                      <a:schemeClr val="bg1">
                        <a:lumMod val="95000"/>
                      </a:schemeClr>
                    </a:solidFill>
                  </a:tcPr>
                </a:tc>
                <a:tc>
                  <a:txBody>
                    <a:bodyPr/>
                    <a:lstStyle/>
                    <a:p>
                      <a:pPr algn="just" fontAlgn="base"/>
                      <a:r>
                        <a:rPr lang="en-US" sz="1800" b="1" dirty="0">
                          <a:effectLst/>
                        </a:rPr>
                        <a:t>Its main aim is to improve and increase both quality and productivity of system analysis and design.  </a:t>
                      </a:r>
                    </a:p>
                  </a:txBody>
                  <a:tcPr marL="95250" marR="95250" marT="133350" marB="133350" anchor="ctr">
                    <a:lnL>
                      <a:noFill/>
                    </a:lnL>
                    <a:lnR>
                      <a:noFill/>
                    </a:lnR>
                    <a:lnT>
                      <a:noFill/>
                    </a:lnT>
                    <a:lnB>
                      <a:noFill/>
                    </a:lnB>
                    <a:solidFill>
                      <a:schemeClr val="bg1">
                        <a:lumMod val="95000"/>
                      </a:schemeClr>
                    </a:solidFill>
                  </a:tcPr>
                </a:tc>
                <a:extLst>
                  <a:ext uri="{0D108BD9-81ED-4DB2-BD59-A6C34878D82A}">
                    <a16:rowId xmlns:a16="http://schemas.microsoft.com/office/drawing/2014/main" val="10004"/>
                  </a:ext>
                </a:extLst>
              </a:tr>
              <a:tr h="1074117">
                <a:tc>
                  <a:txBody>
                    <a:bodyPr/>
                    <a:lstStyle/>
                    <a:p>
                      <a:pPr algn="just" fontAlgn="base"/>
                      <a:r>
                        <a:rPr lang="en-US" sz="1800" b="1">
                          <a:effectLst/>
                        </a:rPr>
                        <a:t>It simply focuses on functions and processes that usually work on data.  </a:t>
                      </a:r>
                    </a:p>
                  </a:txBody>
                  <a:tcPr marL="95250" marR="95250" marT="133350" marB="133350" anchor="ctr">
                    <a:lnL>
                      <a:noFill/>
                    </a:lnL>
                    <a:lnR>
                      <a:noFill/>
                    </a:lnR>
                    <a:lnT>
                      <a:noFill/>
                    </a:lnT>
                    <a:lnB>
                      <a:noFill/>
                    </a:lnB>
                    <a:solidFill>
                      <a:schemeClr val="bg1">
                        <a:lumMod val="95000"/>
                      </a:schemeClr>
                    </a:solidFill>
                  </a:tcPr>
                </a:tc>
                <a:tc>
                  <a:txBody>
                    <a:bodyPr/>
                    <a:lstStyle/>
                    <a:p>
                      <a:pPr algn="just" fontAlgn="base"/>
                      <a:r>
                        <a:rPr lang="en-US" sz="1800" b="1" dirty="0">
                          <a:effectLst/>
                        </a:rPr>
                        <a:t>It simply focuses on representing both structure and behavior of information system into tiny or small modules that generally combines data and process both.</a:t>
                      </a:r>
                    </a:p>
                  </a:txBody>
                  <a:tcPr marL="95250" marR="95250" marT="133350" marB="133350" anchor="ctr">
                    <a:lnL>
                      <a:noFill/>
                    </a:lnL>
                    <a:lnR>
                      <a:noFill/>
                    </a:lnR>
                    <a:lnT>
                      <a:noFill/>
                    </a:lnT>
                    <a:lnB>
                      <a:noFill/>
                    </a:lnB>
                    <a:solidFill>
                      <a:schemeClr val="bg1">
                        <a:lumMod val="95000"/>
                      </a:schemeClr>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6935477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p:cNvGraphicFramePr>
            <a:graphicFrameLocks noGrp="1"/>
          </p:cNvGraphicFramePr>
          <p:nvPr>
            <p:ph idx="1"/>
            <p:extLst>
              <p:ext uri="{D42A27DB-BD31-4B8C-83A1-F6EECF244321}">
                <p14:modId xmlns:p14="http://schemas.microsoft.com/office/powerpoint/2010/main" val="1111609728"/>
              </p:ext>
            </p:extLst>
          </p:nvPr>
        </p:nvGraphicFramePr>
        <p:xfrm>
          <a:off x="753794" y="548640"/>
          <a:ext cx="10515600" cy="5753432"/>
        </p:xfrm>
        <a:graphic>
          <a:graphicData uri="http://schemas.openxmlformats.org/drawingml/2006/table">
            <a:tbl>
              <a:tblPr/>
              <a:tblGrid>
                <a:gridCol w="5257800">
                  <a:extLst>
                    <a:ext uri="{9D8B030D-6E8A-4147-A177-3AD203B41FA5}">
                      <a16:colId xmlns:a16="http://schemas.microsoft.com/office/drawing/2014/main" val="20000"/>
                    </a:ext>
                  </a:extLst>
                </a:gridCol>
                <a:gridCol w="5257800">
                  <a:extLst>
                    <a:ext uri="{9D8B030D-6E8A-4147-A177-3AD203B41FA5}">
                      <a16:colId xmlns:a16="http://schemas.microsoft.com/office/drawing/2014/main" val="20001"/>
                    </a:ext>
                  </a:extLst>
                </a:gridCol>
              </a:tblGrid>
              <a:tr h="1047584">
                <a:tc>
                  <a:txBody>
                    <a:bodyPr/>
                    <a:lstStyle/>
                    <a:p>
                      <a:pPr algn="l" fontAlgn="base"/>
                      <a:r>
                        <a:rPr lang="en-US" sz="1800" b="1" dirty="0">
                          <a:effectLst/>
                        </a:rPr>
                        <a:t>It is a method of organizing, managing and coding programs that can give or provide much easier modification and understanding.  </a:t>
                      </a:r>
                    </a:p>
                  </a:txBody>
                  <a:tcPr marL="95250" marR="95250" marT="133350" marB="133350" anchor="ctr">
                    <a:lnL>
                      <a:noFill/>
                    </a:lnL>
                    <a:lnR>
                      <a:noFill/>
                    </a:lnR>
                    <a:lnT>
                      <a:noFill/>
                    </a:lnT>
                    <a:lnB>
                      <a:noFill/>
                    </a:lnB>
                    <a:solidFill>
                      <a:schemeClr val="bg1">
                        <a:lumMod val="95000"/>
                      </a:schemeClr>
                    </a:solidFill>
                  </a:tcPr>
                </a:tc>
                <a:tc>
                  <a:txBody>
                    <a:bodyPr/>
                    <a:lstStyle/>
                    <a:p>
                      <a:pPr algn="l" fontAlgn="base"/>
                      <a:r>
                        <a:rPr lang="en-US" sz="1800" b="1">
                          <a:effectLst/>
                        </a:rPr>
                        <a:t>It is a method in which set of objects can vary dynamically and can execute just by acting and reading to each other.  </a:t>
                      </a:r>
                    </a:p>
                  </a:txBody>
                  <a:tcPr marL="95250" marR="95250" marT="133350" marB="133350" anchor="ctr">
                    <a:lnL>
                      <a:noFill/>
                    </a:lnL>
                    <a:lnR>
                      <a:noFill/>
                    </a:lnR>
                    <a:lnT>
                      <a:noFill/>
                    </a:lnT>
                    <a:lnB>
                      <a:noFill/>
                    </a:lnB>
                    <a:solidFill>
                      <a:schemeClr val="bg1">
                        <a:lumMod val="95000"/>
                      </a:schemeClr>
                    </a:solidFill>
                  </a:tcPr>
                </a:tc>
                <a:extLst>
                  <a:ext uri="{0D108BD9-81ED-4DB2-BD59-A6C34878D82A}">
                    <a16:rowId xmlns:a16="http://schemas.microsoft.com/office/drawing/2014/main" val="10000"/>
                  </a:ext>
                </a:extLst>
              </a:tr>
              <a:tr h="1047584">
                <a:tc>
                  <a:txBody>
                    <a:bodyPr/>
                    <a:lstStyle/>
                    <a:p>
                      <a:pPr algn="l" fontAlgn="base"/>
                      <a:r>
                        <a:rPr lang="en-US" sz="1800" b="1" dirty="0">
                          <a:effectLst/>
                        </a:rPr>
                        <a:t>In this, methods are written globally and code lines are processed one by one i.e., Run sequentially.  </a:t>
                      </a:r>
                    </a:p>
                  </a:txBody>
                  <a:tcPr marL="95250" marR="95250" marT="133350" marB="133350" anchor="ctr">
                    <a:lnL>
                      <a:noFill/>
                    </a:lnL>
                    <a:lnR>
                      <a:noFill/>
                    </a:lnR>
                    <a:lnT>
                      <a:noFill/>
                    </a:lnT>
                    <a:lnB>
                      <a:noFill/>
                    </a:lnB>
                    <a:solidFill>
                      <a:schemeClr val="bg1">
                        <a:lumMod val="95000"/>
                      </a:schemeClr>
                    </a:solidFill>
                  </a:tcPr>
                </a:tc>
                <a:tc>
                  <a:txBody>
                    <a:bodyPr/>
                    <a:lstStyle/>
                    <a:p>
                      <a:pPr algn="l" fontAlgn="base"/>
                      <a:r>
                        <a:rPr lang="en-US" sz="1800" b="1">
                          <a:effectLst/>
                        </a:rPr>
                        <a:t>In this, method works dynamically, make calls as per need of code for certain time.  </a:t>
                      </a:r>
                    </a:p>
                  </a:txBody>
                  <a:tcPr marL="95250" marR="95250" marT="133350" marB="133350" anchor="ctr">
                    <a:lnL>
                      <a:noFill/>
                    </a:lnL>
                    <a:lnR>
                      <a:noFill/>
                    </a:lnR>
                    <a:lnT>
                      <a:noFill/>
                    </a:lnT>
                    <a:lnB>
                      <a:noFill/>
                    </a:lnB>
                    <a:solidFill>
                      <a:schemeClr val="bg1">
                        <a:lumMod val="95000"/>
                      </a:schemeClr>
                    </a:solidFill>
                  </a:tcPr>
                </a:tc>
                <a:extLst>
                  <a:ext uri="{0D108BD9-81ED-4DB2-BD59-A6C34878D82A}">
                    <a16:rowId xmlns:a16="http://schemas.microsoft.com/office/drawing/2014/main" val="10001"/>
                  </a:ext>
                </a:extLst>
              </a:tr>
              <a:tr h="739472">
                <a:tc>
                  <a:txBody>
                    <a:bodyPr/>
                    <a:lstStyle/>
                    <a:p>
                      <a:pPr algn="l" fontAlgn="base"/>
                      <a:r>
                        <a:rPr lang="en-US" sz="1800" b="1" dirty="0">
                          <a:effectLst/>
                        </a:rPr>
                        <a:t>It generally follows “Top-Down Approach”.  </a:t>
                      </a:r>
                    </a:p>
                  </a:txBody>
                  <a:tcPr marL="95250" marR="95250" marT="133350" marB="133350" anchor="ctr">
                    <a:lnL>
                      <a:noFill/>
                    </a:lnL>
                    <a:lnR>
                      <a:noFill/>
                    </a:lnR>
                    <a:lnT>
                      <a:noFill/>
                    </a:lnT>
                    <a:lnB>
                      <a:noFill/>
                    </a:lnB>
                    <a:solidFill>
                      <a:schemeClr val="bg1">
                        <a:lumMod val="95000"/>
                      </a:schemeClr>
                    </a:solidFill>
                  </a:tcPr>
                </a:tc>
                <a:tc>
                  <a:txBody>
                    <a:bodyPr/>
                    <a:lstStyle/>
                    <a:p>
                      <a:pPr algn="l" fontAlgn="base"/>
                      <a:r>
                        <a:rPr lang="en-US" sz="1800" b="1">
                          <a:effectLst/>
                        </a:rPr>
                        <a:t>It generally follows “Bottom-Up Approach”.  </a:t>
                      </a:r>
                    </a:p>
                  </a:txBody>
                  <a:tcPr marL="95250" marR="95250" marT="133350" marB="133350" anchor="ctr">
                    <a:lnL>
                      <a:noFill/>
                    </a:lnL>
                    <a:lnR>
                      <a:noFill/>
                    </a:lnR>
                    <a:lnT>
                      <a:noFill/>
                    </a:lnT>
                    <a:lnB>
                      <a:noFill/>
                    </a:lnB>
                    <a:solidFill>
                      <a:schemeClr val="bg1">
                        <a:lumMod val="95000"/>
                      </a:schemeClr>
                    </a:solidFill>
                  </a:tcPr>
                </a:tc>
                <a:extLst>
                  <a:ext uri="{0D108BD9-81ED-4DB2-BD59-A6C34878D82A}">
                    <a16:rowId xmlns:a16="http://schemas.microsoft.com/office/drawing/2014/main" val="10002"/>
                  </a:ext>
                </a:extLst>
              </a:tr>
              <a:tr h="1047584">
                <a:tc>
                  <a:txBody>
                    <a:bodyPr/>
                    <a:lstStyle/>
                    <a:p>
                      <a:pPr algn="l" fontAlgn="base"/>
                      <a:r>
                        <a:rPr lang="en-US" sz="1800" b="1" dirty="0">
                          <a:effectLst/>
                        </a:rPr>
                        <a:t>It provides less flexibility and abstraction as compared to object-oriented programming.  </a:t>
                      </a:r>
                    </a:p>
                  </a:txBody>
                  <a:tcPr marL="95250" marR="95250" marT="133350" marB="133350" anchor="ctr">
                    <a:lnL>
                      <a:noFill/>
                    </a:lnL>
                    <a:lnR>
                      <a:noFill/>
                    </a:lnR>
                    <a:lnT>
                      <a:noFill/>
                    </a:lnT>
                    <a:lnB>
                      <a:noFill/>
                    </a:lnB>
                    <a:solidFill>
                      <a:schemeClr val="bg1">
                        <a:lumMod val="95000"/>
                      </a:schemeClr>
                    </a:solidFill>
                  </a:tcPr>
                </a:tc>
                <a:tc>
                  <a:txBody>
                    <a:bodyPr/>
                    <a:lstStyle/>
                    <a:p>
                      <a:pPr algn="l" fontAlgn="base"/>
                      <a:r>
                        <a:rPr lang="en-US" sz="1800" b="1">
                          <a:effectLst/>
                        </a:rPr>
                        <a:t>It provides more flexibility and abstraction as compared to structured programming.  </a:t>
                      </a:r>
                    </a:p>
                  </a:txBody>
                  <a:tcPr marL="95250" marR="95250" marT="133350" marB="133350" anchor="ctr">
                    <a:lnL>
                      <a:noFill/>
                    </a:lnL>
                    <a:lnR>
                      <a:noFill/>
                    </a:lnR>
                    <a:lnT>
                      <a:noFill/>
                    </a:lnT>
                    <a:lnB>
                      <a:noFill/>
                    </a:lnB>
                    <a:solidFill>
                      <a:schemeClr val="bg1">
                        <a:lumMod val="95000"/>
                      </a:schemeClr>
                    </a:solidFill>
                  </a:tcPr>
                </a:tc>
                <a:extLst>
                  <a:ext uri="{0D108BD9-81ED-4DB2-BD59-A6C34878D82A}">
                    <a16:rowId xmlns:a16="http://schemas.microsoft.com/office/drawing/2014/main" val="10003"/>
                  </a:ext>
                </a:extLst>
              </a:tr>
              <a:tr h="1047584">
                <a:tc>
                  <a:txBody>
                    <a:bodyPr/>
                    <a:lstStyle/>
                    <a:p>
                      <a:pPr algn="l" fontAlgn="base"/>
                      <a:r>
                        <a:rPr lang="en-US" sz="1800" b="1" dirty="0">
                          <a:effectLst/>
                        </a:rPr>
                        <a:t>It is more difficult to modify structured program and reuse code as compared to object-oriented programs.  </a:t>
                      </a:r>
                    </a:p>
                  </a:txBody>
                  <a:tcPr marL="95250" marR="95250" marT="133350" marB="133350" anchor="ctr">
                    <a:lnL>
                      <a:noFill/>
                    </a:lnL>
                    <a:lnR>
                      <a:noFill/>
                    </a:lnR>
                    <a:lnT>
                      <a:noFill/>
                    </a:lnT>
                    <a:lnB>
                      <a:noFill/>
                    </a:lnB>
                    <a:solidFill>
                      <a:schemeClr val="bg1">
                        <a:lumMod val="95000"/>
                      </a:schemeClr>
                    </a:solidFill>
                  </a:tcPr>
                </a:tc>
                <a:tc>
                  <a:txBody>
                    <a:bodyPr/>
                    <a:lstStyle/>
                    <a:p>
                      <a:pPr algn="l" fontAlgn="base"/>
                      <a:r>
                        <a:rPr lang="en-US" sz="1800" b="1" dirty="0">
                          <a:effectLst/>
                        </a:rPr>
                        <a:t>It is less difficult to modify object-oriented programs and reuse code as compared to structured programs. </a:t>
                      </a:r>
                    </a:p>
                  </a:txBody>
                  <a:tcPr marL="95250" marR="95250" marT="133350" marB="133350" anchor="ctr">
                    <a:lnL>
                      <a:noFill/>
                    </a:lnL>
                    <a:lnR>
                      <a:noFill/>
                    </a:lnR>
                    <a:lnT>
                      <a:noFill/>
                    </a:lnT>
                    <a:lnB>
                      <a:noFill/>
                    </a:lnB>
                    <a:solidFill>
                      <a:schemeClr val="bg1">
                        <a:lumMod val="95000"/>
                      </a:schemeClr>
                    </a:solidFill>
                  </a:tcPr>
                </a:tc>
                <a:extLst>
                  <a:ext uri="{0D108BD9-81ED-4DB2-BD59-A6C34878D82A}">
                    <a16:rowId xmlns:a16="http://schemas.microsoft.com/office/drawing/2014/main" val="10004"/>
                  </a:ext>
                </a:extLst>
              </a:tr>
              <a:tr h="739472">
                <a:tc>
                  <a:txBody>
                    <a:bodyPr/>
                    <a:lstStyle/>
                    <a:p>
                      <a:pPr algn="l" fontAlgn="base"/>
                      <a:r>
                        <a:rPr lang="en-US" sz="1800" b="1">
                          <a:effectLst/>
                        </a:rPr>
                        <a:t>It gives more importance of code. </a:t>
                      </a:r>
                    </a:p>
                  </a:txBody>
                  <a:tcPr marL="95250" marR="95250" marT="133350" marB="133350" anchor="ctr">
                    <a:lnL>
                      <a:noFill/>
                    </a:lnL>
                    <a:lnR>
                      <a:noFill/>
                    </a:lnR>
                    <a:lnT>
                      <a:noFill/>
                    </a:lnT>
                    <a:lnB>
                      <a:noFill/>
                    </a:lnB>
                    <a:solidFill>
                      <a:schemeClr val="bg1">
                        <a:lumMod val="95000"/>
                      </a:schemeClr>
                    </a:solidFill>
                  </a:tcPr>
                </a:tc>
                <a:tc>
                  <a:txBody>
                    <a:bodyPr/>
                    <a:lstStyle/>
                    <a:p>
                      <a:pPr algn="l" fontAlgn="base"/>
                      <a:r>
                        <a:rPr lang="en-US" sz="1800" b="1" dirty="0">
                          <a:effectLst/>
                        </a:rPr>
                        <a:t>It gives more importance to data. </a:t>
                      </a:r>
                    </a:p>
                  </a:txBody>
                  <a:tcPr marL="95250" marR="95250" marT="133350" marB="133350" anchor="ctr">
                    <a:lnL>
                      <a:noFill/>
                    </a:lnL>
                    <a:lnR>
                      <a:noFill/>
                    </a:lnR>
                    <a:lnT>
                      <a:noFill/>
                    </a:lnT>
                    <a:lnB>
                      <a:noFill/>
                    </a:lnB>
                    <a:solidFill>
                      <a:schemeClr val="bg1">
                        <a:lumMod val="95000"/>
                      </a:schemeClr>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0537644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US" dirty="0"/>
              <a:t>Declaring objects</a:t>
            </a:r>
          </a:p>
        </p:txBody>
      </p:sp>
      <p:sp>
        <p:nvSpPr>
          <p:cNvPr id="3" name="Content Placeholder 2"/>
          <p:cNvSpPr>
            <a:spLocks noGrp="1"/>
          </p:cNvSpPr>
          <p:nvPr>
            <p:ph idx="1"/>
          </p:nvPr>
        </p:nvSpPr>
        <p:spPr/>
        <p:txBody>
          <a:bodyPr>
            <a:normAutofit/>
          </a:bodyPr>
          <a:lstStyle/>
          <a:p>
            <a:r>
              <a:rPr lang="en-US" sz="2400" dirty="0"/>
              <a:t>There are three steps when creating an object from a class −</a:t>
            </a:r>
          </a:p>
          <a:p>
            <a:pPr lvl="1"/>
            <a:r>
              <a:rPr lang="en-US" sz="2000" b="1" dirty="0"/>
              <a:t>Declaration</a:t>
            </a:r>
            <a:r>
              <a:rPr lang="en-US" sz="2000" dirty="0"/>
              <a:t> − A variable declaration with a variable name with an object type.</a:t>
            </a:r>
          </a:p>
          <a:p>
            <a:pPr lvl="1"/>
            <a:r>
              <a:rPr lang="en-US" sz="2000" b="1" dirty="0"/>
              <a:t>Instantiation</a:t>
            </a:r>
            <a:r>
              <a:rPr lang="en-US" sz="2000" dirty="0"/>
              <a:t> − The 'new' keyword is used to create the object.</a:t>
            </a:r>
          </a:p>
          <a:p>
            <a:pPr lvl="1"/>
            <a:r>
              <a:rPr lang="en-US" sz="2000" b="1" dirty="0"/>
              <a:t>Initialization</a:t>
            </a:r>
            <a:r>
              <a:rPr lang="en-US" sz="2000" dirty="0"/>
              <a:t> − The 'new' keyword is followed by a call to a constructor. This call initializes the new object.</a:t>
            </a:r>
          </a:p>
        </p:txBody>
      </p:sp>
    </p:spTree>
    <p:extLst>
      <p:ext uri="{BB962C8B-B14F-4D97-AF65-F5344CB8AC3E}">
        <p14:creationId xmlns:p14="http://schemas.microsoft.com/office/powerpoint/2010/main" val="2446916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Accessing Instance Variables and Methods</a:t>
            </a:r>
          </a:p>
        </p:txBody>
      </p:sp>
      <p:sp>
        <p:nvSpPr>
          <p:cNvPr id="3" name="Content Placeholder 2"/>
          <p:cNvSpPr>
            <a:spLocks noGrp="1"/>
          </p:cNvSpPr>
          <p:nvPr>
            <p:ph idx="1"/>
          </p:nvPr>
        </p:nvSpPr>
        <p:spPr/>
        <p:txBody>
          <a:bodyPr>
            <a:normAutofit lnSpcReduction="10000"/>
          </a:bodyPr>
          <a:lstStyle/>
          <a:p>
            <a:r>
              <a:rPr lang="en-US" sz="2400" dirty="0"/>
              <a:t>Instance variables and methods are accessed via created objects. To access an instance variable.</a:t>
            </a:r>
          </a:p>
          <a:p>
            <a:pPr marL="0" indent="0">
              <a:buNone/>
            </a:pPr>
            <a:endParaRPr lang="en-US" sz="2400" dirty="0"/>
          </a:p>
          <a:p>
            <a:pPr lvl="1"/>
            <a:r>
              <a:rPr lang="en-US" sz="2000" dirty="0"/>
              <a:t>/* First create an object */</a:t>
            </a:r>
          </a:p>
          <a:p>
            <a:pPr lvl="1"/>
            <a:r>
              <a:rPr lang="en-US" sz="2000" dirty="0" err="1"/>
              <a:t>ObjectReference</a:t>
            </a:r>
            <a:r>
              <a:rPr lang="en-US" sz="2000" dirty="0"/>
              <a:t> = new Constructor();</a:t>
            </a:r>
          </a:p>
          <a:p>
            <a:pPr lvl="1"/>
            <a:endParaRPr lang="en-US" sz="2000" dirty="0"/>
          </a:p>
          <a:p>
            <a:pPr lvl="1"/>
            <a:r>
              <a:rPr lang="en-US" sz="2000" dirty="0"/>
              <a:t>/* Now call a variable as follows */</a:t>
            </a:r>
          </a:p>
          <a:p>
            <a:pPr lvl="1"/>
            <a:r>
              <a:rPr lang="en-US" sz="2000" dirty="0" err="1"/>
              <a:t>ObjectReference.variableName</a:t>
            </a:r>
            <a:r>
              <a:rPr lang="en-US" sz="2000" dirty="0"/>
              <a:t>;</a:t>
            </a:r>
          </a:p>
          <a:p>
            <a:pPr lvl="1"/>
            <a:endParaRPr lang="en-US" sz="2000" dirty="0"/>
          </a:p>
          <a:p>
            <a:pPr lvl="1"/>
            <a:r>
              <a:rPr lang="en-US" sz="2000" dirty="0"/>
              <a:t>/* Now you can call a class method as follows */</a:t>
            </a:r>
          </a:p>
          <a:p>
            <a:pPr lvl="1"/>
            <a:r>
              <a:rPr lang="en-US" sz="2000" dirty="0" err="1"/>
              <a:t>ObjectReference.MethodName</a:t>
            </a:r>
            <a:r>
              <a:rPr lang="en-US" sz="2000" dirty="0"/>
              <a:t>();</a:t>
            </a:r>
          </a:p>
        </p:txBody>
      </p:sp>
    </p:spTree>
    <p:extLst>
      <p:ext uri="{BB962C8B-B14F-4D97-AF65-F5344CB8AC3E}">
        <p14:creationId xmlns:p14="http://schemas.microsoft.com/office/powerpoint/2010/main" val="31359279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00907" y="612867"/>
            <a:ext cx="5483777" cy="5525749"/>
          </a:xfrm>
        </p:spPr>
        <p:txBody>
          <a:bodyPr>
            <a:noAutofit/>
          </a:bodyPr>
          <a:lstStyle/>
          <a:p>
            <a:pPr marL="0" indent="0">
              <a:buNone/>
            </a:pPr>
            <a:r>
              <a:rPr lang="en-US" sz="1800" b="1" dirty="0">
                <a:solidFill>
                  <a:schemeClr val="accent1"/>
                </a:solidFill>
              </a:rPr>
              <a:t>public class  Person{</a:t>
            </a:r>
          </a:p>
          <a:p>
            <a:pPr marL="0" indent="0">
              <a:buNone/>
            </a:pPr>
            <a:r>
              <a:rPr lang="en-US" sz="1800" b="1" dirty="0">
                <a:solidFill>
                  <a:schemeClr val="accent1"/>
                </a:solidFill>
              </a:rPr>
              <a:t>   int age;</a:t>
            </a:r>
          </a:p>
          <a:p>
            <a:pPr marL="0" indent="0">
              <a:buNone/>
            </a:pPr>
            <a:r>
              <a:rPr lang="en-US" sz="1800" b="1" dirty="0">
                <a:solidFill>
                  <a:schemeClr val="accent1"/>
                </a:solidFill>
              </a:rPr>
              <a:t>   String name;</a:t>
            </a:r>
          </a:p>
          <a:p>
            <a:pPr marL="0" indent="0">
              <a:buNone/>
            </a:pPr>
            <a:r>
              <a:rPr lang="en-US" sz="1800" b="1" dirty="0">
                <a:solidFill>
                  <a:schemeClr val="accent1"/>
                </a:solidFill>
              </a:rPr>
              <a:t>   public Person(String name) {</a:t>
            </a:r>
          </a:p>
          <a:p>
            <a:pPr marL="0" indent="0">
              <a:buNone/>
            </a:pPr>
            <a:r>
              <a:rPr lang="en-US" sz="1800" b="1" dirty="0">
                <a:solidFill>
                  <a:schemeClr val="accent1"/>
                </a:solidFill>
              </a:rPr>
              <a:t>      // This constructor has one parameter, name.</a:t>
            </a:r>
          </a:p>
          <a:p>
            <a:pPr marL="0" indent="0">
              <a:buNone/>
            </a:pPr>
            <a:r>
              <a:rPr lang="en-US" sz="1800" b="1" dirty="0">
                <a:solidFill>
                  <a:schemeClr val="accent1"/>
                </a:solidFill>
              </a:rPr>
              <a:t>      System.out.println("Name chosen is :" + name );</a:t>
            </a:r>
          </a:p>
          <a:p>
            <a:pPr marL="0" indent="0">
              <a:buNone/>
            </a:pPr>
            <a:r>
              <a:rPr lang="en-US" sz="1800" b="1" dirty="0">
                <a:solidFill>
                  <a:schemeClr val="accent1"/>
                </a:solidFill>
              </a:rPr>
              <a:t>   }</a:t>
            </a:r>
          </a:p>
          <a:p>
            <a:pPr marL="0" indent="0">
              <a:buNone/>
            </a:pPr>
            <a:r>
              <a:rPr lang="en-US" sz="1800" b="1" dirty="0">
                <a:solidFill>
                  <a:schemeClr val="accent1"/>
                </a:solidFill>
              </a:rPr>
              <a:t>   public void setAge( int age ) {</a:t>
            </a:r>
          </a:p>
          <a:p>
            <a:pPr marL="0" indent="0">
              <a:buNone/>
            </a:pPr>
            <a:r>
              <a:rPr lang="en-US" sz="1800" b="1" dirty="0">
                <a:solidFill>
                  <a:schemeClr val="accent1"/>
                </a:solidFill>
              </a:rPr>
              <a:t>      this.age = age;</a:t>
            </a:r>
          </a:p>
          <a:p>
            <a:pPr marL="0" indent="0">
              <a:buNone/>
            </a:pPr>
            <a:r>
              <a:rPr lang="en-US" sz="1800" b="1" dirty="0">
                <a:solidFill>
                  <a:schemeClr val="accent1"/>
                </a:solidFill>
              </a:rPr>
              <a:t>   }</a:t>
            </a:r>
          </a:p>
          <a:p>
            <a:pPr marL="0" indent="0">
              <a:buNone/>
            </a:pPr>
            <a:r>
              <a:rPr lang="en-US" sz="1800" b="1" dirty="0">
                <a:solidFill>
                  <a:schemeClr val="accent1"/>
                </a:solidFill>
              </a:rPr>
              <a:t>   public int get Age( ) {</a:t>
            </a:r>
          </a:p>
          <a:p>
            <a:pPr marL="0" indent="0">
              <a:buNone/>
            </a:pPr>
            <a:r>
              <a:rPr lang="en-US" sz="1800" b="1" dirty="0">
                <a:solidFill>
                  <a:schemeClr val="accent1"/>
                </a:solidFill>
              </a:rPr>
              <a:t>      System.out.println(“Person's age is :" + age );</a:t>
            </a:r>
          </a:p>
          <a:p>
            <a:pPr marL="0" indent="0">
              <a:buNone/>
            </a:pPr>
            <a:r>
              <a:rPr lang="en-US" sz="1800" b="1" dirty="0">
                <a:solidFill>
                  <a:schemeClr val="accent1"/>
                </a:solidFill>
              </a:rPr>
              <a:t>      return age;</a:t>
            </a:r>
          </a:p>
          <a:p>
            <a:pPr marL="0" indent="0">
              <a:buNone/>
            </a:pPr>
            <a:r>
              <a:rPr lang="en-US" sz="1800" b="1" dirty="0">
                <a:solidFill>
                  <a:schemeClr val="accent1"/>
                </a:solidFill>
              </a:rPr>
              <a:t>   }</a:t>
            </a:r>
          </a:p>
        </p:txBody>
      </p:sp>
      <p:sp>
        <p:nvSpPr>
          <p:cNvPr id="4" name="Rectangle 3"/>
          <p:cNvSpPr/>
          <p:nvPr/>
        </p:nvSpPr>
        <p:spPr>
          <a:xfrm>
            <a:off x="6720113" y="1806082"/>
            <a:ext cx="6125029" cy="3139321"/>
          </a:xfrm>
          <a:prstGeom prst="rect">
            <a:avLst/>
          </a:prstGeom>
        </p:spPr>
        <p:txBody>
          <a:bodyPr wrap="square">
            <a:spAutoFit/>
          </a:bodyPr>
          <a:lstStyle/>
          <a:p>
            <a:r>
              <a:rPr lang="en-US" dirty="0">
                <a:solidFill>
                  <a:schemeClr val="accent1"/>
                </a:solidFill>
              </a:rPr>
              <a:t> </a:t>
            </a:r>
            <a:r>
              <a:rPr lang="en-US" b="1" dirty="0">
                <a:solidFill>
                  <a:schemeClr val="accent1"/>
                </a:solidFill>
              </a:rPr>
              <a:t>public static void main(String []args) {</a:t>
            </a:r>
          </a:p>
          <a:p>
            <a:r>
              <a:rPr lang="en-US" b="1" dirty="0">
                <a:solidFill>
                  <a:schemeClr val="accent1"/>
                </a:solidFill>
              </a:rPr>
              <a:t>      /* Object creation */</a:t>
            </a:r>
          </a:p>
          <a:p>
            <a:r>
              <a:rPr lang="en-US" b="1" dirty="0">
                <a:solidFill>
                  <a:schemeClr val="accent1"/>
                </a:solidFill>
              </a:rPr>
              <a:t>      Person </a:t>
            </a:r>
            <a:r>
              <a:rPr lang="en-US" b="1" dirty="0" err="1">
                <a:solidFill>
                  <a:schemeClr val="accent1"/>
                </a:solidFill>
              </a:rPr>
              <a:t>obj</a:t>
            </a:r>
            <a:r>
              <a:rPr lang="en-US" b="1" dirty="0">
                <a:solidFill>
                  <a:schemeClr val="accent1"/>
                </a:solidFill>
              </a:rPr>
              <a:t> = new Person( “Santosh” );</a:t>
            </a:r>
          </a:p>
          <a:p>
            <a:r>
              <a:rPr lang="en-US" b="1" dirty="0">
                <a:solidFill>
                  <a:schemeClr val="accent1"/>
                </a:solidFill>
              </a:rPr>
              <a:t>      /* Call class method to set person's age */</a:t>
            </a:r>
          </a:p>
          <a:p>
            <a:r>
              <a:rPr lang="en-US" b="1" dirty="0">
                <a:solidFill>
                  <a:schemeClr val="accent1"/>
                </a:solidFill>
              </a:rPr>
              <a:t>      </a:t>
            </a:r>
            <a:r>
              <a:rPr lang="en-US" b="1" dirty="0" err="1">
                <a:solidFill>
                  <a:schemeClr val="accent1"/>
                </a:solidFill>
              </a:rPr>
              <a:t>obj.setAge</a:t>
            </a:r>
            <a:r>
              <a:rPr lang="en-US" b="1" dirty="0">
                <a:solidFill>
                  <a:schemeClr val="accent1"/>
                </a:solidFill>
              </a:rPr>
              <a:t>( 32 );</a:t>
            </a:r>
          </a:p>
          <a:p>
            <a:r>
              <a:rPr lang="en-US" b="1" dirty="0">
                <a:solidFill>
                  <a:schemeClr val="accent1"/>
                </a:solidFill>
              </a:rPr>
              <a:t>      /* Call another class method to get person's age */</a:t>
            </a:r>
          </a:p>
          <a:p>
            <a:r>
              <a:rPr lang="en-US" b="1" dirty="0">
                <a:solidFill>
                  <a:schemeClr val="accent1"/>
                </a:solidFill>
              </a:rPr>
              <a:t>      </a:t>
            </a:r>
            <a:r>
              <a:rPr lang="en-US" b="1" dirty="0" err="1">
                <a:solidFill>
                  <a:schemeClr val="accent1"/>
                </a:solidFill>
              </a:rPr>
              <a:t>obj.getAge</a:t>
            </a:r>
            <a:r>
              <a:rPr lang="en-US" b="1" dirty="0">
                <a:solidFill>
                  <a:schemeClr val="accent1"/>
                </a:solidFill>
              </a:rPr>
              <a:t>( );</a:t>
            </a:r>
          </a:p>
          <a:p>
            <a:r>
              <a:rPr lang="en-US" b="1" dirty="0">
                <a:solidFill>
                  <a:schemeClr val="accent1"/>
                </a:solidFill>
              </a:rPr>
              <a:t>      /* access instance variable as follows as well */</a:t>
            </a:r>
          </a:p>
          <a:p>
            <a:r>
              <a:rPr lang="en-US" b="1" dirty="0">
                <a:solidFill>
                  <a:schemeClr val="accent1"/>
                </a:solidFill>
              </a:rPr>
              <a:t>      System.out.println("Variable Value :"  + </a:t>
            </a:r>
            <a:r>
              <a:rPr lang="en-US" b="1" dirty="0" err="1">
                <a:solidFill>
                  <a:schemeClr val="accent1"/>
                </a:solidFill>
              </a:rPr>
              <a:t>obj.age</a:t>
            </a:r>
            <a:r>
              <a:rPr lang="en-US" b="1" dirty="0">
                <a:solidFill>
                  <a:schemeClr val="accent1"/>
                </a:solidFill>
              </a:rPr>
              <a:t> );</a:t>
            </a:r>
          </a:p>
          <a:p>
            <a:r>
              <a:rPr lang="en-US" b="1" dirty="0">
                <a:solidFill>
                  <a:schemeClr val="accent1"/>
                </a:solidFill>
              </a:rPr>
              <a:t>   }</a:t>
            </a:r>
          </a:p>
          <a:p>
            <a:r>
              <a:rPr lang="en-US" b="1" dirty="0">
                <a:solidFill>
                  <a:schemeClr val="accent1"/>
                </a:solidFill>
              </a:rPr>
              <a:t>}</a:t>
            </a:r>
          </a:p>
        </p:txBody>
      </p:sp>
    </p:spTree>
    <p:extLst>
      <p:ext uri="{BB962C8B-B14F-4D97-AF65-F5344CB8AC3E}">
        <p14:creationId xmlns:p14="http://schemas.microsoft.com/office/powerpoint/2010/main" val="16286904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3646714" cy="578304"/>
          </a:xfrm>
        </p:spPr>
        <p:txBody>
          <a:bodyPr>
            <a:normAutofit fontScale="90000"/>
          </a:bodyPr>
          <a:lstStyle/>
          <a:p>
            <a:r>
              <a:rPr lang="en-US" b="1" dirty="0"/>
              <a:t>Class Members</a:t>
            </a:r>
          </a:p>
        </p:txBody>
      </p:sp>
      <p:sp>
        <p:nvSpPr>
          <p:cNvPr id="3" name="Content Placeholder 2"/>
          <p:cNvSpPr>
            <a:spLocks noGrp="1"/>
          </p:cNvSpPr>
          <p:nvPr>
            <p:ph idx="1"/>
          </p:nvPr>
        </p:nvSpPr>
        <p:spPr>
          <a:xfrm>
            <a:off x="736600" y="943430"/>
            <a:ext cx="6872515" cy="5660570"/>
          </a:xfrm>
        </p:spPr>
        <p:txBody>
          <a:bodyPr>
            <a:normAutofit/>
          </a:bodyPr>
          <a:lstStyle/>
          <a:p>
            <a:r>
              <a:rPr lang="en-US" b="1" dirty="0"/>
              <a:t>Class Variables</a:t>
            </a:r>
          </a:p>
          <a:p>
            <a:pPr lvl="1" algn="just"/>
            <a:r>
              <a:rPr lang="en-US" sz="1800" dirty="0"/>
              <a:t>When a number of objects are created from the same class blueprint, they each have their own distinct copies of instance variables. In the case of the Bicycle class, the instance variables are cadence, gear, and speed. Each Bicycle object has its own values for these variables, stored in different memory locations.</a:t>
            </a:r>
          </a:p>
          <a:p>
            <a:pPr lvl="1" algn="just"/>
            <a:r>
              <a:rPr lang="en-US" sz="1800" dirty="0"/>
              <a:t>Sometimes, want to have variables that are common to all objects. This is accomplished with the static modifier. Fields that have the static modifier in their declaration are called static fields or class variables.</a:t>
            </a:r>
          </a:p>
          <a:p>
            <a:pPr lvl="1" algn="just"/>
            <a:r>
              <a:rPr lang="en-US" sz="1800" dirty="0"/>
              <a:t> They are associated with the class, rather than with any object. </a:t>
            </a:r>
          </a:p>
          <a:p>
            <a:pPr lvl="1" algn="just"/>
            <a:r>
              <a:rPr lang="en-US" sz="1800" dirty="0"/>
              <a:t>Every instance of the class shares a class variable, which is in one fixed location in memory. </a:t>
            </a:r>
          </a:p>
          <a:p>
            <a:pPr lvl="1" algn="just"/>
            <a:r>
              <a:rPr lang="en-US" sz="1800" dirty="0"/>
              <a:t>Any object can change the value of a class variable, but class variables can also be manipulated without creating an instance of the class.</a:t>
            </a:r>
          </a:p>
          <a:p>
            <a:pPr lvl="1" algn="just"/>
            <a:r>
              <a:rPr lang="en-US" sz="1800" dirty="0"/>
              <a:t>Class variables are referenced by the class name itself, as in</a:t>
            </a:r>
          </a:p>
          <a:p>
            <a:pPr lvl="2" algn="just"/>
            <a:r>
              <a:rPr lang="en-US" sz="1400" dirty="0" err="1"/>
              <a:t>Bicycle.numberOfBicycles</a:t>
            </a:r>
            <a:endParaRPr lang="en-US" sz="1400" dirty="0"/>
          </a:p>
        </p:txBody>
      </p:sp>
      <p:sp>
        <p:nvSpPr>
          <p:cNvPr id="7" name="Rectangle 6"/>
          <p:cNvSpPr/>
          <p:nvPr/>
        </p:nvSpPr>
        <p:spPr>
          <a:xfrm>
            <a:off x="7609115" y="1501568"/>
            <a:ext cx="4321628" cy="4247317"/>
          </a:xfrm>
          <a:prstGeom prst="rect">
            <a:avLst/>
          </a:prstGeom>
        </p:spPr>
        <p:txBody>
          <a:bodyPr wrap="square">
            <a:spAutoFit/>
          </a:bodyPr>
          <a:lstStyle/>
          <a:p>
            <a:r>
              <a:rPr lang="en-US" dirty="0">
                <a:solidFill>
                  <a:srgbClr val="00B0F0"/>
                </a:solidFill>
              </a:rPr>
              <a:t>public class Bicycle {</a:t>
            </a:r>
          </a:p>
          <a:p>
            <a:r>
              <a:rPr lang="en-US" dirty="0">
                <a:solidFill>
                  <a:srgbClr val="00B0F0"/>
                </a:solidFill>
              </a:rPr>
              <a:t>        </a:t>
            </a:r>
          </a:p>
          <a:p>
            <a:r>
              <a:rPr lang="en-US" dirty="0">
                <a:solidFill>
                  <a:srgbClr val="00B0F0"/>
                </a:solidFill>
              </a:rPr>
              <a:t>    private int cadence;</a:t>
            </a:r>
          </a:p>
          <a:p>
            <a:r>
              <a:rPr lang="en-US" dirty="0">
                <a:solidFill>
                  <a:srgbClr val="00B0F0"/>
                </a:solidFill>
              </a:rPr>
              <a:t>    private int gear;</a:t>
            </a:r>
          </a:p>
          <a:p>
            <a:r>
              <a:rPr lang="en-US" dirty="0">
                <a:solidFill>
                  <a:srgbClr val="00B0F0"/>
                </a:solidFill>
              </a:rPr>
              <a:t>    private int speed;</a:t>
            </a:r>
          </a:p>
          <a:p>
            <a:r>
              <a:rPr lang="en-US" dirty="0">
                <a:solidFill>
                  <a:srgbClr val="00B0F0"/>
                </a:solidFill>
              </a:rPr>
              <a:t>        </a:t>
            </a:r>
          </a:p>
          <a:p>
            <a:r>
              <a:rPr lang="en-US" dirty="0">
                <a:solidFill>
                  <a:srgbClr val="00B0F0"/>
                </a:solidFill>
              </a:rPr>
              <a:t>    // add an instance variable for the object ID</a:t>
            </a:r>
          </a:p>
          <a:p>
            <a:r>
              <a:rPr lang="en-US" dirty="0">
                <a:solidFill>
                  <a:srgbClr val="00B0F0"/>
                </a:solidFill>
              </a:rPr>
              <a:t>    private int id;</a:t>
            </a:r>
          </a:p>
          <a:p>
            <a:r>
              <a:rPr lang="en-US" dirty="0">
                <a:solidFill>
                  <a:srgbClr val="00B0F0"/>
                </a:solidFill>
              </a:rPr>
              <a:t>    </a:t>
            </a:r>
          </a:p>
          <a:p>
            <a:r>
              <a:rPr lang="en-US" dirty="0">
                <a:solidFill>
                  <a:srgbClr val="00B0F0"/>
                </a:solidFill>
              </a:rPr>
              <a:t>    // add a class variable for the</a:t>
            </a:r>
          </a:p>
          <a:p>
            <a:r>
              <a:rPr lang="en-US" dirty="0">
                <a:solidFill>
                  <a:srgbClr val="00B0F0"/>
                </a:solidFill>
              </a:rPr>
              <a:t>    // number of Bicycle objects instantiated</a:t>
            </a:r>
          </a:p>
          <a:p>
            <a:r>
              <a:rPr lang="en-US" dirty="0">
                <a:solidFill>
                  <a:srgbClr val="00B0F0"/>
                </a:solidFill>
              </a:rPr>
              <a:t>    private static int numberOfBicycles = 0;</a:t>
            </a:r>
          </a:p>
          <a:p>
            <a:r>
              <a:rPr lang="en-US" dirty="0">
                <a:solidFill>
                  <a:srgbClr val="00B0F0"/>
                </a:solidFill>
              </a:rPr>
              <a:t>        ...</a:t>
            </a:r>
          </a:p>
          <a:p>
            <a:r>
              <a:rPr lang="en-US" dirty="0">
                <a:solidFill>
                  <a:srgbClr val="00B0F0"/>
                </a:solidFill>
              </a:rPr>
              <a:t>}</a:t>
            </a:r>
          </a:p>
        </p:txBody>
      </p:sp>
    </p:spTree>
    <p:extLst>
      <p:ext uri="{BB962C8B-B14F-4D97-AF65-F5344CB8AC3E}">
        <p14:creationId xmlns:p14="http://schemas.microsoft.com/office/powerpoint/2010/main" val="31184125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23446"/>
          </a:xfrm>
        </p:spPr>
        <p:txBody>
          <a:bodyPr/>
          <a:lstStyle/>
          <a:p>
            <a:r>
              <a:rPr lang="en-US" b="1" dirty="0"/>
              <a:t>Class Methods</a:t>
            </a:r>
          </a:p>
        </p:txBody>
      </p:sp>
      <p:sp>
        <p:nvSpPr>
          <p:cNvPr id="3" name="Content Placeholder 2"/>
          <p:cNvSpPr>
            <a:spLocks noGrp="1"/>
          </p:cNvSpPr>
          <p:nvPr>
            <p:ph idx="1"/>
          </p:nvPr>
        </p:nvSpPr>
        <p:spPr>
          <a:xfrm>
            <a:off x="838200" y="1204686"/>
            <a:ext cx="10990943" cy="5486400"/>
          </a:xfrm>
        </p:spPr>
        <p:txBody>
          <a:bodyPr>
            <a:noAutofit/>
          </a:bodyPr>
          <a:lstStyle/>
          <a:p>
            <a:pPr algn="just"/>
            <a:r>
              <a:rPr lang="en-US" sz="1400" b="1" dirty="0"/>
              <a:t>The Java supports static methods as well as static variables. Static methods, which have the static modifier in their declarations, should be invoked with the class name, without the need for creating an instance of the class, as in</a:t>
            </a:r>
          </a:p>
          <a:p>
            <a:pPr marL="0" indent="0" algn="just">
              <a:buNone/>
            </a:pPr>
            <a:r>
              <a:rPr lang="en-US" sz="1400" b="1" dirty="0">
                <a:solidFill>
                  <a:srgbClr val="00B0F0"/>
                </a:solidFill>
              </a:rPr>
              <a:t>ClassName.methodName(args)</a:t>
            </a:r>
          </a:p>
          <a:p>
            <a:pPr algn="just"/>
            <a:r>
              <a:rPr lang="en-US" sz="1400" b="1" dirty="0"/>
              <a:t>also refer to static methods with an object reference like</a:t>
            </a:r>
          </a:p>
          <a:p>
            <a:pPr marL="0" indent="0" algn="just">
              <a:buNone/>
            </a:pPr>
            <a:r>
              <a:rPr lang="en-US" sz="1400" b="1" dirty="0">
                <a:solidFill>
                  <a:srgbClr val="00B0F0"/>
                </a:solidFill>
              </a:rPr>
              <a:t>				instanceName.methodName(args)</a:t>
            </a:r>
          </a:p>
          <a:p>
            <a:pPr marL="0" indent="0" algn="just">
              <a:buNone/>
            </a:pPr>
            <a:r>
              <a:rPr lang="en-US" sz="1400" b="1" dirty="0"/>
              <a:t>but this is discouraged because it does not make it clear that they are class methods.</a:t>
            </a:r>
          </a:p>
          <a:p>
            <a:pPr marL="0" indent="0" algn="just">
              <a:buNone/>
            </a:pPr>
            <a:r>
              <a:rPr lang="en-US" sz="1400" b="1" dirty="0"/>
              <a:t>A common use for static methods is to access static fields. For example, we could add a static method to the Bicycle class to access thenumberOfBicycles static field:</a:t>
            </a:r>
          </a:p>
          <a:p>
            <a:pPr marL="0" indent="0" algn="just">
              <a:buNone/>
            </a:pPr>
            <a:r>
              <a:rPr lang="en-US" sz="1400" b="1" dirty="0">
                <a:solidFill>
                  <a:srgbClr val="00B0F0"/>
                </a:solidFill>
              </a:rPr>
              <a:t>public static int getNumberOfBicycles() {</a:t>
            </a:r>
          </a:p>
          <a:p>
            <a:pPr marL="0" indent="0" algn="just">
              <a:buNone/>
            </a:pPr>
            <a:r>
              <a:rPr lang="en-US" sz="1400" b="1" dirty="0">
                <a:solidFill>
                  <a:srgbClr val="00B0F0"/>
                </a:solidFill>
              </a:rPr>
              <a:t>    return numberOfBicycles;</a:t>
            </a:r>
          </a:p>
          <a:p>
            <a:pPr marL="0" indent="0" algn="just">
              <a:buNone/>
            </a:pPr>
            <a:r>
              <a:rPr lang="en-US" sz="1400" b="1" dirty="0">
                <a:solidFill>
                  <a:srgbClr val="00B0F0"/>
                </a:solidFill>
              </a:rPr>
              <a:t>}</a:t>
            </a:r>
          </a:p>
          <a:p>
            <a:pPr algn="just"/>
            <a:r>
              <a:rPr lang="en-US" sz="1400" b="1" dirty="0"/>
              <a:t>all combinations of instance and class variables and methods are allowed:</a:t>
            </a:r>
          </a:p>
          <a:p>
            <a:pPr lvl="1" algn="just"/>
            <a:r>
              <a:rPr lang="en-US" sz="1600" b="1" dirty="0"/>
              <a:t>Instance methods can access instance variables and instance methods directly.</a:t>
            </a:r>
          </a:p>
          <a:p>
            <a:pPr lvl="1" algn="just"/>
            <a:r>
              <a:rPr lang="en-US" sz="1600" b="1" dirty="0"/>
              <a:t>Instance methods can access class variables and class methods directly.</a:t>
            </a:r>
          </a:p>
          <a:p>
            <a:pPr lvl="1" algn="just"/>
            <a:r>
              <a:rPr lang="en-US" sz="1600" b="1" dirty="0"/>
              <a:t>Class methods can access class variables and class methods directly.</a:t>
            </a:r>
          </a:p>
          <a:p>
            <a:pPr lvl="1" algn="just"/>
            <a:r>
              <a:rPr lang="en-US" sz="1600" b="1" dirty="0"/>
              <a:t>Class methods cannot access instance variables or instance methods directly—they must use an object reference. Also, class methods cannot use the this keyword as there is no instance for this to refer to.</a:t>
            </a:r>
          </a:p>
        </p:txBody>
      </p:sp>
    </p:spTree>
    <p:extLst>
      <p:ext uri="{BB962C8B-B14F-4D97-AF65-F5344CB8AC3E}">
        <p14:creationId xmlns:p14="http://schemas.microsoft.com/office/powerpoint/2010/main" val="4106773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US" dirty="0"/>
              <a:t>Member data and functions</a:t>
            </a:r>
          </a:p>
        </p:txBody>
      </p:sp>
      <p:sp>
        <p:nvSpPr>
          <p:cNvPr id="3" name="Content Placeholder 2"/>
          <p:cNvSpPr>
            <a:spLocks noGrp="1"/>
          </p:cNvSpPr>
          <p:nvPr>
            <p:ph idx="1"/>
          </p:nvPr>
        </p:nvSpPr>
        <p:spPr/>
        <p:txBody>
          <a:bodyPr>
            <a:normAutofit lnSpcReduction="10000"/>
          </a:bodyPr>
          <a:lstStyle/>
          <a:p>
            <a:r>
              <a:rPr lang="en-US" sz="2000" b="1" dirty="0"/>
              <a:t>Types of Data Members: -</a:t>
            </a:r>
          </a:p>
          <a:p>
            <a:pPr lvl="1"/>
            <a:r>
              <a:rPr lang="en-US" sz="2000" dirty="0"/>
              <a:t>a class is a collection of data members and methods. </a:t>
            </a:r>
          </a:p>
          <a:p>
            <a:pPr lvl="1"/>
            <a:r>
              <a:rPr lang="en-US" sz="2000" dirty="0"/>
              <a:t>two types of data members they are</a:t>
            </a:r>
            <a:br>
              <a:rPr lang="en-US" sz="2000" dirty="0"/>
            </a:br>
            <a:br>
              <a:rPr lang="en-US" sz="2000" dirty="0"/>
            </a:br>
            <a:r>
              <a:rPr lang="en-US" sz="2000" dirty="0"/>
              <a:t>                     1. Instance/non-static data members</a:t>
            </a:r>
            <a:br>
              <a:rPr lang="en-US" sz="2000" dirty="0"/>
            </a:br>
            <a:r>
              <a:rPr lang="en-US" sz="2000" dirty="0"/>
              <a:t>                     2. Static data members</a:t>
            </a:r>
          </a:p>
          <a:p>
            <a:r>
              <a:rPr lang="en-US" sz="2000" b="1" dirty="0"/>
              <a:t>Types of Methods: -</a:t>
            </a:r>
          </a:p>
          <a:p>
            <a:pPr lvl="1"/>
            <a:r>
              <a:rPr lang="en-US" sz="2000" dirty="0"/>
              <a:t>each and every method is meant for performing some operation.</a:t>
            </a:r>
          </a:p>
          <a:p>
            <a:pPr lvl="1"/>
            <a:r>
              <a:rPr lang="en-US" sz="2000" dirty="0"/>
              <a:t>two types of methods they are</a:t>
            </a:r>
            <a:br>
              <a:rPr lang="en-US" sz="2000" dirty="0"/>
            </a:br>
            <a:br>
              <a:rPr lang="en-US" sz="2000" dirty="0"/>
            </a:br>
            <a:r>
              <a:rPr lang="en-US" sz="2000" dirty="0"/>
              <a:t>                     1. Instance/ non –static methods</a:t>
            </a:r>
            <a:br>
              <a:rPr lang="en-US" sz="2000" dirty="0"/>
            </a:br>
            <a:r>
              <a:rPr lang="en-US" sz="2000" dirty="0"/>
              <a:t>                     2.  Static methods</a:t>
            </a:r>
            <a:br>
              <a:rPr lang="en-US" sz="2000" dirty="0"/>
            </a:br>
            <a:endParaRPr lang="en-US" sz="2000" dirty="0"/>
          </a:p>
        </p:txBody>
      </p:sp>
    </p:spTree>
    <p:extLst>
      <p:ext uri="{BB962C8B-B14F-4D97-AF65-F5344CB8AC3E}">
        <p14:creationId xmlns:p14="http://schemas.microsoft.com/office/powerpoint/2010/main" val="34460763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2564039452"/>
              </p:ext>
            </p:extLst>
          </p:nvPr>
        </p:nvGraphicFramePr>
        <p:xfrm>
          <a:off x="1132114" y="-3782"/>
          <a:ext cx="10366830" cy="6861782"/>
        </p:xfrm>
        <a:graphic>
          <a:graphicData uri="http://schemas.openxmlformats.org/drawingml/2006/table">
            <a:tbl>
              <a:tblPr/>
              <a:tblGrid>
                <a:gridCol w="5183415">
                  <a:extLst>
                    <a:ext uri="{9D8B030D-6E8A-4147-A177-3AD203B41FA5}">
                      <a16:colId xmlns:a16="http://schemas.microsoft.com/office/drawing/2014/main" val="20000"/>
                    </a:ext>
                  </a:extLst>
                </a:gridCol>
                <a:gridCol w="5183415">
                  <a:extLst>
                    <a:ext uri="{9D8B030D-6E8A-4147-A177-3AD203B41FA5}">
                      <a16:colId xmlns:a16="http://schemas.microsoft.com/office/drawing/2014/main" val="20001"/>
                    </a:ext>
                  </a:extLst>
                </a:gridCol>
              </a:tblGrid>
              <a:tr h="6241143">
                <a:tc>
                  <a:txBody>
                    <a:bodyPr/>
                    <a:lstStyle/>
                    <a:p>
                      <a:pPr algn="ctr" fontAlgn="t"/>
                      <a:r>
                        <a:rPr lang="en-US" sz="1400" b="1" dirty="0">
                          <a:solidFill>
                            <a:srgbClr val="000000"/>
                          </a:solidFill>
                          <a:effectLst/>
                          <a:latin typeface="Verdana" panose="020B0604030504040204" pitchFamily="34" charset="0"/>
                        </a:rPr>
                        <a:t>Instance Data members</a:t>
                      </a:r>
                      <a:br>
                        <a:rPr lang="en-US" sz="1400" b="1" dirty="0">
                          <a:solidFill>
                            <a:srgbClr val="000000"/>
                          </a:solidFill>
                          <a:effectLst/>
                          <a:latin typeface="Verdana" panose="020B0604030504040204" pitchFamily="34" charset="0"/>
                        </a:rPr>
                      </a:br>
                      <a:endParaRPr lang="en-US" sz="1400" b="1" dirty="0">
                        <a:solidFill>
                          <a:srgbClr val="000000"/>
                        </a:solidFill>
                        <a:effectLst/>
                        <a:latin typeface="Verdana" panose="020B0604030504040204" pitchFamily="34" charset="0"/>
                      </a:endParaRPr>
                    </a:p>
                    <a:p>
                      <a:pPr algn="l" fontAlgn="t"/>
                      <a:r>
                        <a:rPr lang="en-US" sz="1400" dirty="0">
                          <a:solidFill>
                            <a:srgbClr val="000000"/>
                          </a:solidFill>
                          <a:effectLst/>
                          <a:latin typeface="Verdana" panose="020B0604030504040204" pitchFamily="34" charset="0"/>
                        </a:rPr>
                        <a:t>1.       Instance data members are those whose memory space is created each and every time whenever an object is created.</a:t>
                      </a:r>
                      <a:br>
                        <a:rPr lang="en-US" sz="1400" dirty="0">
                          <a:solidFill>
                            <a:srgbClr val="000000"/>
                          </a:solidFill>
                          <a:effectLst/>
                          <a:latin typeface="Verdana" panose="020B0604030504040204" pitchFamily="34" charset="0"/>
                        </a:rPr>
                      </a:br>
                      <a:br>
                        <a:rPr lang="en-US" sz="1400" dirty="0">
                          <a:solidFill>
                            <a:srgbClr val="000000"/>
                          </a:solidFill>
                          <a:effectLst/>
                          <a:latin typeface="Verdana" panose="020B0604030504040204" pitchFamily="34" charset="0"/>
                        </a:rPr>
                      </a:br>
                      <a:br>
                        <a:rPr lang="en-US" sz="1400" dirty="0">
                          <a:solidFill>
                            <a:srgbClr val="000000"/>
                          </a:solidFill>
                          <a:effectLst/>
                          <a:latin typeface="Verdana" panose="020B0604030504040204" pitchFamily="34" charset="0"/>
                        </a:rPr>
                      </a:br>
                      <a:br>
                        <a:rPr lang="en-US" sz="1400" dirty="0">
                          <a:solidFill>
                            <a:srgbClr val="000000"/>
                          </a:solidFill>
                          <a:effectLst/>
                          <a:latin typeface="Verdana" panose="020B0604030504040204" pitchFamily="34" charset="0"/>
                        </a:rPr>
                      </a:br>
                      <a:r>
                        <a:rPr lang="en-US" sz="1400" dirty="0">
                          <a:solidFill>
                            <a:srgbClr val="000000"/>
                          </a:solidFill>
                          <a:effectLst/>
                          <a:latin typeface="Verdana" panose="020B0604030504040204" pitchFamily="34" charset="0"/>
                        </a:rPr>
                        <a:t>2.       Instance data members are always meant for storing specific values.</a:t>
                      </a:r>
                      <a:br>
                        <a:rPr lang="en-US" sz="1400" dirty="0">
                          <a:solidFill>
                            <a:srgbClr val="000000"/>
                          </a:solidFill>
                          <a:effectLst/>
                          <a:latin typeface="Verdana" panose="020B0604030504040204" pitchFamily="34" charset="0"/>
                        </a:rPr>
                      </a:br>
                      <a:br>
                        <a:rPr lang="en-US" sz="1400" dirty="0">
                          <a:solidFill>
                            <a:srgbClr val="000000"/>
                          </a:solidFill>
                          <a:effectLst/>
                          <a:latin typeface="Verdana" panose="020B0604030504040204" pitchFamily="34" charset="0"/>
                        </a:rPr>
                      </a:br>
                      <a:r>
                        <a:rPr lang="en-US" sz="1400" dirty="0">
                          <a:solidFill>
                            <a:srgbClr val="000000"/>
                          </a:solidFill>
                          <a:effectLst/>
                          <a:latin typeface="Verdana" panose="020B0604030504040204" pitchFamily="34" charset="0"/>
                        </a:rPr>
                        <a:t>3.       Programmatically instance data members declaration should not be preceded by a keyword static.</a:t>
                      </a:r>
                      <a:br>
                        <a:rPr lang="en-US" sz="1400" dirty="0">
                          <a:solidFill>
                            <a:srgbClr val="000000"/>
                          </a:solidFill>
                          <a:effectLst/>
                          <a:latin typeface="Verdana" panose="020B0604030504040204" pitchFamily="34" charset="0"/>
                        </a:rPr>
                      </a:br>
                      <a:br>
                        <a:rPr lang="en-US" sz="1400" dirty="0">
                          <a:solidFill>
                            <a:srgbClr val="000000"/>
                          </a:solidFill>
                          <a:effectLst/>
                          <a:latin typeface="Verdana" panose="020B0604030504040204" pitchFamily="34" charset="0"/>
                        </a:rPr>
                      </a:br>
                      <a:r>
                        <a:rPr lang="en-US" sz="1400" b="1" dirty="0">
                          <a:solidFill>
                            <a:srgbClr val="000000"/>
                          </a:solidFill>
                          <a:effectLst/>
                          <a:latin typeface="Verdana" panose="020B0604030504040204" pitchFamily="34" charset="0"/>
                        </a:rPr>
                        <a:t>   Syntax: -</a:t>
                      </a:r>
                      <a:br>
                        <a:rPr lang="en-US" sz="1400" dirty="0">
                          <a:solidFill>
                            <a:srgbClr val="000000"/>
                          </a:solidFill>
                          <a:effectLst/>
                          <a:latin typeface="Verdana" panose="020B0604030504040204" pitchFamily="34" charset="0"/>
                        </a:rPr>
                      </a:br>
                      <a:r>
                        <a:rPr lang="en-US" sz="1400" dirty="0">
                          <a:solidFill>
                            <a:srgbClr val="000000"/>
                          </a:solidFill>
                          <a:effectLst/>
                          <a:latin typeface="Verdana" panose="020B0604030504040204" pitchFamily="34" charset="0"/>
                        </a:rPr>
                        <a:t>     Data type v1, v2, v3 ………. </a:t>
                      </a:r>
                      <a:r>
                        <a:rPr lang="en-US" sz="1400" dirty="0" err="1">
                          <a:solidFill>
                            <a:srgbClr val="000000"/>
                          </a:solidFill>
                          <a:effectLst/>
                          <a:latin typeface="Verdana" panose="020B0604030504040204" pitchFamily="34" charset="0"/>
                        </a:rPr>
                        <a:t>Vn</a:t>
                      </a:r>
                      <a:r>
                        <a:rPr lang="en-US" sz="1400" dirty="0">
                          <a:solidFill>
                            <a:srgbClr val="000000"/>
                          </a:solidFill>
                          <a:effectLst/>
                          <a:latin typeface="Verdana" panose="020B0604030504040204" pitchFamily="34" charset="0"/>
                        </a:rPr>
                        <a:t>;</a:t>
                      </a:r>
                      <a:br>
                        <a:rPr lang="en-US" sz="1400" dirty="0">
                          <a:solidFill>
                            <a:srgbClr val="000000"/>
                          </a:solidFill>
                          <a:effectLst/>
                          <a:latin typeface="Verdana" panose="020B0604030504040204" pitchFamily="34" charset="0"/>
                        </a:rPr>
                      </a:br>
                      <a:br>
                        <a:rPr lang="en-US" sz="1400" dirty="0">
                          <a:solidFill>
                            <a:srgbClr val="000000"/>
                          </a:solidFill>
                          <a:effectLst/>
                          <a:latin typeface="Verdana" panose="020B0604030504040204" pitchFamily="34" charset="0"/>
                        </a:rPr>
                      </a:br>
                      <a:r>
                        <a:rPr lang="en-US" sz="1400" dirty="0">
                          <a:solidFill>
                            <a:srgbClr val="000000"/>
                          </a:solidFill>
                          <a:effectLst/>
                          <a:latin typeface="Verdana" panose="020B0604030504040204" pitchFamily="34" charset="0"/>
                        </a:rPr>
                        <a:t>4.       Each and every instance data member must be access with respective </a:t>
                      </a:r>
                      <a:r>
                        <a:rPr lang="en-US" sz="1400" b="1" dirty="0">
                          <a:solidFill>
                            <a:srgbClr val="000000"/>
                          </a:solidFill>
                          <a:effectLst/>
                          <a:latin typeface="Verdana" panose="020B0604030504040204" pitchFamily="34" charset="0"/>
                        </a:rPr>
                        <a:t>object name</a:t>
                      </a:r>
                      <a:r>
                        <a:rPr lang="en-US" sz="1400" dirty="0">
                          <a:solidFill>
                            <a:srgbClr val="000000"/>
                          </a:solidFill>
                          <a:effectLst/>
                          <a:latin typeface="Verdana" panose="020B0604030504040204" pitchFamily="34" charset="0"/>
                        </a:rPr>
                        <a:t>.</a:t>
                      </a:r>
                      <a:br>
                        <a:rPr lang="en-US" sz="1400" dirty="0">
                          <a:solidFill>
                            <a:srgbClr val="000000"/>
                          </a:solidFill>
                          <a:effectLst/>
                          <a:latin typeface="Verdana" panose="020B0604030504040204" pitchFamily="34" charset="0"/>
                        </a:rPr>
                      </a:br>
                      <a:br>
                        <a:rPr lang="en-US" sz="1400" dirty="0">
                          <a:solidFill>
                            <a:srgbClr val="000000"/>
                          </a:solidFill>
                          <a:effectLst/>
                          <a:latin typeface="Verdana" panose="020B0604030504040204" pitchFamily="34" charset="0"/>
                        </a:rPr>
                      </a:br>
                      <a:r>
                        <a:rPr lang="en-US" sz="1400" b="1" dirty="0">
                          <a:solidFill>
                            <a:srgbClr val="000000"/>
                          </a:solidFill>
                          <a:effectLst/>
                          <a:latin typeface="Verdana" panose="020B0604030504040204" pitchFamily="34" charset="0"/>
                        </a:rPr>
                        <a:t>   Ex: -</a:t>
                      </a:r>
                      <a:br>
                        <a:rPr lang="en-US" sz="1400" dirty="0">
                          <a:solidFill>
                            <a:srgbClr val="000000"/>
                          </a:solidFill>
                          <a:effectLst/>
                          <a:latin typeface="Verdana" panose="020B0604030504040204" pitchFamily="34" charset="0"/>
                        </a:rPr>
                      </a:br>
                      <a:r>
                        <a:rPr lang="en-US" sz="1400" b="1" dirty="0">
                          <a:solidFill>
                            <a:srgbClr val="000000"/>
                          </a:solidFill>
                          <a:effectLst/>
                          <a:latin typeface="Verdana" panose="020B0604030504040204" pitchFamily="34" charset="0"/>
                        </a:rPr>
                        <a:t>      </a:t>
                      </a:r>
                      <a:r>
                        <a:rPr lang="en-US" sz="1400" dirty="0" err="1">
                          <a:solidFill>
                            <a:srgbClr val="000000"/>
                          </a:solidFill>
                          <a:effectLst/>
                          <a:latin typeface="Verdana" panose="020B0604030504040204" pitchFamily="34" charset="0"/>
                        </a:rPr>
                        <a:t>Objname.instance</a:t>
                      </a:r>
                      <a:r>
                        <a:rPr lang="en-US" sz="1400" dirty="0">
                          <a:solidFill>
                            <a:srgbClr val="000000"/>
                          </a:solidFill>
                          <a:effectLst/>
                          <a:latin typeface="Verdana" panose="020B0604030504040204" pitchFamily="34" charset="0"/>
                        </a:rPr>
                        <a:t> data member name</a:t>
                      </a:r>
                      <a:br>
                        <a:rPr lang="en-US" sz="1400" dirty="0">
                          <a:solidFill>
                            <a:srgbClr val="000000"/>
                          </a:solidFill>
                          <a:effectLst/>
                          <a:latin typeface="Verdana" panose="020B0604030504040204" pitchFamily="34" charset="0"/>
                        </a:rPr>
                      </a:br>
                      <a:br>
                        <a:rPr lang="en-US" sz="1400" dirty="0">
                          <a:solidFill>
                            <a:srgbClr val="000000"/>
                          </a:solidFill>
                          <a:effectLst/>
                          <a:latin typeface="Verdana" panose="020B0604030504040204" pitchFamily="34" charset="0"/>
                        </a:rPr>
                      </a:br>
                      <a:r>
                        <a:rPr lang="en-US" sz="1400" dirty="0">
                          <a:solidFill>
                            <a:srgbClr val="000000"/>
                          </a:solidFill>
                          <a:effectLst/>
                          <a:latin typeface="Verdana" panose="020B0604030504040204" pitchFamily="34" charset="0"/>
                        </a:rPr>
                        <a:t>5.       Instance data members are also known as </a:t>
                      </a:r>
                      <a:r>
                        <a:rPr lang="en-US" sz="1400" b="1" dirty="0">
                          <a:solidFill>
                            <a:srgbClr val="000000"/>
                          </a:solidFill>
                          <a:effectLst/>
                          <a:latin typeface="Verdana" panose="020B0604030504040204" pitchFamily="34" charset="0"/>
                        </a:rPr>
                        <a:t>Object Level Data Members</a:t>
                      </a:r>
                      <a:r>
                        <a:rPr lang="en-US" sz="1400" dirty="0">
                          <a:solidFill>
                            <a:srgbClr val="000000"/>
                          </a:solidFill>
                          <a:effectLst/>
                          <a:latin typeface="Verdana" panose="020B0604030504040204" pitchFamily="34" charset="0"/>
                        </a:rPr>
                        <a:t> because they depend on object name and independent from class name.</a:t>
                      </a:r>
                      <a:br>
                        <a:rPr lang="en-US" sz="1400" dirty="0">
                          <a:solidFill>
                            <a:srgbClr val="000000"/>
                          </a:solidFill>
                          <a:effectLst/>
                          <a:latin typeface="Verdana" panose="020B0604030504040204" pitchFamily="34" charset="0"/>
                        </a:rPr>
                      </a:br>
                      <a:br>
                        <a:rPr lang="en-US" sz="1400" dirty="0">
                          <a:solidFill>
                            <a:srgbClr val="000000"/>
                          </a:solidFill>
                          <a:effectLst/>
                          <a:latin typeface="Verdana" panose="020B0604030504040204" pitchFamily="34" charset="0"/>
                        </a:rPr>
                      </a:br>
                      <a:r>
                        <a:rPr lang="en-US" sz="1400" b="1" dirty="0">
                          <a:solidFill>
                            <a:srgbClr val="000000"/>
                          </a:solidFill>
                          <a:effectLst/>
                          <a:latin typeface="Verdana" panose="020B0604030504040204" pitchFamily="34" charset="0"/>
                        </a:rPr>
                        <a:t>    Ex: -</a:t>
                      </a:r>
                      <a:br>
                        <a:rPr lang="en-US" sz="1400" dirty="0">
                          <a:solidFill>
                            <a:srgbClr val="000000"/>
                          </a:solidFill>
                          <a:effectLst/>
                          <a:latin typeface="Verdana" panose="020B0604030504040204" pitchFamily="34" charset="0"/>
                        </a:rPr>
                      </a:br>
                      <a:r>
                        <a:rPr lang="en-US" sz="1400" b="1" dirty="0">
                          <a:solidFill>
                            <a:srgbClr val="000000"/>
                          </a:solidFill>
                          <a:effectLst/>
                          <a:latin typeface="Verdana" panose="020B0604030504040204" pitchFamily="34" charset="0"/>
                        </a:rPr>
                        <a:t>                </a:t>
                      </a:r>
                      <a:r>
                        <a:rPr lang="en-US" sz="1400" dirty="0">
                          <a:solidFill>
                            <a:srgbClr val="000000"/>
                          </a:solidFill>
                          <a:effectLst/>
                          <a:latin typeface="Verdana" panose="020B0604030504040204" pitchFamily="34" charset="0"/>
                        </a:rPr>
                        <a:t>int pin;</a:t>
                      </a:r>
                      <a:br>
                        <a:rPr lang="en-US" sz="1400" dirty="0">
                          <a:solidFill>
                            <a:srgbClr val="000000"/>
                          </a:solidFill>
                          <a:effectLst/>
                          <a:latin typeface="Verdana" panose="020B0604030504040204" pitchFamily="34" charset="0"/>
                        </a:rPr>
                      </a:br>
                      <a:r>
                        <a:rPr lang="en-US" sz="1400" dirty="0">
                          <a:solidFill>
                            <a:srgbClr val="000000"/>
                          </a:solidFill>
                          <a:effectLst/>
                          <a:latin typeface="Verdana" panose="020B0604030504040204" pitchFamily="34" charset="0"/>
                        </a:rPr>
                        <a:t>                int </a:t>
                      </a:r>
                      <a:r>
                        <a:rPr lang="en-US" sz="1400" dirty="0" err="1">
                          <a:solidFill>
                            <a:srgbClr val="000000"/>
                          </a:solidFill>
                          <a:effectLst/>
                          <a:latin typeface="Verdana" panose="020B0604030504040204" pitchFamily="34" charset="0"/>
                        </a:rPr>
                        <a:t>stno</a:t>
                      </a:r>
                      <a:r>
                        <a:rPr lang="en-US" sz="1400" dirty="0">
                          <a:solidFill>
                            <a:srgbClr val="000000"/>
                          </a:solidFill>
                          <a:effectLst/>
                          <a:latin typeface="Verdana" panose="020B0604030504040204" pitchFamily="34" charset="0"/>
                        </a:rPr>
                        <a:t>;</a:t>
                      </a:r>
                      <a:br>
                        <a:rPr lang="en-US" sz="1400" dirty="0">
                          <a:solidFill>
                            <a:srgbClr val="000000"/>
                          </a:solidFill>
                          <a:effectLst/>
                          <a:latin typeface="Verdana" panose="020B0604030504040204" pitchFamily="34" charset="0"/>
                        </a:rPr>
                      </a:br>
                      <a:r>
                        <a:rPr lang="en-US" sz="1400" dirty="0">
                          <a:solidFill>
                            <a:srgbClr val="000000"/>
                          </a:solidFill>
                          <a:effectLst/>
                          <a:latin typeface="Verdana" panose="020B0604030504040204" pitchFamily="34" charset="0"/>
                        </a:rPr>
                        <a:t>                string </a:t>
                      </a:r>
                      <a:r>
                        <a:rPr lang="en-US" sz="1400" dirty="0" err="1">
                          <a:solidFill>
                            <a:srgbClr val="000000"/>
                          </a:solidFill>
                          <a:effectLst/>
                          <a:latin typeface="Verdana" panose="020B0604030504040204" pitchFamily="34" charset="0"/>
                        </a:rPr>
                        <a:t>sname</a:t>
                      </a:r>
                      <a:r>
                        <a:rPr lang="en-US" sz="1400" dirty="0">
                          <a:solidFill>
                            <a:srgbClr val="000000"/>
                          </a:solidFill>
                          <a:effectLst/>
                          <a:latin typeface="Verdana" panose="020B0604030504040204" pitchFamily="34" charset="0"/>
                        </a:rPr>
                        <a:t>;</a:t>
                      </a:r>
                      <a:br>
                        <a:rPr lang="en-US" sz="1400" dirty="0">
                          <a:solidFill>
                            <a:srgbClr val="000000"/>
                          </a:solidFill>
                          <a:effectLst/>
                          <a:latin typeface="Verdana" panose="020B0604030504040204" pitchFamily="34" charset="0"/>
                        </a:rPr>
                      </a:br>
                      <a:endParaRPr lang="en-US" sz="1400" dirty="0">
                        <a:solidFill>
                          <a:srgbClr val="000000"/>
                        </a:solidFill>
                        <a:effectLst/>
                        <a:latin typeface="Verdana" panose="020B0604030504040204" pitchFamily="34" charset="0"/>
                      </a:endParaRPr>
                    </a:p>
                  </a:txBody>
                  <a:tcPr marL="53535" marR="53535" marT="17131" marB="17131">
                    <a:lnL>
                      <a:noFill/>
                    </a:lnL>
                    <a:lnR>
                      <a:noFill/>
                    </a:lnR>
                    <a:lnT>
                      <a:noFill/>
                    </a:lnT>
                    <a:lnB>
                      <a:noFill/>
                    </a:lnB>
                    <a:solidFill>
                      <a:srgbClr val="FFFFFF"/>
                    </a:solidFill>
                  </a:tcPr>
                </a:tc>
                <a:tc>
                  <a:txBody>
                    <a:bodyPr/>
                    <a:lstStyle/>
                    <a:p>
                      <a:pPr algn="ctr" fontAlgn="t"/>
                      <a:r>
                        <a:rPr lang="en-US" sz="1400" b="1" dirty="0">
                          <a:solidFill>
                            <a:srgbClr val="000000"/>
                          </a:solidFill>
                          <a:effectLst/>
                          <a:latin typeface="Verdana" panose="020B0604030504040204" pitchFamily="34" charset="0"/>
                        </a:rPr>
                        <a:t>Static Data members</a:t>
                      </a:r>
                      <a:br>
                        <a:rPr lang="en-US" sz="1400" b="1" dirty="0">
                          <a:solidFill>
                            <a:srgbClr val="000000"/>
                          </a:solidFill>
                          <a:effectLst/>
                          <a:latin typeface="Verdana" panose="020B0604030504040204" pitchFamily="34" charset="0"/>
                        </a:rPr>
                      </a:br>
                      <a:endParaRPr lang="en-US" sz="1400" b="1" dirty="0">
                        <a:solidFill>
                          <a:srgbClr val="000000"/>
                        </a:solidFill>
                        <a:effectLst/>
                        <a:latin typeface="Verdana" panose="020B0604030504040204" pitchFamily="34" charset="0"/>
                      </a:endParaRPr>
                    </a:p>
                    <a:p>
                      <a:pPr algn="l" fontAlgn="t"/>
                      <a:r>
                        <a:rPr lang="en-US" sz="1400" dirty="0">
                          <a:solidFill>
                            <a:srgbClr val="000000"/>
                          </a:solidFill>
                          <a:effectLst/>
                          <a:latin typeface="Verdana" panose="020B0604030504040204" pitchFamily="34" charset="0"/>
                        </a:rPr>
                        <a:t>1.       Static data members are those whose memory space is created only once, whenever the class is loaded in the main memory irrespective of no of objects are created.</a:t>
                      </a:r>
                      <a:br>
                        <a:rPr lang="en-US" sz="1400" dirty="0">
                          <a:solidFill>
                            <a:srgbClr val="000000"/>
                          </a:solidFill>
                          <a:effectLst/>
                          <a:latin typeface="Verdana" panose="020B0604030504040204" pitchFamily="34" charset="0"/>
                        </a:rPr>
                      </a:br>
                      <a:br>
                        <a:rPr lang="en-US" sz="1400" dirty="0">
                          <a:solidFill>
                            <a:srgbClr val="000000"/>
                          </a:solidFill>
                          <a:effectLst/>
                          <a:latin typeface="Verdana" panose="020B0604030504040204" pitchFamily="34" charset="0"/>
                        </a:rPr>
                      </a:br>
                      <a:r>
                        <a:rPr lang="en-US" sz="1400" dirty="0">
                          <a:solidFill>
                            <a:srgbClr val="000000"/>
                          </a:solidFill>
                          <a:effectLst/>
                          <a:latin typeface="Verdana" panose="020B0604030504040204" pitchFamily="34" charset="0"/>
                        </a:rPr>
                        <a:t>2.       Static data members are meant for storing common values.</a:t>
                      </a:r>
                      <a:br>
                        <a:rPr lang="en-US" sz="1400" dirty="0">
                          <a:solidFill>
                            <a:srgbClr val="000000"/>
                          </a:solidFill>
                          <a:effectLst/>
                          <a:latin typeface="Verdana" panose="020B0604030504040204" pitchFamily="34" charset="0"/>
                        </a:rPr>
                      </a:br>
                      <a:br>
                        <a:rPr lang="en-US" sz="1400" dirty="0">
                          <a:solidFill>
                            <a:srgbClr val="000000"/>
                          </a:solidFill>
                          <a:effectLst/>
                          <a:latin typeface="Verdana" panose="020B0604030504040204" pitchFamily="34" charset="0"/>
                        </a:rPr>
                      </a:br>
                      <a:r>
                        <a:rPr lang="en-US" sz="1400" dirty="0">
                          <a:solidFill>
                            <a:srgbClr val="000000"/>
                          </a:solidFill>
                          <a:effectLst/>
                          <a:latin typeface="Verdana" panose="020B0604030504040204" pitchFamily="34" charset="0"/>
                        </a:rPr>
                        <a:t>3.       Programmatically static data member declaration must be preceded by </a:t>
                      </a:r>
                      <a:r>
                        <a:rPr lang="en-US" sz="1400" b="1" dirty="0">
                          <a:solidFill>
                            <a:srgbClr val="000000"/>
                          </a:solidFill>
                          <a:effectLst/>
                          <a:latin typeface="Verdana" panose="020B0604030504040204" pitchFamily="34" charset="0"/>
                        </a:rPr>
                        <a:t>static</a:t>
                      </a:r>
                      <a:r>
                        <a:rPr lang="en-US" sz="1400" dirty="0">
                          <a:solidFill>
                            <a:srgbClr val="000000"/>
                          </a:solidFill>
                          <a:effectLst/>
                          <a:latin typeface="Verdana" panose="020B0604030504040204" pitchFamily="34" charset="0"/>
                        </a:rPr>
                        <a:t> keyword.</a:t>
                      </a:r>
                      <a:br>
                        <a:rPr lang="en-US" sz="1400" dirty="0">
                          <a:solidFill>
                            <a:srgbClr val="000000"/>
                          </a:solidFill>
                          <a:effectLst/>
                          <a:latin typeface="Verdana" panose="020B0604030504040204" pitchFamily="34" charset="0"/>
                        </a:rPr>
                      </a:br>
                      <a:br>
                        <a:rPr lang="en-US" sz="1400" dirty="0">
                          <a:solidFill>
                            <a:srgbClr val="000000"/>
                          </a:solidFill>
                          <a:effectLst/>
                          <a:latin typeface="Verdana" panose="020B0604030504040204" pitchFamily="34" charset="0"/>
                        </a:rPr>
                      </a:br>
                      <a:r>
                        <a:rPr lang="en-US" sz="1400" b="1" dirty="0">
                          <a:solidFill>
                            <a:srgbClr val="000000"/>
                          </a:solidFill>
                          <a:effectLst/>
                          <a:latin typeface="Verdana" panose="020B0604030504040204" pitchFamily="34" charset="0"/>
                        </a:rPr>
                        <a:t>    Syntax: -</a:t>
                      </a:r>
                      <a:br>
                        <a:rPr lang="en-US" sz="1400" dirty="0">
                          <a:solidFill>
                            <a:srgbClr val="000000"/>
                          </a:solidFill>
                          <a:effectLst/>
                          <a:latin typeface="Verdana" panose="020B0604030504040204" pitchFamily="34" charset="0"/>
                        </a:rPr>
                      </a:br>
                      <a:r>
                        <a:rPr lang="en-US" sz="1400" b="1" dirty="0">
                          <a:solidFill>
                            <a:srgbClr val="000000"/>
                          </a:solidFill>
                          <a:effectLst/>
                          <a:latin typeface="Verdana" panose="020B0604030504040204" pitchFamily="34" charset="0"/>
                        </a:rPr>
                        <a:t>       </a:t>
                      </a:r>
                      <a:r>
                        <a:rPr lang="en-US" sz="1400" dirty="0">
                          <a:solidFill>
                            <a:srgbClr val="000000"/>
                          </a:solidFill>
                          <a:effectLst/>
                          <a:latin typeface="Verdana" panose="020B0604030504040204" pitchFamily="34" charset="0"/>
                        </a:rPr>
                        <a:t>static data type v1, v2, v3 ………. </a:t>
                      </a:r>
                      <a:r>
                        <a:rPr lang="en-US" sz="1400" dirty="0" err="1">
                          <a:solidFill>
                            <a:srgbClr val="000000"/>
                          </a:solidFill>
                          <a:effectLst/>
                          <a:latin typeface="Verdana" panose="020B0604030504040204" pitchFamily="34" charset="0"/>
                        </a:rPr>
                        <a:t>Vn</a:t>
                      </a:r>
                      <a:r>
                        <a:rPr lang="en-US" sz="1400" dirty="0">
                          <a:solidFill>
                            <a:srgbClr val="000000"/>
                          </a:solidFill>
                          <a:effectLst/>
                          <a:latin typeface="Verdana" panose="020B0604030504040204" pitchFamily="34" charset="0"/>
                        </a:rPr>
                        <a:t>;</a:t>
                      </a:r>
                      <a:br>
                        <a:rPr lang="en-US" sz="1400" dirty="0">
                          <a:solidFill>
                            <a:srgbClr val="000000"/>
                          </a:solidFill>
                          <a:effectLst/>
                          <a:latin typeface="Verdana" panose="020B0604030504040204" pitchFamily="34" charset="0"/>
                        </a:rPr>
                      </a:br>
                      <a:br>
                        <a:rPr lang="en-US" sz="1400" dirty="0">
                          <a:solidFill>
                            <a:srgbClr val="000000"/>
                          </a:solidFill>
                          <a:effectLst/>
                          <a:latin typeface="Verdana" panose="020B0604030504040204" pitchFamily="34" charset="0"/>
                        </a:rPr>
                      </a:br>
                      <a:r>
                        <a:rPr lang="en-US" sz="1400" dirty="0">
                          <a:solidFill>
                            <a:srgbClr val="000000"/>
                          </a:solidFill>
                          <a:effectLst/>
                          <a:latin typeface="Verdana" panose="020B0604030504040204" pitchFamily="34" charset="0"/>
                        </a:rPr>
                        <a:t>4.       Each and every static data member must be access with respective </a:t>
                      </a:r>
                      <a:r>
                        <a:rPr lang="en-US" sz="1400" b="1" dirty="0">
                          <a:solidFill>
                            <a:srgbClr val="000000"/>
                          </a:solidFill>
                          <a:effectLst/>
                          <a:latin typeface="Verdana" panose="020B0604030504040204" pitchFamily="34" charset="0"/>
                        </a:rPr>
                        <a:t>class name</a:t>
                      </a:r>
                      <a:r>
                        <a:rPr lang="en-US" sz="1400" dirty="0">
                          <a:solidFill>
                            <a:srgbClr val="000000"/>
                          </a:solidFill>
                          <a:effectLst/>
                          <a:latin typeface="Verdana" panose="020B0604030504040204" pitchFamily="34" charset="0"/>
                        </a:rPr>
                        <a:t>.</a:t>
                      </a:r>
                      <a:br>
                        <a:rPr lang="en-US" sz="1400" dirty="0">
                          <a:solidFill>
                            <a:srgbClr val="000000"/>
                          </a:solidFill>
                          <a:effectLst/>
                          <a:latin typeface="Verdana" panose="020B0604030504040204" pitchFamily="34" charset="0"/>
                        </a:rPr>
                      </a:br>
                      <a:br>
                        <a:rPr lang="en-US" sz="1400" dirty="0">
                          <a:solidFill>
                            <a:srgbClr val="000000"/>
                          </a:solidFill>
                          <a:effectLst/>
                          <a:latin typeface="Verdana" panose="020B0604030504040204" pitchFamily="34" charset="0"/>
                        </a:rPr>
                      </a:br>
                      <a:r>
                        <a:rPr lang="en-US" sz="1400" b="1" dirty="0">
                          <a:solidFill>
                            <a:srgbClr val="000000"/>
                          </a:solidFill>
                          <a:effectLst/>
                          <a:latin typeface="Verdana" panose="020B0604030504040204" pitchFamily="34" charset="0"/>
                        </a:rPr>
                        <a:t>   Ex: -</a:t>
                      </a:r>
                      <a:br>
                        <a:rPr lang="en-US" sz="1400" dirty="0">
                          <a:solidFill>
                            <a:srgbClr val="000000"/>
                          </a:solidFill>
                          <a:effectLst/>
                          <a:latin typeface="Verdana" panose="020B0604030504040204" pitchFamily="34" charset="0"/>
                        </a:rPr>
                      </a:br>
                      <a:r>
                        <a:rPr lang="en-US" sz="1400" b="1" dirty="0">
                          <a:solidFill>
                            <a:srgbClr val="000000"/>
                          </a:solidFill>
                          <a:effectLst/>
                          <a:latin typeface="Verdana" panose="020B0604030504040204" pitchFamily="34" charset="0"/>
                        </a:rPr>
                        <a:t>        </a:t>
                      </a:r>
                      <a:r>
                        <a:rPr lang="en-US" sz="1400" dirty="0">
                          <a:solidFill>
                            <a:srgbClr val="000000"/>
                          </a:solidFill>
                          <a:effectLst/>
                          <a:latin typeface="Verdana" panose="020B0604030504040204" pitchFamily="34" charset="0"/>
                        </a:rPr>
                        <a:t>Class </a:t>
                      </a:r>
                      <a:r>
                        <a:rPr lang="en-US" sz="1400" dirty="0" err="1">
                          <a:solidFill>
                            <a:srgbClr val="000000"/>
                          </a:solidFill>
                          <a:effectLst/>
                          <a:latin typeface="Verdana" panose="020B0604030504040204" pitchFamily="34" charset="0"/>
                        </a:rPr>
                        <a:t>name.static</a:t>
                      </a:r>
                      <a:r>
                        <a:rPr lang="en-US" sz="1400" dirty="0">
                          <a:solidFill>
                            <a:srgbClr val="000000"/>
                          </a:solidFill>
                          <a:effectLst/>
                          <a:latin typeface="Verdana" panose="020B0604030504040204" pitchFamily="34" charset="0"/>
                        </a:rPr>
                        <a:t> data member name</a:t>
                      </a:r>
                      <a:br>
                        <a:rPr lang="en-US" sz="1400" dirty="0">
                          <a:solidFill>
                            <a:srgbClr val="000000"/>
                          </a:solidFill>
                          <a:effectLst/>
                          <a:latin typeface="Verdana" panose="020B0604030504040204" pitchFamily="34" charset="0"/>
                        </a:rPr>
                      </a:br>
                      <a:br>
                        <a:rPr lang="en-US" sz="1400" dirty="0">
                          <a:solidFill>
                            <a:srgbClr val="000000"/>
                          </a:solidFill>
                          <a:effectLst/>
                          <a:latin typeface="Verdana" panose="020B0604030504040204" pitchFamily="34" charset="0"/>
                        </a:rPr>
                      </a:br>
                      <a:r>
                        <a:rPr lang="en-US" sz="1400" dirty="0">
                          <a:solidFill>
                            <a:srgbClr val="000000"/>
                          </a:solidFill>
                          <a:effectLst/>
                          <a:latin typeface="Verdana" panose="020B0604030504040204" pitchFamily="34" charset="0"/>
                        </a:rPr>
                        <a:t>5.       Static data member are also known as </a:t>
                      </a:r>
                      <a:r>
                        <a:rPr lang="en-US" sz="1400" b="1" dirty="0">
                          <a:solidFill>
                            <a:srgbClr val="000000"/>
                          </a:solidFill>
                          <a:effectLst/>
                          <a:latin typeface="Verdana" panose="020B0604030504040204" pitchFamily="34" charset="0"/>
                        </a:rPr>
                        <a:t>Class Level Data Members </a:t>
                      </a:r>
                      <a:r>
                        <a:rPr lang="en-US" sz="1400" dirty="0">
                          <a:solidFill>
                            <a:srgbClr val="000000"/>
                          </a:solidFill>
                          <a:effectLst/>
                          <a:latin typeface="Verdana" panose="020B0604030504040204" pitchFamily="34" charset="0"/>
                        </a:rPr>
                        <a:t>because they depends on class name and independent from object name</a:t>
                      </a:r>
                      <a:br>
                        <a:rPr lang="en-US" sz="1400" dirty="0">
                          <a:solidFill>
                            <a:srgbClr val="000000"/>
                          </a:solidFill>
                          <a:effectLst/>
                          <a:latin typeface="Verdana" panose="020B0604030504040204" pitchFamily="34" charset="0"/>
                        </a:rPr>
                      </a:br>
                      <a:br>
                        <a:rPr lang="en-US" sz="1400" dirty="0">
                          <a:solidFill>
                            <a:srgbClr val="000000"/>
                          </a:solidFill>
                          <a:effectLst/>
                          <a:latin typeface="Verdana" panose="020B0604030504040204" pitchFamily="34" charset="0"/>
                        </a:rPr>
                      </a:br>
                      <a:r>
                        <a:rPr lang="en-US" sz="1400" b="1" dirty="0">
                          <a:solidFill>
                            <a:srgbClr val="000000"/>
                          </a:solidFill>
                          <a:effectLst/>
                          <a:latin typeface="Verdana" panose="020B0604030504040204" pitchFamily="34" charset="0"/>
                        </a:rPr>
                        <a:t>    Ex: -</a:t>
                      </a:r>
                      <a:br>
                        <a:rPr lang="en-US" sz="1400" dirty="0">
                          <a:solidFill>
                            <a:srgbClr val="000000"/>
                          </a:solidFill>
                          <a:effectLst/>
                          <a:latin typeface="Verdana" panose="020B0604030504040204" pitchFamily="34" charset="0"/>
                        </a:rPr>
                      </a:br>
                      <a:r>
                        <a:rPr lang="en-US" sz="1400" b="1" dirty="0">
                          <a:solidFill>
                            <a:srgbClr val="000000"/>
                          </a:solidFill>
                          <a:effectLst/>
                          <a:latin typeface="Verdana" panose="020B0604030504040204" pitchFamily="34" charset="0"/>
                        </a:rPr>
                        <a:t>                </a:t>
                      </a:r>
                      <a:r>
                        <a:rPr lang="en-US" sz="1400" dirty="0">
                          <a:solidFill>
                            <a:srgbClr val="000000"/>
                          </a:solidFill>
                          <a:effectLst/>
                          <a:latin typeface="Verdana" panose="020B0604030504040204" pitchFamily="34" charset="0"/>
                        </a:rPr>
                        <a:t>static String </a:t>
                      </a:r>
                      <a:r>
                        <a:rPr lang="en-US" sz="1400" dirty="0" err="1">
                          <a:solidFill>
                            <a:srgbClr val="000000"/>
                          </a:solidFill>
                          <a:effectLst/>
                          <a:latin typeface="Verdana" panose="020B0604030504040204" pitchFamily="34" charset="0"/>
                        </a:rPr>
                        <a:t>cname</a:t>
                      </a:r>
                      <a:r>
                        <a:rPr lang="en-US" sz="1400" dirty="0">
                          <a:solidFill>
                            <a:srgbClr val="000000"/>
                          </a:solidFill>
                          <a:effectLst/>
                          <a:latin typeface="Verdana" panose="020B0604030504040204" pitchFamily="34" charset="0"/>
                        </a:rPr>
                        <a:t>;</a:t>
                      </a:r>
                      <a:br>
                        <a:rPr lang="en-US" sz="1400" dirty="0">
                          <a:solidFill>
                            <a:srgbClr val="000000"/>
                          </a:solidFill>
                          <a:effectLst/>
                          <a:latin typeface="Verdana" panose="020B0604030504040204" pitchFamily="34" charset="0"/>
                        </a:rPr>
                      </a:br>
                      <a:r>
                        <a:rPr lang="en-US" sz="1400" dirty="0">
                          <a:solidFill>
                            <a:srgbClr val="000000"/>
                          </a:solidFill>
                          <a:effectLst/>
                          <a:latin typeface="Verdana" panose="020B0604030504040204" pitchFamily="34" charset="0"/>
                        </a:rPr>
                        <a:t>                static String </a:t>
                      </a:r>
                      <a:r>
                        <a:rPr lang="en-US" sz="1400" dirty="0" err="1">
                          <a:solidFill>
                            <a:srgbClr val="000000"/>
                          </a:solidFill>
                          <a:effectLst/>
                          <a:latin typeface="Verdana" panose="020B0604030504040204" pitchFamily="34" charset="0"/>
                        </a:rPr>
                        <a:t>CapIndia</a:t>
                      </a:r>
                      <a:r>
                        <a:rPr lang="en-US" sz="1400" dirty="0">
                          <a:solidFill>
                            <a:srgbClr val="000000"/>
                          </a:solidFill>
                          <a:effectLst/>
                          <a:latin typeface="Verdana" panose="020B0604030504040204" pitchFamily="34" charset="0"/>
                        </a:rPr>
                        <a:t>;</a:t>
                      </a:r>
                      <a:br>
                        <a:rPr lang="en-US" sz="1400" dirty="0">
                          <a:solidFill>
                            <a:srgbClr val="000000"/>
                          </a:solidFill>
                          <a:effectLst/>
                          <a:latin typeface="Verdana" panose="020B0604030504040204" pitchFamily="34" charset="0"/>
                        </a:rPr>
                      </a:br>
                      <a:endParaRPr lang="en-US" sz="1400" dirty="0">
                        <a:solidFill>
                          <a:srgbClr val="000000"/>
                        </a:solidFill>
                        <a:effectLst/>
                        <a:latin typeface="Verdana" panose="020B0604030504040204" pitchFamily="34" charset="0"/>
                      </a:endParaRPr>
                    </a:p>
                  </a:txBody>
                  <a:tcPr marL="53535" marR="53535" marT="17131" marB="17131">
                    <a:lnL>
                      <a:noFill/>
                    </a:lnL>
                    <a:lnR>
                      <a:noFill/>
                    </a:lnR>
                    <a:lnT>
                      <a:noFill/>
                    </a:lnT>
                    <a:lnB>
                      <a:noFill/>
                    </a:lnB>
                    <a:solidFill>
                      <a:srgbClr val="FFFFFF"/>
                    </a:solidFill>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37841493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23446"/>
          </a:xfrm>
        </p:spPr>
        <p:txBody>
          <a:bodyPr/>
          <a:lstStyle/>
          <a:p>
            <a:r>
              <a:rPr lang="en-US" b="1" dirty="0"/>
              <a:t>Instance methods: -</a:t>
            </a:r>
            <a:endParaRPr lang="en-US" dirty="0"/>
          </a:p>
        </p:txBody>
      </p:sp>
      <p:sp>
        <p:nvSpPr>
          <p:cNvPr id="3" name="Content Placeholder 2"/>
          <p:cNvSpPr>
            <a:spLocks noGrp="1"/>
          </p:cNvSpPr>
          <p:nvPr>
            <p:ph idx="1"/>
          </p:nvPr>
        </p:nvSpPr>
        <p:spPr>
          <a:xfrm>
            <a:off x="838200" y="1088572"/>
            <a:ext cx="10515600" cy="5769427"/>
          </a:xfrm>
        </p:spPr>
        <p:txBody>
          <a:bodyPr>
            <a:normAutofit fontScale="47500" lnSpcReduction="20000"/>
          </a:bodyPr>
          <a:lstStyle/>
          <a:p>
            <a:br>
              <a:rPr lang="en-US" dirty="0"/>
            </a:br>
            <a:br>
              <a:rPr lang="en-US" sz="4000" dirty="0"/>
            </a:br>
            <a:r>
              <a:rPr lang="en-US" sz="4000" dirty="0"/>
              <a:t>       1. Instance methods are always recommended to perform </a:t>
            </a:r>
            <a:r>
              <a:rPr lang="en-US" sz="4000" b="1" dirty="0"/>
              <a:t>repeated operations</a:t>
            </a:r>
            <a:r>
              <a:rPr lang="en-US" sz="4000" dirty="0"/>
              <a:t> like </a:t>
            </a:r>
            <a:br>
              <a:rPr lang="en-US" sz="4000" dirty="0"/>
            </a:br>
            <a:r>
              <a:rPr lang="en-US" sz="4000" dirty="0"/>
              <a:t>            reading records from the file, reading records from the data base etc…</a:t>
            </a:r>
            <a:br>
              <a:rPr lang="en-US" sz="4000" dirty="0"/>
            </a:br>
            <a:br>
              <a:rPr lang="en-US" sz="4000" dirty="0"/>
            </a:br>
            <a:r>
              <a:rPr lang="en-US" sz="4000" dirty="0"/>
              <a:t>       2. Programmatically instance methods definitions should not be preceded by a </a:t>
            </a:r>
            <a:br>
              <a:rPr lang="en-US" sz="4000" dirty="0"/>
            </a:br>
            <a:r>
              <a:rPr lang="en-US" sz="4000" dirty="0"/>
              <a:t>            keyword static.</a:t>
            </a:r>
            <a:br>
              <a:rPr lang="en-US" sz="4000" dirty="0"/>
            </a:br>
            <a:br>
              <a:rPr lang="en-US" sz="4000" dirty="0"/>
            </a:br>
            <a:r>
              <a:rPr lang="en-US" sz="4000" b="1" dirty="0"/>
              <a:t>      Syntax: -</a:t>
            </a:r>
            <a:br>
              <a:rPr lang="en-US" sz="4000" dirty="0"/>
            </a:br>
            <a:br>
              <a:rPr lang="en-US" sz="4000" dirty="0"/>
            </a:br>
            <a:r>
              <a:rPr lang="en-US" sz="4000" b="1" dirty="0"/>
              <a:t>          </a:t>
            </a:r>
            <a:r>
              <a:rPr lang="en-US" sz="4000" dirty="0"/>
              <a:t>Return type method name (list of parameters if any)</a:t>
            </a:r>
            <a:br>
              <a:rPr lang="en-US" sz="4000" dirty="0"/>
            </a:br>
            <a:r>
              <a:rPr lang="en-US" sz="4000" dirty="0"/>
              <a:t>          {</a:t>
            </a:r>
            <a:br>
              <a:rPr lang="en-US" sz="4000" dirty="0"/>
            </a:br>
            <a:r>
              <a:rPr lang="en-US" sz="4000" dirty="0"/>
              <a:t>             Block of statements;</a:t>
            </a:r>
            <a:br>
              <a:rPr lang="en-US" sz="4000" dirty="0"/>
            </a:br>
            <a:r>
              <a:rPr lang="en-US" sz="4000" dirty="0"/>
              <a:t>          }</a:t>
            </a:r>
            <a:br>
              <a:rPr lang="en-US" sz="4000" dirty="0"/>
            </a:br>
            <a:br>
              <a:rPr lang="en-US" sz="4000" dirty="0"/>
            </a:br>
            <a:r>
              <a:rPr lang="en-US" sz="4000" dirty="0"/>
              <a:t>        3. Each and every instance method must be access with respective </a:t>
            </a:r>
            <a:r>
              <a:rPr lang="en-US" sz="4000" b="1" dirty="0"/>
              <a:t>Object name.</a:t>
            </a:r>
            <a:br>
              <a:rPr lang="en-US" sz="4000" dirty="0"/>
            </a:br>
            <a:br>
              <a:rPr lang="en-US" sz="4000" dirty="0"/>
            </a:br>
            <a:r>
              <a:rPr lang="en-US" sz="4000" dirty="0"/>
              <a:t>        4. Result of instance method is </a:t>
            </a:r>
            <a:r>
              <a:rPr lang="en-US" sz="4000" b="1" dirty="0"/>
              <a:t>not sharable</a:t>
            </a:r>
            <a:br>
              <a:rPr lang="en-US" sz="4000" dirty="0"/>
            </a:br>
            <a:br>
              <a:rPr lang="en-US" sz="4000" dirty="0"/>
            </a:br>
            <a:r>
              <a:rPr lang="en-US" sz="4000" b="1" dirty="0"/>
              <a:t>      Ex: -</a:t>
            </a:r>
            <a:br>
              <a:rPr lang="en-US" sz="4000" dirty="0"/>
            </a:br>
            <a:br>
              <a:rPr lang="en-US" sz="4000" dirty="0"/>
            </a:br>
            <a:r>
              <a:rPr lang="en-US" sz="4000" b="1" dirty="0"/>
              <a:t>          </a:t>
            </a:r>
            <a:r>
              <a:rPr lang="en-US" sz="4000" dirty="0"/>
              <a:t>void </a:t>
            </a:r>
            <a:r>
              <a:rPr lang="en-US" sz="4000" dirty="0" err="1"/>
              <a:t>getTotal</a:t>
            </a:r>
            <a:r>
              <a:rPr lang="en-US" sz="4000" dirty="0"/>
              <a:t>()</a:t>
            </a:r>
            <a:br>
              <a:rPr lang="en-US" sz="4000" dirty="0"/>
            </a:br>
            <a:r>
              <a:rPr lang="en-US" sz="4000" dirty="0"/>
              <a:t>          {</a:t>
            </a:r>
            <a:br>
              <a:rPr lang="en-US" sz="4000" dirty="0"/>
            </a:br>
            <a:r>
              <a:rPr lang="en-US" sz="4000" dirty="0"/>
              <a:t>             Tot= m1+ m2+ m3;</a:t>
            </a:r>
            <a:br>
              <a:rPr lang="en-US" sz="4000" dirty="0"/>
            </a:br>
            <a:r>
              <a:rPr lang="en-US" sz="4000" dirty="0"/>
              <a:t>          }</a:t>
            </a:r>
            <a:br>
              <a:rPr lang="en-US" sz="4000" dirty="0"/>
            </a:br>
            <a:endParaRPr lang="en-US" sz="4000" dirty="0"/>
          </a:p>
        </p:txBody>
      </p:sp>
    </p:spTree>
    <p:extLst>
      <p:ext uri="{BB962C8B-B14F-4D97-AF65-F5344CB8AC3E}">
        <p14:creationId xmlns:p14="http://schemas.microsoft.com/office/powerpoint/2010/main" val="9294199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21846"/>
          </a:xfrm>
        </p:spPr>
        <p:txBody>
          <a:bodyPr>
            <a:normAutofit fontScale="90000"/>
          </a:bodyPr>
          <a:lstStyle/>
          <a:p>
            <a:r>
              <a:rPr lang="en-US" b="1" dirty="0"/>
              <a:t>Static methods: -</a:t>
            </a:r>
            <a:endParaRPr lang="en-US" dirty="0"/>
          </a:p>
        </p:txBody>
      </p:sp>
      <p:sp>
        <p:nvSpPr>
          <p:cNvPr id="3" name="Content Placeholder 2"/>
          <p:cNvSpPr>
            <a:spLocks noGrp="1"/>
          </p:cNvSpPr>
          <p:nvPr>
            <p:ph idx="1"/>
          </p:nvPr>
        </p:nvSpPr>
        <p:spPr>
          <a:xfrm>
            <a:off x="838200" y="1103086"/>
            <a:ext cx="10515600" cy="5617027"/>
          </a:xfrm>
        </p:spPr>
        <p:txBody>
          <a:bodyPr>
            <a:normAutofit fontScale="92500" lnSpcReduction="20000"/>
          </a:bodyPr>
          <a:lstStyle/>
          <a:p>
            <a:pPr marL="0" indent="0">
              <a:buNone/>
            </a:pPr>
            <a:br>
              <a:rPr lang="en-US" dirty="0"/>
            </a:br>
            <a:br>
              <a:rPr lang="en-US" dirty="0"/>
            </a:br>
            <a:r>
              <a:rPr lang="en-US" dirty="0"/>
              <a:t>       1. Static methods are always which are recommended to perform </a:t>
            </a:r>
            <a:r>
              <a:rPr lang="en-US" b="1" dirty="0"/>
              <a:t>one operation</a:t>
            </a:r>
            <a:r>
              <a:rPr lang="en-US" dirty="0"/>
              <a:t> like </a:t>
            </a:r>
            <a:br>
              <a:rPr lang="en-US" dirty="0"/>
            </a:br>
            <a:r>
              <a:rPr lang="en-US" dirty="0"/>
              <a:t>           opening the files, obtaining a data base connection etc…</a:t>
            </a:r>
            <a:br>
              <a:rPr lang="en-US" dirty="0"/>
            </a:br>
            <a:br>
              <a:rPr lang="en-US" dirty="0"/>
            </a:br>
            <a:r>
              <a:rPr lang="en-US" dirty="0"/>
              <a:t>       2. Programmatically static methods definitions must be preceded by </a:t>
            </a:r>
            <a:r>
              <a:rPr lang="en-US" b="1" dirty="0"/>
              <a:t>static </a:t>
            </a:r>
            <a:r>
              <a:rPr lang="en-US" dirty="0"/>
              <a:t>keyword.</a:t>
            </a:r>
            <a:br>
              <a:rPr lang="en-US" dirty="0"/>
            </a:br>
            <a:br>
              <a:rPr lang="en-US" dirty="0"/>
            </a:br>
            <a:r>
              <a:rPr lang="en-US" b="1" dirty="0"/>
              <a:t>     Syntax: -</a:t>
            </a:r>
            <a:br>
              <a:rPr lang="en-US" dirty="0"/>
            </a:br>
            <a:br>
              <a:rPr lang="en-US" dirty="0"/>
            </a:br>
            <a:r>
              <a:rPr lang="en-US" b="1" dirty="0"/>
              <a:t>                </a:t>
            </a:r>
            <a:r>
              <a:rPr lang="en-US" dirty="0"/>
              <a:t>Static Return type method name (list of parameters if any)</a:t>
            </a:r>
            <a:br>
              <a:rPr lang="en-US" dirty="0"/>
            </a:br>
            <a:r>
              <a:rPr lang="en-US" dirty="0"/>
              <a:t>                {</a:t>
            </a:r>
            <a:br>
              <a:rPr lang="en-US" dirty="0"/>
            </a:br>
            <a:r>
              <a:rPr lang="en-US" dirty="0"/>
              <a:t>                                Block of statements;</a:t>
            </a:r>
            <a:br>
              <a:rPr lang="en-US" dirty="0"/>
            </a:br>
            <a:r>
              <a:rPr lang="en-US" dirty="0"/>
              <a:t>                }</a:t>
            </a:r>
            <a:br>
              <a:rPr lang="en-US" dirty="0"/>
            </a:br>
            <a:br>
              <a:rPr lang="en-US" dirty="0"/>
            </a:br>
            <a:r>
              <a:rPr lang="en-US" dirty="0"/>
              <a:t>       3. Each and every static method must be accessed with respect </a:t>
            </a:r>
            <a:r>
              <a:rPr lang="en-US" b="1" dirty="0"/>
              <a:t>class name.</a:t>
            </a:r>
            <a:br>
              <a:rPr lang="en-US" dirty="0"/>
            </a:br>
            <a:br>
              <a:rPr lang="en-US" dirty="0"/>
            </a:br>
            <a:r>
              <a:rPr lang="en-US" dirty="0"/>
              <a:t>       4. Result set of static method always </a:t>
            </a:r>
            <a:r>
              <a:rPr lang="en-US" b="1" dirty="0"/>
              <a:t>sharable</a:t>
            </a:r>
            <a:br>
              <a:rPr lang="en-US" dirty="0"/>
            </a:br>
            <a:br>
              <a:rPr lang="en-US" dirty="0"/>
            </a:br>
            <a:r>
              <a:rPr lang="en-US" b="1" dirty="0"/>
              <a:t>      Ex: -</a:t>
            </a:r>
            <a:br>
              <a:rPr lang="en-US" dirty="0"/>
            </a:br>
            <a:br>
              <a:rPr lang="en-US" dirty="0"/>
            </a:br>
            <a:r>
              <a:rPr lang="en-US" b="1" dirty="0"/>
              <a:t>                </a:t>
            </a:r>
            <a:r>
              <a:rPr lang="en-US" dirty="0"/>
              <a:t>Public static void main ()</a:t>
            </a:r>
            <a:br>
              <a:rPr lang="en-US" dirty="0"/>
            </a:br>
            <a:r>
              <a:rPr lang="en-US" dirty="0"/>
              <a:t>                {</a:t>
            </a:r>
            <a:br>
              <a:rPr lang="en-US" dirty="0"/>
            </a:br>
            <a:r>
              <a:rPr lang="en-US" dirty="0"/>
              <a:t>                                S1.getTotal();</a:t>
            </a:r>
            <a:br>
              <a:rPr lang="en-US" dirty="0"/>
            </a:br>
            <a:r>
              <a:rPr lang="en-US" dirty="0"/>
              <a:t>                                S2.getTotal();</a:t>
            </a:r>
            <a:br>
              <a:rPr lang="en-US" dirty="0"/>
            </a:br>
            <a:r>
              <a:rPr lang="en-US" dirty="0"/>
              <a:t>                }</a:t>
            </a:r>
          </a:p>
        </p:txBody>
      </p:sp>
    </p:spTree>
    <p:extLst>
      <p:ext uri="{BB962C8B-B14F-4D97-AF65-F5344CB8AC3E}">
        <p14:creationId xmlns:p14="http://schemas.microsoft.com/office/powerpoint/2010/main" val="19473998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US" dirty="0"/>
              <a:t>Encapsulation</a:t>
            </a:r>
            <a:br>
              <a:rPr lang="en-US" dirty="0"/>
            </a:br>
            <a:endParaRPr lang="en-US" dirty="0"/>
          </a:p>
        </p:txBody>
      </p:sp>
      <p:sp>
        <p:nvSpPr>
          <p:cNvPr id="3" name="Content Placeholder 2"/>
          <p:cNvSpPr>
            <a:spLocks noGrp="1"/>
          </p:cNvSpPr>
          <p:nvPr>
            <p:ph idx="1"/>
          </p:nvPr>
        </p:nvSpPr>
        <p:spPr>
          <a:xfrm>
            <a:off x="838200" y="1143453"/>
            <a:ext cx="10515600" cy="4351338"/>
          </a:xfrm>
        </p:spPr>
        <p:txBody>
          <a:bodyPr>
            <a:normAutofit fontScale="92500"/>
          </a:bodyPr>
          <a:lstStyle/>
          <a:p>
            <a:pPr algn="just"/>
            <a:r>
              <a:rPr lang="en-US" sz="2000" dirty="0"/>
              <a:t>Encapsulation in Java is a mechanism to wrap up variables(data) and methods(code) together as a single unit. </a:t>
            </a:r>
          </a:p>
          <a:p>
            <a:pPr algn="just"/>
            <a:r>
              <a:rPr lang="en-US" sz="2000" dirty="0"/>
              <a:t>It is the process of hiding information details and protecting data and behavior of the object. </a:t>
            </a:r>
          </a:p>
          <a:p>
            <a:pPr algn="just"/>
            <a:r>
              <a:rPr lang="en-US" sz="2000" dirty="0"/>
              <a:t>Encapsulation is binding the data with its related functionalities. Here functionalities mean "methods" and data means "variables"</a:t>
            </a:r>
          </a:p>
          <a:p>
            <a:pPr algn="just"/>
            <a:r>
              <a:rPr lang="en-US" sz="2000" dirty="0"/>
              <a:t>So we keep variable and methods in one place. That place is "class." Class is the base for encapsulation.</a:t>
            </a:r>
          </a:p>
          <a:p>
            <a:pPr algn="just"/>
            <a:r>
              <a:rPr lang="en-US" sz="2000" dirty="0"/>
              <a:t>With Java Encapsulation, you can hide (restrict access) to critical data members in your code, which improves security</a:t>
            </a:r>
          </a:p>
          <a:p>
            <a:pPr algn="just"/>
            <a:r>
              <a:rPr lang="en-US" sz="2000" dirty="0"/>
              <a:t>As we discussed earlier, if a data member is declared "private", then it can only be accessed within the same class. No outside class can access data member (variable) of other class.</a:t>
            </a:r>
          </a:p>
          <a:p>
            <a:pPr algn="just"/>
            <a:r>
              <a:rPr lang="en-US" sz="2000" dirty="0"/>
              <a:t>However, if you need to access these variables, you have to use </a:t>
            </a:r>
            <a:r>
              <a:rPr lang="en-US" sz="2000" b="1" dirty="0"/>
              <a:t>public "getter" and "setter"</a:t>
            </a:r>
            <a:r>
              <a:rPr lang="en-US" sz="2000" dirty="0"/>
              <a:t> methods.</a:t>
            </a:r>
          </a:p>
          <a:p>
            <a:pPr marL="0" indent="0" algn="just">
              <a:buNone/>
            </a:pPr>
            <a:endParaRPr lang="en-US" sz="2000" dirty="0"/>
          </a:p>
          <a:p>
            <a:pPr algn="just"/>
            <a:endParaRPr lang="en-US" sz="2000" dirty="0"/>
          </a:p>
          <a:p>
            <a:pPr algn="just"/>
            <a:endParaRPr lang="en-US" sz="2000" dirty="0"/>
          </a:p>
        </p:txBody>
      </p:sp>
    </p:spTree>
    <p:extLst>
      <p:ext uri="{BB962C8B-B14F-4D97-AF65-F5344CB8AC3E}">
        <p14:creationId xmlns:p14="http://schemas.microsoft.com/office/powerpoint/2010/main" val="24660513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25714" y="363229"/>
            <a:ext cx="5733142" cy="6273346"/>
          </a:xfrm>
        </p:spPr>
        <p:txBody>
          <a:bodyPr>
            <a:noAutofit/>
          </a:bodyPr>
          <a:lstStyle/>
          <a:p>
            <a:pPr marL="0" indent="0">
              <a:buNone/>
            </a:pPr>
            <a:r>
              <a:rPr lang="en-US" sz="1800" dirty="0">
                <a:solidFill>
                  <a:schemeClr val="accent1"/>
                </a:solidFill>
              </a:rPr>
              <a:t>//A Account class which is a fully encapsulated class.//It has a private data member and getter and setter methods.  </a:t>
            </a:r>
          </a:p>
          <a:p>
            <a:pPr marL="0" indent="0">
              <a:buNone/>
            </a:pPr>
            <a:endParaRPr lang="en-US" sz="1800" dirty="0">
              <a:solidFill>
                <a:schemeClr val="accent1"/>
              </a:solidFill>
            </a:endParaRPr>
          </a:p>
          <a:p>
            <a:pPr marL="0" indent="0">
              <a:buNone/>
            </a:pPr>
            <a:r>
              <a:rPr lang="en-US" sz="1800" dirty="0">
                <a:solidFill>
                  <a:schemeClr val="accent1"/>
                </a:solidFill>
              </a:rPr>
              <a:t>class Account {  </a:t>
            </a:r>
          </a:p>
          <a:p>
            <a:pPr marL="0" indent="0">
              <a:buNone/>
            </a:pPr>
            <a:r>
              <a:rPr lang="en-US" sz="1800" dirty="0">
                <a:solidFill>
                  <a:schemeClr val="accent1"/>
                </a:solidFill>
              </a:rPr>
              <a:t>//private data members  </a:t>
            </a:r>
          </a:p>
          <a:p>
            <a:pPr marL="0" indent="0">
              <a:buNone/>
            </a:pPr>
            <a:r>
              <a:rPr lang="en-US" sz="1800" dirty="0">
                <a:solidFill>
                  <a:schemeClr val="accent1"/>
                </a:solidFill>
              </a:rPr>
              <a:t>private long </a:t>
            </a:r>
            <a:r>
              <a:rPr lang="en-US" sz="1800" dirty="0" err="1">
                <a:solidFill>
                  <a:schemeClr val="accent1"/>
                </a:solidFill>
              </a:rPr>
              <a:t>acc_no</a:t>
            </a:r>
            <a:r>
              <a:rPr lang="en-US" sz="1800" dirty="0">
                <a:solidFill>
                  <a:schemeClr val="accent1"/>
                </a:solidFill>
              </a:rPr>
              <a:t>;  </a:t>
            </a:r>
          </a:p>
          <a:p>
            <a:pPr marL="0" indent="0">
              <a:buNone/>
            </a:pPr>
            <a:r>
              <a:rPr lang="en-US" sz="1800" dirty="0">
                <a:solidFill>
                  <a:schemeClr val="accent1"/>
                </a:solidFill>
              </a:rPr>
              <a:t>private String </a:t>
            </a:r>
            <a:r>
              <a:rPr lang="en-US" sz="1800" dirty="0" err="1">
                <a:solidFill>
                  <a:schemeClr val="accent1"/>
                </a:solidFill>
              </a:rPr>
              <a:t>name,email</a:t>
            </a:r>
            <a:r>
              <a:rPr lang="en-US" sz="1800" dirty="0">
                <a:solidFill>
                  <a:schemeClr val="accent1"/>
                </a:solidFill>
              </a:rPr>
              <a:t>;  </a:t>
            </a:r>
          </a:p>
          <a:p>
            <a:pPr marL="0" indent="0">
              <a:buNone/>
            </a:pPr>
            <a:r>
              <a:rPr lang="en-US" sz="1800" dirty="0">
                <a:solidFill>
                  <a:schemeClr val="accent1"/>
                </a:solidFill>
              </a:rPr>
              <a:t>private float amount;  </a:t>
            </a:r>
          </a:p>
          <a:p>
            <a:pPr marL="0" indent="0">
              <a:buNone/>
            </a:pPr>
            <a:r>
              <a:rPr lang="en-US" sz="1800" dirty="0">
                <a:solidFill>
                  <a:schemeClr val="accent1"/>
                </a:solidFill>
              </a:rPr>
              <a:t>//public getter and setter methods  </a:t>
            </a:r>
          </a:p>
          <a:p>
            <a:pPr marL="0" indent="0">
              <a:buNone/>
            </a:pPr>
            <a:r>
              <a:rPr lang="en-US" sz="1800" dirty="0">
                <a:solidFill>
                  <a:schemeClr val="accent1"/>
                </a:solidFill>
              </a:rPr>
              <a:t>public long </a:t>
            </a:r>
            <a:r>
              <a:rPr lang="en-US" sz="1800" dirty="0" err="1">
                <a:solidFill>
                  <a:schemeClr val="accent1"/>
                </a:solidFill>
              </a:rPr>
              <a:t>getAcc_no</a:t>
            </a:r>
            <a:r>
              <a:rPr lang="en-US" sz="1800" dirty="0">
                <a:solidFill>
                  <a:schemeClr val="accent1"/>
                </a:solidFill>
              </a:rPr>
              <a:t>() {  </a:t>
            </a:r>
          </a:p>
          <a:p>
            <a:pPr marL="0" indent="0">
              <a:buNone/>
            </a:pPr>
            <a:r>
              <a:rPr lang="en-US" sz="1800" dirty="0">
                <a:solidFill>
                  <a:schemeClr val="accent1"/>
                </a:solidFill>
              </a:rPr>
              <a:t>    return </a:t>
            </a:r>
            <a:r>
              <a:rPr lang="en-US" sz="1800" dirty="0" err="1">
                <a:solidFill>
                  <a:schemeClr val="accent1"/>
                </a:solidFill>
              </a:rPr>
              <a:t>acc_no</a:t>
            </a:r>
            <a:r>
              <a:rPr lang="en-US" sz="1800" dirty="0">
                <a:solidFill>
                  <a:schemeClr val="accent1"/>
                </a:solidFill>
              </a:rPr>
              <a:t>;  </a:t>
            </a:r>
          </a:p>
          <a:p>
            <a:pPr marL="0" indent="0">
              <a:buNone/>
            </a:pPr>
            <a:r>
              <a:rPr lang="en-US" sz="1800" dirty="0">
                <a:solidFill>
                  <a:schemeClr val="accent1"/>
                </a:solidFill>
              </a:rPr>
              <a:t>}  </a:t>
            </a:r>
          </a:p>
          <a:p>
            <a:pPr marL="0" indent="0">
              <a:buNone/>
            </a:pPr>
            <a:r>
              <a:rPr lang="en-US" sz="1800" dirty="0">
                <a:solidFill>
                  <a:schemeClr val="accent1"/>
                </a:solidFill>
              </a:rPr>
              <a:t>public void </a:t>
            </a:r>
            <a:r>
              <a:rPr lang="en-US" sz="1800" dirty="0" err="1">
                <a:solidFill>
                  <a:schemeClr val="accent1"/>
                </a:solidFill>
              </a:rPr>
              <a:t>setAcc_no</a:t>
            </a:r>
            <a:r>
              <a:rPr lang="en-US" sz="1800" dirty="0">
                <a:solidFill>
                  <a:schemeClr val="accent1"/>
                </a:solidFill>
              </a:rPr>
              <a:t>(long </a:t>
            </a:r>
            <a:r>
              <a:rPr lang="en-US" sz="1800" dirty="0" err="1">
                <a:solidFill>
                  <a:schemeClr val="accent1"/>
                </a:solidFill>
              </a:rPr>
              <a:t>acc_no</a:t>
            </a:r>
            <a:r>
              <a:rPr lang="en-US" sz="1800" dirty="0">
                <a:solidFill>
                  <a:schemeClr val="accent1"/>
                </a:solidFill>
              </a:rPr>
              <a:t>) {  </a:t>
            </a:r>
          </a:p>
          <a:p>
            <a:pPr marL="0" indent="0">
              <a:buNone/>
            </a:pPr>
            <a:r>
              <a:rPr lang="en-US" sz="1800" dirty="0">
                <a:solidFill>
                  <a:schemeClr val="accent1"/>
                </a:solidFill>
              </a:rPr>
              <a:t>    </a:t>
            </a:r>
            <a:r>
              <a:rPr lang="en-US" sz="1800" dirty="0" err="1">
                <a:solidFill>
                  <a:schemeClr val="accent1"/>
                </a:solidFill>
              </a:rPr>
              <a:t>this.acc_no</a:t>
            </a:r>
            <a:r>
              <a:rPr lang="en-US" sz="1800" dirty="0">
                <a:solidFill>
                  <a:schemeClr val="accent1"/>
                </a:solidFill>
              </a:rPr>
              <a:t> = </a:t>
            </a:r>
            <a:r>
              <a:rPr lang="en-US" sz="1800" dirty="0" err="1">
                <a:solidFill>
                  <a:schemeClr val="accent1"/>
                </a:solidFill>
              </a:rPr>
              <a:t>acc_no</a:t>
            </a:r>
            <a:r>
              <a:rPr lang="en-US" sz="1800" dirty="0">
                <a:solidFill>
                  <a:schemeClr val="accent1"/>
                </a:solidFill>
              </a:rPr>
              <a:t>;  </a:t>
            </a:r>
          </a:p>
          <a:p>
            <a:pPr marL="0" indent="0">
              <a:buNone/>
            </a:pPr>
            <a:r>
              <a:rPr lang="en-US" sz="1800" dirty="0">
                <a:solidFill>
                  <a:schemeClr val="accent1"/>
                </a:solidFill>
              </a:rPr>
              <a:t>}  </a:t>
            </a:r>
          </a:p>
          <a:p>
            <a:endParaRPr lang="en-US" sz="1800" dirty="0">
              <a:solidFill>
                <a:schemeClr val="accent1"/>
              </a:solidFill>
            </a:endParaRPr>
          </a:p>
        </p:txBody>
      </p:sp>
      <p:sp>
        <p:nvSpPr>
          <p:cNvPr id="4" name="Rectangle 3"/>
          <p:cNvSpPr/>
          <p:nvPr/>
        </p:nvSpPr>
        <p:spPr>
          <a:xfrm>
            <a:off x="6560456" y="388711"/>
            <a:ext cx="5631544" cy="5632311"/>
          </a:xfrm>
          <a:prstGeom prst="rect">
            <a:avLst/>
          </a:prstGeom>
        </p:spPr>
        <p:txBody>
          <a:bodyPr wrap="square">
            <a:spAutoFit/>
          </a:bodyPr>
          <a:lstStyle/>
          <a:p>
            <a:r>
              <a:rPr lang="en-US" dirty="0">
                <a:solidFill>
                  <a:schemeClr val="accent1"/>
                </a:solidFill>
                <a:latin typeface="verdana" panose="020B0604030504040204" pitchFamily="34" charset="0"/>
              </a:rPr>
              <a:t>public void </a:t>
            </a:r>
            <a:r>
              <a:rPr lang="en-US" dirty="0" err="1">
                <a:solidFill>
                  <a:schemeClr val="accent1"/>
                </a:solidFill>
                <a:latin typeface="verdana" panose="020B0604030504040204" pitchFamily="34" charset="0"/>
              </a:rPr>
              <a:t>setEmail</a:t>
            </a:r>
            <a:r>
              <a:rPr lang="en-US" dirty="0">
                <a:solidFill>
                  <a:schemeClr val="accent1"/>
                </a:solidFill>
                <a:latin typeface="verdana" panose="020B0604030504040204" pitchFamily="34" charset="0"/>
              </a:rPr>
              <a:t>(String email) {  </a:t>
            </a:r>
          </a:p>
          <a:p>
            <a:r>
              <a:rPr lang="en-US" dirty="0">
                <a:solidFill>
                  <a:schemeClr val="accent1"/>
                </a:solidFill>
                <a:latin typeface="verdana" panose="020B0604030504040204" pitchFamily="34" charset="0"/>
              </a:rPr>
              <a:t>    </a:t>
            </a:r>
            <a:r>
              <a:rPr lang="en-US" dirty="0" err="1">
                <a:solidFill>
                  <a:schemeClr val="accent1"/>
                </a:solidFill>
                <a:latin typeface="verdana" panose="020B0604030504040204" pitchFamily="34" charset="0"/>
              </a:rPr>
              <a:t>this.email</a:t>
            </a:r>
            <a:r>
              <a:rPr lang="en-US" dirty="0">
                <a:solidFill>
                  <a:schemeClr val="accent1"/>
                </a:solidFill>
                <a:latin typeface="verdana" panose="020B0604030504040204" pitchFamily="34" charset="0"/>
              </a:rPr>
              <a:t> = email;  </a:t>
            </a:r>
          </a:p>
          <a:p>
            <a:r>
              <a:rPr lang="en-US" dirty="0">
                <a:solidFill>
                  <a:schemeClr val="accent1"/>
                </a:solidFill>
                <a:latin typeface="verdana" panose="020B0604030504040204" pitchFamily="34" charset="0"/>
              </a:rPr>
              <a:t>}  </a:t>
            </a:r>
          </a:p>
          <a:p>
            <a:r>
              <a:rPr lang="en-US" dirty="0">
                <a:solidFill>
                  <a:schemeClr val="accent1"/>
                </a:solidFill>
                <a:latin typeface="verdana" panose="020B0604030504040204" pitchFamily="34" charset="0"/>
              </a:rPr>
              <a:t>public float </a:t>
            </a:r>
            <a:r>
              <a:rPr lang="en-US" dirty="0" err="1">
                <a:solidFill>
                  <a:schemeClr val="accent1"/>
                </a:solidFill>
                <a:latin typeface="verdana" panose="020B0604030504040204" pitchFamily="34" charset="0"/>
              </a:rPr>
              <a:t>getAmount</a:t>
            </a:r>
            <a:r>
              <a:rPr lang="en-US" dirty="0">
                <a:solidFill>
                  <a:schemeClr val="accent1"/>
                </a:solidFill>
                <a:latin typeface="verdana" panose="020B0604030504040204" pitchFamily="34" charset="0"/>
              </a:rPr>
              <a:t>() {  </a:t>
            </a:r>
          </a:p>
          <a:p>
            <a:r>
              <a:rPr lang="en-US" dirty="0">
                <a:solidFill>
                  <a:schemeClr val="accent1"/>
                </a:solidFill>
                <a:latin typeface="verdana" panose="020B0604030504040204" pitchFamily="34" charset="0"/>
              </a:rPr>
              <a:t>    return amount;  </a:t>
            </a:r>
          </a:p>
          <a:p>
            <a:r>
              <a:rPr lang="en-US" dirty="0">
                <a:solidFill>
                  <a:schemeClr val="accent1"/>
                </a:solidFill>
                <a:latin typeface="verdana" panose="020B0604030504040204" pitchFamily="34" charset="0"/>
              </a:rPr>
              <a:t>}  </a:t>
            </a:r>
          </a:p>
          <a:p>
            <a:r>
              <a:rPr lang="en-US" dirty="0">
                <a:solidFill>
                  <a:schemeClr val="accent1"/>
                </a:solidFill>
                <a:latin typeface="verdana" panose="020B0604030504040204" pitchFamily="34" charset="0"/>
              </a:rPr>
              <a:t>public void </a:t>
            </a:r>
            <a:r>
              <a:rPr lang="en-US" dirty="0" err="1">
                <a:solidFill>
                  <a:schemeClr val="accent1"/>
                </a:solidFill>
                <a:latin typeface="verdana" panose="020B0604030504040204" pitchFamily="34" charset="0"/>
              </a:rPr>
              <a:t>setAmount</a:t>
            </a:r>
            <a:r>
              <a:rPr lang="en-US" dirty="0">
                <a:solidFill>
                  <a:schemeClr val="accent1"/>
                </a:solidFill>
                <a:latin typeface="verdana" panose="020B0604030504040204" pitchFamily="34" charset="0"/>
              </a:rPr>
              <a:t>(float amount) {  </a:t>
            </a:r>
          </a:p>
          <a:p>
            <a:r>
              <a:rPr lang="en-US" dirty="0">
                <a:solidFill>
                  <a:schemeClr val="accent1"/>
                </a:solidFill>
                <a:latin typeface="verdana" panose="020B0604030504040204" pitchFamily="34" charset="0"/>
              </a:rPr>
              <a:t>    </a:t>
            </a:r>
            <a:r>
              <a:rPr lang="en-US" dirty="0" err="1">
                <a:solidFill>
                  <a:schemeClr val="accent1"/>
                </a:solidFill>
                <a:latin typeface="verdana" panose="020B0604030504040204" pitchFamily="34" charset="0"/>
              </a:rPr>
              <a:t>this.amount</a:t>
            </a:r>
            <a:r>
              <a:rPr lang="en-US" dirty="0">
                <a:solidFill>
                  <a:schemeClr val="accent1"/>
                </a:solidFill>
                <a:latin typeface="verdana" panose="020B0604030504040204" pitchFamily="34" charset="0"/>
              </a:rPr>
              <a:t> = amount;  </a:t>
            </a:r>
          </a:p>
          <a:p>
            <a:r>
              <a:rPr lang="en-US" dirty="0">
                <a:solidFill>
                  <a:schemeClr val="accent1"/>
                </a:solidFill>
                <a:latin typeface="verdana" panose="020B0604030504040204" pitchFamily="34" charset="0"/>
              </a:rPr>
              <a:t>}  }  </a:t>
            </a:r>
          </a:p>
          <a:p>
            <a:r>
              <a:rPr lang="en-US" dirty="0">
                <a:solidFill>
                  <a:schemeClr val="accent1"/>
                </a:solidFill>
              </a:rPr>
              <a:t>public String </a:t>
            </a:r>
            <a:r>
              <a:rPr lang="en-US" dirty="0" err="1">
                <a:solidFill>
                  <a:schemeClr val="accent1"/>
                </a:solidFill>
              </a:rPr>
              <a:t>getName</a:t>
            </a:r>
            <a:r>
              <a:rPr lang="en-US" dirty="0">
                <a:solidFill>
                  <a:schemeClr val="accent1"/>
                </a:solidFill>
              </a:rPr>
              <a:t>() {  </a:t>
            </a:r>
          </a:p>
          <a:p>
            <a:r>
              <a:rPr lang="en-US" dirty="0">
                <a:solidFill>
                  <a:schemeClr val="accent1"/>
                </a:solidFill>
              </a:rPr>
              <a:t>    return name;  </a:t>
            </a:r>
          </a:p>
          <a:p>
            <a:r>
              <a:rPr lang="en-US" dirty="0">
                <a:solidFill>
                  <a:schemeClr val="accent1"/>
                </a:solidFill>
              </a:rPr>
              <a:t>}  </a:t>
            </a:r>
          </a:p>
          <a:p>
            <a:r>
              <a:rPr lang="en-US" dirty="0">
                <a:solidFill>
                  <a:schemeClr val="accent1"/>
                </a:solidFill>
              </a:rPr>
              <a:t>public void </a:t>
            </a:r>
            <a:r>
              <a:rPr lang="en-US" dirty="0" err="1">
                <a:solidFill>
                  <a:schemeClr val="accent1"/>
                </a:solidFill>
              </a:rPr>
              <a:t>setName</a:t>
            </a:r>
            <a:r>
              <a:rPr lang="en-US" dirty="0">
                <a:solidFill>
                  <a:schemeClr val="accent1"/>
                </a:solidFill>
              </a:rPr>
              <a:t>(String name) {  </a:t>
            </a:r>
          </a:p>
          <a:p>
            <a:r>
              <a:rPr lang="en-US" dirty="0">
                <a:solidFill>
                  <a:schemeClr val="accent1"/>
                </a:solidFill>
              </a:rPr>
              <a:t>    this.name = name;  </a:t>
            </a:r>
          </a:p>
          <a:p>
            <a:r>
              <a:rPr lang="en-US" dirty="0">
                <a:solidFill>
                  <a:schemeClr val="accent1"/>
                </a:solidFill>
              </a:rPr>
              <a:t>}  </a:t>
            </a:r>
          </a:p>
          <a:p>
            <a:r>
              <a:rPr lang="en-US" dirty="0">
                <a:solidFill>
                  <a:schemeClr val="accent1"/>
                </a:solidFill>
                <a:latin typeface="verdana" panose="020B0604030504040204" pitchFamily="34" charset="0"/>
              </a:rPr>
              <a:t>public String </a:t>
            </a:r>
            <a:r>
              <a:rPr lang="en-US" dirty="0" err="1">
                <a:solidFill>
                  <a:schemeClr val="accent1"/>
                </a:solidFill>
                <a:latin typeface="verdana" panose="020B0604030504040204" pitchFamily="34" charset="0"/>
              </a:rPr>
              <a:t>getEmail</a:t>
            </a:r>
            <a:r>
              <a:rPr lang="en-US" dirty="0">
                <a:solidFill>
                  <a:schemeClr val="accent1"/>
                </a:solidFill>
                <a:latin typeface="verdana" panose="020B0604030504040204" pitchFamily="34" charset="0"/>
              </a:rPr>
              <a:t>() {  </a:t>
            </a:r>
          </a:p>
          <a:p>
            <a:r>
              <a:rPr lang="en-US" dirty="0">
                <a:solidFill>
                  <a:schemeClr val="accent1"/>
                </a:solidFill>
                <a:latin typeface="verdana" panose="020B0604030504040204" pitchFamily="34" charset="0"/>
              </a:rPr>
              <a:t>    return email;  </a:t>
            </a:r>
          </a:p>
          <a:p>
            <a:r>
              <a:rPr lang="en-US" dirty="0">
                <a:solidFill>
                  <a:schemeClr val="accent1"/>
                </a:solidFill>
                <a:latin typeface="verdana" panose="020B0604030504040204" pitchFamily="34" charset="0"/>
              </a:rPr>
              <a:t>}  </a:t>
            </a:r>
          </a:p>
          <a:p>
            <a:endParaRPr lang="en-US" dirty="0">
              <a:solidFill>
                <a:schemeClr val="accent1"/>
              </a:solidFill>
            </a:endParaRPr>
          </a:p>
          <a:p>
            <a:endParaRPr lang="en-US" i="0" dirty="0">
              <a:solidFill>
                <a:schemeClr val="accent1"/>
              </a:solidFill>
              <a:effectLst/>
              <a:latin typeface="verdana" panose="020B0604030504040204" pitchFamily="34" charset="0"/>
            </a:endParaRPr>
          </a:p>
        </p:txBody>
      </p:sp>
    </p:spTree>
    <p:extLst>
      <p:ext uri="{BB962C8B-B14F-4D97-AF65-F5344CB8AC3E}">
        <p14:creationId xmlns:p14="http://schemas.microsoft.com/office/powerpoint/2010/main" val="40402585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09485" y="319315"/>
            <a:ext cx="10290629" cy="5843134"/>
          </a:xfrm>
        </p:spPr>
        <p:txBody>
          <a:bodyPr>
            <a:normAutofit lnSpcReduction="10000"/>
          </a:bodyPr>
          <a:lstStyle/>
          <a:p>
            <a:pPr marL="0" indent="0">
              <a:buNone/>
            </a:pPr>
            <a:r>
              <a:rPr lang="en-US" sz="1800" dirty="0">
                <a:solidFill>
                  <a:schemeClr val="accent1"/>
                </a:solidFill>
              </a:rPr>
              <a:t>//A Java class to test the encapsulated class Account.  </a:t>
            </a:r>
          </a:p>
          <a:p>
            <a:pPr marL="0" indent="0">
              <a:buNone/>
            </a:pPr>
            <a:r>
              <a:rPr lang="en-US" sz="1800" dirty="0">
                <a:solidFill>
                  <a:schemeClr val="accent1"/>
                </a:solidFill>
              </a:rPr>
              <a:t>public class </a:t>
            </a:r>
            <a:r>
              <a:rPr lang="en-US" sz="1800" dirty="0" err="1">
                <a:solidFill>
                  <a:schemeClr val="accent1"/>
                </a:solidFill>
              </a:rPr>
              <a:t>TestEncapsulation</a:t>
            </a:r>
            <a:r>
              <a:rPr lang="en-US" sz="1800" dirty="0">
                <a:solidFill>
                  <a:schemeClr val="accent1"/>
                </a:solidFill>
              </a:rPr>
              <a:t> {  </a:t>
            </a:r>
          </a:p>
          <a:p>
            <a:pPr marL="0" indent="0">
              <a:buNone/>
            </a:pPr>
            <a:r>
              <a:rPr lang="en-US" sz="1800" dirty="0">
                <a:solidFill>
                  <a:schemeClr val="accent1"/>
                </a:solidFill>
              </a:rPr>
              <a:t>public static void main(String[] args) {  </a:t>
            </a:r>
          </a:p>
          <a:p>
            <a:pPr marL="0" indent="0">
              <a:buNone/>
            </a:pPr>
            <a:r>
              <a:rPr lang="en-US" sz="1800" dirty="0">
                <a:solidFill>
                  <a:schemeClr val="accent1"/>
                </a:solidFill>
              </a:rPr>
              <a:t>    //creating instance of Account class  </a:t>
            </a:r>
          </a:p>
          <a:p>
            <a:pPr marL="0" indent="0">
              <a:buNone/>
            </a:pPr>
            <a:r>
              <a:rPr lang="en-US" sz="1800" dirty="0">
                <a:solidFill>
                  <a:schemeClr val="accent1"/>
                </a:solidFill>
              </a:rPr>
              <a:t>    Account </a:t>
            </a:r>
            <a:r>
              <a:rPr lang="en-US" sz="1800" dirty="0" err="1">
                <a:solidFill>
                  <a:schemeClr val="accent1"/>
                </a:solidFill>
              </a:rPr>
              <a:t>acc</a:t>
            </a:r>
            <a:r>
              <a:rPr lang="en-US" sz="1800" dirty="0">
                <a:solidFill>
                  <a:schemeClr val="accent1"/>
                </a:solidFill>
              </a:rPr>
              <a:t>=new Account();  </a:t>
            </a:r>
          </a:p>
          <a:p>
            <a:pPr marL="0" indent="0">
              <a:buNone/>
            </a:pPr>
            <a:r>
              <a:rPr lang="en-US" sz="1800" dirty="0">
                <a:solidFill>
                  <a:schemeClr val="accent1"/>
                </a:solidFill>
              </a:rPr>
              <a:t>    //setting values through setter methods  </a:t>
            </a:r>
          </a:p>
          <a:p>
            <a:pPr marL="0" indent="0">
              <a:buNone/>
            </a:pPr>
            <a:r>
              <a:rPr lang="en-US" sz="1800" dirty="0">
                <a:solidFill>
                  <a:schemeClr val="accent1"/>
                </a:solidFill>
              </a:rPr>
              <a:t>    </a:t>
            </a:r>
            <a:r>
              <a:rPr lang="en-US" sz="1800" dirty="0" err="1">
                <a:solidFill>
                  <a:schemeClr val="accent1"/>
                </a:solidFill>
              </a:rPr>
              <a:t>acc.setAcc_no</a:t>
            </a:r>
            <a:r>
              <a:rPr lang="en-US" sz="1800" dirty="0">
                <a:solidFill>
                  <a:schemeClr val="accent1"/>
                </a:solidFill>
              </a:rPr>
              <a:t>(7560504000L);  </a:t>
            </a:r>
          </a:p>
          <a:p>
            <a:pPr marL="0" indent="0">
              <a:buNone/>
            </a:pPr>
            <a:r>
              <a:rPr lang="en-US" sz="1800" dirty="0">
                <a:solidFill>
                  <a:schemeClr val="accent1"/>
                </a:solidFill>
              </a:rPr>
              <a:t>    </a:t>
            </a:r>
            <a:r>
              <a:rPr lang="en-US" sz="1800" dirty="0" err="1">
                <a:solidFill>
                  <a:schemeClr val="accent1"/>
                </a:solidFill>
              </a:rPr>
              <a:t>acc.setName</a:t>
            </a:r>
            <a:r>
              <a:rPr lang="en-US" sz="1800" dirty="0">
                <a:solidFill>
                  <a:schemeClr val="accent1"/>
                </a:solidFill>
              </a:rPr>
              <a:t>(“</a:t>
            </a:r>
            <a:r>
              <a:rPr lang="en-US" sz="1800" dirty="0" err="1">
                <a:solidFill>
                  <a:schemeClr val="accent1"/>
                </a:solidFill>
              </a:rPr>
              <a:t>chhetra</a:t>
            </a:r>
            <a:r>
              <a:rPr lang="en-US" sz="1800" dirty="0">
                <a:solidFill>
                  <a:schemeClr val="accent1"/>
                </a:solidFill>
              </a:rPr>
              <a:t> ");  </a:t>
            </a:r>
          </a:p>
          <a:p>
            <a:pPr marL="0" indent="0">
              <a:buNone/>
            </a:pPr>
            <a:r>
              <a:rPr lang="en-US" sz="1800" dirty="0">
                <a:solidFill>
                  <a:schemeClr val="accent1"/>
                </a:solidFill>
              </a:rPr>
              <a:t>    </a:t>
            </a:r>
            <a:r>
              <a:rPr lang="en-US" sz="1800" dirty="0" err="1">
                <a:solidFill>
                  <a:schemeClr val="accent1"/>
                </a:solidFill>
              </a:rPr>
              <a:t>acc.setEmail</a:t>
            </a:r>
            <a:r>
              <a:rPr lang="en-US" sz="1800" dirty="0">
                <a:solidFill>
                  <a:schemeClr val="accent1"/>
                </a:solidFill>
              </a:rPr>
              <a:t>(“cchhetra@gmail.com");  </a:t>
            </a:r>
          </a:p>
          <a:p>
            <a:pPr marL="0" indent="0">
              <a:buNone/>
            </a:pPr>
            <a:r>
              <a:rPr lang="en-US" sz="1800" dirty="0">
                <a:solidFill>
                  <a:schemeClr val="accent1"/>
                </a:solidFill>
              </a:rPr>
              <a:t>    </a:t>
            </a:r>
            <a:r>
              <a:rPr lang="en-US" sz="1800" dirty="0" err="1">
                <a:solidFill>
                  <a:schemeClr val="accent1"/>
                </a:solidFill>
              </a:rPr>
              <a:t>acc.setAmount</a:t>
            </a:r>
            <a:r>
              <a:rPr lang="en-US" sz="1800" dirty="0">
                <a:solidFill>
                  <a:schemeClr val="accent1"/>
                </a:solidFill>
              </a:rPr>
              <a:t>(500000f);  </a:t>
            </a:r>
          </a:p>
          <a:p>
            <a:pPr marL="0" indent="0">
              <a:buNone/>
            </a:pPr>
            <a:r>
              <a:rPr lang="en-US" sz="1800" dirty="0">
                <a:solidFill>
                  <a:schemeClr val="accent1"/>
                </a:solidFill>
              </a:rPr>
              <a:t>    //getting values through getter methods  </a:t>
            </a:r>
          </a:p>
          <a:p>
            <a:pPr marL="0" indent="0">
              <a:buNone/>
            </a:pPr>
            <a:r>
              <a:rPr lang="en-US" sz="1800" dirty="0">
                <a:solidFill>
                  <a:schemeClr val="accent1"/>
                </a:solidFill>
              </a:rPr>
              <a:t>    System.out.println(</a:t>
            </a:r>
            <a:r>
              <a:rPr lang="en-US" sz="1800" dirty="0" err="1">
                <a:solidFill>
                  <a:schemeClr val="accent1"/>
                </a:solidFill>
              </a:rPr>
              <a:t>acc.getAcc_no</a:t>
            </a:r>
            <a:r>
              <a:rPr lang="en-US" sz="1800" dirty="0">
                <a:solidFill>
                  <a:schemeClr val="accent1"/>
                </a:solidFill>
              </a:rPr>
              <a:t>()+" "+</a:t>
            </a:r>
            <a:r>
              <a:rPr lang="en-US" sz="1800" dirty="0" err="1">
                <a:solidFill>
                  <a:schemeClr val="accent1"/>
                </a:solidFill>
              </a:rPr>
              <a:t>acc.getName</a:t>
            </a:r>
            <a:r>
              <a:rPr lang="en-US" sz="1800" dirty="0">
                <a:solidFill>
                  <a:schemeClr val="accent1"/>
                </a:solidFill>
              </a:rPr>
              <a:t>()+“ ”</a:t>
            </a:r>
            <a:r>
              <a:rPr lang="en-US" sz="1800" dirty="0" err="1">
                <a:solidFill>
                  <a:schemeClr val="accent1"/>
                </a:solidFill>
              </a:rPr>
              <a:t>c.getEmail</a:t>
            </a:r>
            <a:r>
              <a:rPr lang="en-US" sz="1800" dirty="0">
                <a:solidFill>
                  <a:schemeClr val="accent1"/>
                </a:solidFill>
              </a:rPr>
              <a:t>()+""+</a:t>
            </a:r>
            <a:r>
              <a:rPr lang="en-US" sz="1800" dirty="0" err="1">
                <a:solidFill>
                  <a:schemeClr val="accent1"/>
                </a:solidFill>
              </a:rPr>
              <a:t>acc.getAmount</a:t>
            </a:r>
            <a:r>
              <a:rPr lang="en-US" sz="1800" dirty="0">
                <a:solidFill>
                  <a:schemeClr val="accent1"/>
                </a:solidFill>
              </a:rPr>
              <a:t>());  </a:t>
            </a:r>
          </a:p>
          <a:p>
            <a:pPr marL="0" indent="0">
              <a:buNone/>
            </a:pPr>
            <a:r>
              <a:rPr lang="en-US" sz="1800" dirty="0">
                <a:solidFill>
                  <a:schemeClr val="accent1"/>
                </a:solidFill>
              </a:rPr>
              <a:t>}  </a:t>
            </a:r>
          </a:p>
          <a:p>
            <a:pPr marL="0" indent="0">
              <a:buNone/>
            </a:pPr>
            <a:r>
              <a:rPr lang="en-US" sz="1800" dirty="0">
                <a:solidFill>
                  <a:schemeClr val="accent1"/>
                </a:solidFill>
              </a:rPr>
              <a:t>} </a:t>
            </a:r>
          </a:p>
        </p:txBody>
      </p:sp>
    </p:spTree>
    <p:extLst>
      <p:ext uri="{BB962C8B-B14F-4D97-AF65-F5344CB8AC3E}">
        <p14:creationId xmlns:p14="http://schemas.microsoft.com/office/powerpoint/2010/main" val="12282440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US" dirty="0"/>
              <a:t>Constructor, destructor and finalize() method</a:t>
            </a:r>
          </a:p>
        </p:txBody>
      </p:sp>
      <p:sp>
        <p:nvSpPr>
          <p:cNvPr id="3" name="Content Placeholder 2"/>
          <p:cNvSpPr>
            <a:spLocks noGrp="1"/>
          </p:cNvSpPr>
          <p:nvPr>
            <p:ph idx="1"/>
          </p:nvPr>
        </p:nvSpPr>
        <p:spPr/>
        <p:txBody>
          <a:bodyPr>
            <a:normAutofit lnSpcReduction="10000"/>
          </a:bodyPr>
          <a:lstStyle/>
          <a:p>
            <a:pPr algn="just"/>
            <a:r>
              <a:rPr lang="en-US" dirty="0"/>
              <a:t>A constructor in Java is similar to a method that is invoked when an object of the class is created.</a:t>
            </a:r>
          </a:p>
          <a:p>
            <a:pPr algn="just"/>
            <a:r>
              <a:rPr lang="en-US" dirty="0"/>
              <a:t>Unlike Java methods, a constructor has the same name as that of the class and does not have any return type. For example,</a:t>
            </a:r>
          </a:p>
          <a:p>
            <a:pPr algn="just"/>
            <a:endParaRPr lang="en-US" dirty="0"/>
          </a:p>
          <a:p>
            <a:pPr lvl="1" algn="just"/>
            <a:r>
              <a:rPr lang="en-US" dirty="0"/>
              <a:t>Class Test{</a:t>
            </a:r>
          </a:p>
          <a:p>
            <a:pPr marL="914400" lvl="2" indent="0" algn="just">
              <a:buNone/>
            </a:pPr>
            <a:r>
              <a:rPr lang="en-US" dirty="0"/>
              <a:t>…..</a:t>
            </a:r>
          </a:p>
          <a:p>
            <a:pPr marL="914400" lvl="2" indent="0" algn="just">
              <a:buNone/>
            </a:pPr>
            <a:r>
              <a:rPr lang="en-US" dirty="0"/>
              <a:t>…..</a:t>
            </a:r>
          </a:p>
          <a:p>
            <a:pPr marL="914400" lvl="2" indent="0" algn="just">
              <a:buNone/>
            </a:pPr>
            <a:r>
              <a:rPr lang="en-US" dirty="0"/>
              <a:t>Public Test()</a:t>
            </a:r>
          </a:p>
          <a:p>
            <a:pPr marL="914400" lvl="2" indent="0" algn="just">
              <a:buNone/>
            </a:pPr>
            <a:r>
              <a:rPr lang="en-US" dirty="0"/>
              <a:t>{</a:t>
            </a:r>
          </a:p>
          <a:p>
            <a:pPr marL="914400" lvl="2" indent="0" algn="just">
              <a:buNone/>
            </a:pPr>
            <a:r>
              <a:rPr lang="en-US" dirty="0"/>
              <a:t>}</a:t>
            </a:r>
          </a:p>
          <a:p>
            <a:pPr marL="914400" lvl="2" indent="0" algn="just">
              <a:buNone/>
            </a:pPr>
            <a:r>
              <a:rPr lang="en-US" dirty="0"/>
              <a:t>….</a:t>
            </a:r>
          </a:p>
          <a:p>
            <a:pPr marL="914400" lvl="2" indent="0" algn="just">
              <a:buNone/>
            </a:pPr>
            <a:r>
              <a:rPr lang="en-US" dirty="0"/>
              <a:t>….</a:t>
            </a:r>
          </a:p>
          <a:p>
            <a:pPr marL="457200" lvl="1" indent="0" algn="just">
              <a:buNone/>
            </a:pPr>
            <a:r>
              <a:rPr lang="en-US" dirty="0"/>
              <a:t>}</a:t>
            </a:r>
          </a:p>
        </p:txBody>
      </p:sp>
    </p:spTree>
    <p:extLst>
      <p:ext uri="{BB962C8B-B14F-4D97-AF65-F5344CB8AC3E}">
        <p14:creationId xmlns:p14="http://schemas.microsoft.com/office/powerpoint/2010/main" val="33536986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Types of Constructor</a:t>
            </a:r>
          </a:p>
        </p:txBody>
      </p:sp>
      <p:sp>
        <p:nvSpPr>
          <p:cNvPr id="3" name="Content Placeholder 2"/>
          <p:cNvSpPr>
            <a:spLocks noGrp="1"/>
          </p:cNvSpPr>
          <p:nvPr>
            <p:ph idx="1"/>
          </p:nvPr>
        </p:nvSpPr>
        <p:spPr/>
        <p:txBody>
          <a:bodyPr/>
          <a:lstStyle/>
          <a:p>
            <a:r>
              <a:rPr lang="en-US" dirty="0"/>
              <a:t>In Java, constructors can be divided into 3 types:</a:t>
            </a:r>
          </a:p>
          <a:p>
            <a:pPr lvl="1"/>
            <a:r>
              <a:rPr lang="en-US" dirty="0"/>
              <a:t>No-</a:t>
            </a:r>
            <a:r>
              <a:rPr lang="en-US" dirty="0" err="1"/>
              <a:t>Arg</a:t>
            </a:r>
            <a:r>
              <a:rPr lang="en-US" dirty="0"/>
              <a:t> Constructor</a:t>
            </a:r>
          </a:p>
          <a:p>
            <a:pPr lvl="1"/>
            <a:r>
              <a:rPr lang="en-US" dirty="0"/>
              <a:t>Parameterized Constructor</a:t>
            </a:r>
          </a:p>
          <a:p>
            <a:pPr lvl="1"/>
            <a:r>
              <a:rPr lang="en-US" dirty="0"/>
              <a:t>Default Constructor</a:t>
            </a:r>
          </a:p>
          <a:p>
            <a:pPr lvl="1"/>
            <a:endParaRPr lang="en-US" dirty="0"/>
          </a:p>
          <a:p>
            <a:pPr marL="457200" lvl="1" indent="0">
              <a:buNone/>
            </a:pPr>
            <a:endParaRPr lang="en-US" dirty="0"/>
          </a:p>
        </p:txBody>
      </p:sp>
    </p:spTree>
    <p:extLst>
      <p:ext uri="{BB962C8B-B14F-4D97-AF65-F5344CB8AC3E}">
        <p14:creationId xmlns:p14="http://schemas.microsoft.com/office/powerpoint/2010/main" val="31091935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52306"/>
          </a:xfrm>
        </p:spPr>
        <p:txBody>
          <a:bodyPr>
            <a:normAutofit/>
          </a:bodyPr>
          <a:lstStyle/>
          <a:p>
            <a:pPr lvl="1"/>
            <a:r>
              <a:rPr lang="en-US" sz="2400" b="1" dirty="0"/>
              <a:t>Parameterized Constructor</a:t>
            </a:r>
          </a:p>
        </p:txBody>
      </p:sp>
      <p:sp>
        <p:nvSpPr>
          <p:cNvPr id="3" name="Content Placeholder 2"/>
          <p:cNvSpPr>
            <a:spLocks noGrp="1"/>
          </p:cNvSpPr>
          <p:nvPr>
            <p:ph idx="1"/>
          </p:nvPr>
        </p:nvSpPr>
        <p:spPr>
          <a:xfrm>
            <a:off x="838200" y="1017432"/>
            <a:ext cx="10515600" cy="5159531"/>
          </a:xfrm>
        </p:spPr>
        <p:txBody>
          <a:bodyPr>
            <a:normAutofit fontScale="55000" lnSpcReduction="20000"/>
          </a:bodyPr>
          <a:lstStyle/>
          <a:p>
            <a:pPr algn="just"/>
            <a:r>
              <a:rPr lang="en-US" sz="2400" dirty="0"/>
              <a:t>A Java constructor can also accept one or more parameters. Such constructors are known as parameterized constructors (constructor with parameters).</a:t>
            </a:r>
          </a:p>
          <a:p>
            <a:pPr marL="0" indent="0" algn="just">
              <a:buNone/>
            </a:pPr>
            <a:endParaRPr lang="en-US" sz="2400" dirty="0"/>
          </a:p>
          <a:p>
            <a:pPr marL="0" indent="0" algn="just">
              <a:buNone/>
            </a:pPr>
            <a:r>
              <a:rPr lang="en-US" sz="2400" dirty="0">
                <a:solidFill>
                  <a:srgbClr val="00B0F0"/>
                </a:solidFill>
              </a:rPr>
              <a:t>class Main {</a:t>
            </a:r>
          </a:p>
          <a:p>
            <a:pPr marL="0" indent="0" algn="just">
              <a:buNone/>
            </a:pPr>
            <a:r>
              <a:rPr lang="en-US" sz="2400" dirty="0">
                <a:solidFill>
                  <a:srgbClr val="00B0F0"/>
                </a:solidFill>
              </a:rPr>
              <a:t>  String languages;</a:t>
            </a:r>
          </a:p>
          <a:p>
            <a:pPr marL="0" indent="0" algn="just">
              <a:buNone/>
            </a:pPr>
            <a:r>
              <a:rPr lang="en-US" sz="2400" dirty="0">
                <a:solidFill>
                  <a:srgbClr val="00B0F0"/>
                </a:solidFill>
              </a:rPr>
              <a:t>  // constructor accepting single value</a:t>
            </a:r>
          </a:p>
          <a:p>
            <a:pPr marL="0" indent="0" algn="just">
              <a:buNone/>
            </a:pPr>
            <a:r>
              <a:rPr lang="en-US" sz="2400" dirty="0">
                <a:solidFill>
                  <a:srgbClr val="00B0F0"/>
                </a:solidFill>
              </a:rPr>
              <a:t>  Main(String lang) {</a:t>
            </a:r>
          </a:p>
          <a:p>
            <a:pPr marL="0" indent="0" algn="just">
              <a:buNone/>
            </a:pPr>
            <a:r>
              <a:rPr lang="en-US" sz="2400" dirty="0">
                <a:solidFill>
                  <a:srgbClr val="00B0F0"/>
                </a:solidFill>
              </a:rPr>
              <a:t>    languages = lang;</a:t>
            </a:r>
          </a:p>
          <a:p>
            <a:pPr marL="0" indent="0" algn="just">
              <a:buNone/>
            </a:pPr>
            <a:r>
              <a:rPr lang="en-US" sz="2400" dirty="0">
                <a:solidFill>
                  <a:srgbClr val="00B0F0"/>
                </a:solidFill>
              </a:rPr>
              <a:t>    System.out.println(languages + " Programming Language");</a:t>
            </a:r>
          </a:p>
          <a:p>
            <a:pPr marL="0" indent="0" algn="just">
              <a:buNone/>
            </a:pPr>
            <a:r>
              <a:rPr lang="en-US" sz="2400" dirty="0">
                <a:solidFill>
                  <a:srgbClr val="00B0F0"/>
                </a:solidFill>
              </a:rPr>
              <a:t>  }</a:t>
            </a:r>
          </a:p>
          <a:p>
            <a:pPr marL="0" indent="0" algn="just">
              <a:buNone/>
            </a:pPr>
            <a:r>
              <a:rPr lang="en-US" sz="2400" dirty="0">
                <a:solidFill>
                  <a:srgbClr val="00B0F0"/>
                </a:solidFill>
              </a:rPr>
              <a:t>  public static void main(String[] args) {</a:t>
            </a:r>
          </a:p>
          <a:p>
            <a:pPr marL="0" indent="0" algn="just">
              <a:buNone/>
            </a:pPr>
            <a:r>
              <a:rPr lang="en-US" sz="2400" dirty="0">
                <a:solidFill>
                  <a:srgbClr val="00B0F0"/>
                </a:solidFill>
              </a:rPr>
              <a:t>    // call constructor by passing a single value</a:t>
            </a:r>
          </a:p>
          <a:p>
            <a:pPr marL="0" indent="0" algn="just">
              <a:buNone/>
            </a:pPr>
            <a:r>
              <a:rPr lang="en-US" sz="2400" dirty="0">
                <a:solidFill>
                  <a:srgbClr val="00B0F0"/>
                </a:solidFill>
              </a:rPr>
              <a:t>    Main obj1 = new Main("Java");</a:t>
            </a:r>
          </a:p>
          <a:p>
            <a:pPr marL="0" indent="0" algn="just">
              <a:buNone/>
            </a:pPr>
            <a:r>
              <a:rPr lang="en-US" sz="2400" dirty="0">
                <a:solidFill>
                  <a:srgbClr val="00B0F0"/>
                </a:solidFill>
              </a:rPr>
              <a:t>    Main obj2 = new Main("Python");</a:t>
            </a:r>
          </a:p>
          <a:p>
            <a:pPr marL="0" indent="0" algn="just">
              <a:buNone/>
            </a:pPr>
            <a:r>
              <a:rPr lang="en-US" sz="2400" dirty="0">
                <a:solidFill>
                  <a:srgbClr val="00B0F0"/>
                </a:solidFill>
              </a:rPr>
              <a:t>    Main obj3 = new Main("C");</a:t>
            </a:r>
          </a:p>
          <a:p>
            <a:pPr marL="0" indent="0" algn="just">
              <a:buNone/>
            </a:pPr>
            <a:r>
              <a:rPr lang="en-US" sz="2400" dirty="0">
                <a:solidFill>
                  <a:srgbClr val="00B0F0"/>
                </a:solidFill>
              </a:rPr>
              <a:t>  }</a:t>
            </a:r>
          </a:p>
          <a:p>
            <a:pPr marL="0" indent="0" algn="just">
              <a:buNone/>
            </a:pPr>
            <a:r>
              <a:rPr lang="en-US" sz="2400" dirty="0">
                <a:solidFill>
                  <a:srgbClr val="00B0F0"/>
                </a:solidFill>
              </a:rPr>
              <a:t>}</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35294" y="1977608"/>
            <a:ext cx="4379928" cy="2761817"/>
          </a:xfrm>
          <a:prstGeom prst="rect">
            <a:avLst/>
          </a:prstGeom>
        </p:spPr>
      </p:pic>
    </p:spTree>
    <p:extLst>
      <p:ext uri="{BB962C8B-B14F-4D97-AF65-F5344CB8AC3E}">
        <p14:creationId xmlns:p14="http://schemas.microsoft.com/office/powerpoint/2010/main" val="13094665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Java Default Constructor</a:t>
            </a:r>
          </a:p>
        </p:txBody>
      </p:sp>
      <p:sp>
        <p:nvSpPr>
          <p:cNvPr id="3" name="Content Placeholder 2"/>
          <p:cNvSpPr>
            <a:spLocks noGrp="1"/>
          </p:cNvSpPr>
          <p:nvPr>
            <p:ph idx="1"/>
          </p:nvPr>
        </p:nvSpPr>
        <p:spPr/>
        <p:txBody>
          <a:bodyPr>
            <a:normAutofit fontScale="55000" lnSpcReduction="20000"/>
          </a:bodyPr>
          <a:lstStyle/>
          <a:p>
            <a:r>
              <a:rPr lang="en-US" dirty="0"/>
              <a:t>If we do not create any constructor, the Java compiler automatically create a no-</a:t>
            </a:r>
            <a:r>
              <a:rPr lang="en-US" dirty="0" err="1"/>
              <a:t>arg</a:t>
            </a:r>
            <a:r>
              <a:rPr lang="en-US" dirty="0"/>
              <a:t> constructor during the execution of the program. This constructor is called default constructor.</a:t>
            </a:r>
          </a:p>
          <a:p>
            <a:pPr marL="0" indent="0">
              <a:buNone/>
            </a:pPr>
            <a:endParaRPr lang="en-US" dirty="0"/>
          </a:p>
          <a:p>
            <a:pPr marL="0" indent="0">
              <a:buNone/>
            </a:pPr>
            <a:r>
              <a:rPr lang="en-US" dirty="0">
                <a:solidFill>
                  <a:srgbClr val="00B0F0"/>
                </a:solidFill>
              </a:rPr>
              <a:t>class Main {</a:t>
            </a:r>
          </a:p>
          <a:p>
            <a:pPr marL="0" indent="0">
              <a:buNone/>
            </a:pPr>
            <a:r>
              <a:rPr lang="en-US" dirty="0">
                <a:solidFill>
                  <a:srgbClr val="00B0F0"/>
                </a:solidFill>
              </a:rPr>
              <a:t>  int a;</a:t>
            </a:r>
          </a:p>
          <a:p>
            <a:pPr marL="0" indent="0">
              <a:buNone/>
            </a:pPr>
            <a:r>
              <a:rPr lang="en-US" dirty="0">
                <a:solidFill>
                  <a:srgbClr val="00B0F0"/>
                </a:solidFill>
              </a:rPr>
              <a:t>  </a:t>
            </a:r>
            <a:r>
              <a:rPr lang="en-US" dirty="0" err="1">
                <a:solidFill>
                  <a:srgbClr val="00B0F0"/>
                </a:solidFill>
              </a:rPr>
              <a:t>boolean</a:t>
            </a:r>
            <a:r>
              <a:rPr lang="en-US" dirty="0">
                <a:solidFill>
                  <a:srgbClr val="00B0F0"/>
                </a:solidFill>
              </a:rPr>
              <a:t> b;</a:t>
            </a:r>
          </a:p>
          <a:p>
            <a:pPr marL="0" indent="0">
              <a:buNone/>
            </a:pPr>
            <a:r>
              <a:rPr lang="en-US" dirty="0">
                <a:solidFill>
                  <a:srgbClr val="00B0F0"/>
                </a:solidFill>
              </a:rPr>
              <a:t>  public static void main(String[] args) {</a:t>
            </a:r>
          </a:p>
          <a:p>
            <a:pPr marL="0" indent="0">
              <a:buNone/>
            </a:pPr>
            <a:r>
              <a:rPr lang="en-US" dirty="0">
                <a:solidFill>
                  <a:srgbClr val="00B0F0"/>
                </a:solidFill>
              </a:rPr>
              <a:t>    // A default constructor is called</a:t>
            </a:r>
          </a:p>
          <a:p>
            <a:pPr marL="0" indent="0">
              <a:buNone/>
            </a:pPr>
            <a:r>
              <a:rPr lang="en-US" dirty="0">
                <a:solidFill>
                  <a:srgbClr val="00B0F0"/>
                </a:solidFill>
              </a:rPr>
              <a:t>    Main </a:t>
            </a:r>
            <a:r>
              <a:rPr lang="en-US" dirty="0" err="1">
                <a:solidFill>
                  <a:srgbClr val="00B0F0"/>
                </a:solidFill>
              </a:rPr>
              <a:t>obj</a:t>
            </a:r>
            <a:r>
              <a:rPr lang="en-US" dirty="0">
                <a:solidFill>
                  <a:srgbClr val="00B0F0"/>
                </a:solidFill>
              </a:rPr>
              <a:t> = new Main();</a:t>
            </a:r>
          </a:p>
          <a:p>
            <a:pPr marL="0" indent="0">
              <a:buNone/>
            </a:pPr>
            <a:r>
              <a:rPr lang="en-US" dirty="0">
                <a:solidFill>
                  <a:srgbClr val="00B0F0"/>
                </a:solidFill>
              </a:rPr>
              <a:t>    System.out.println("Default Value:");</a:t>
            </a:r>
          </a:p>
          <a:p>
            <a:pPr marL="0" indent="0">
              <a:buNone/>
            </a:pPr>
            <a:r>
              <a:rPr lang="en-US" dirty="0">
                <a:solidFill>
                  <a:srgbClr val="00B0F0"/>
                </a:solidFill>
              </a:rPr>
              <a:t>    System.out.println("a = " + </a:t>
            </a:r>
            <a:r>
              <a:rPr lang="en-US" dirty="0" err="1">
                <a:solidFill>
                  <a:srgbClr val="00B0F0"/>
                </a:solidFill>
              </a:rPr>
              <a:t>obj.a</a:t>
            </a:r>
            <a:r>
              <a:rPr lang="en-US" dirty="0">
                <a:solidFill>
                  <a:srgbClr val="00B0F0"/>
                </a:solidFill>
              </a:rPr>
              <a:t>);</a:t>
            </a:r>
          </a:p>
          <a:p>
            <a:pPr marL="0" indent="0">
              <a:buNone/>
            </a:pPr>
            <a:r>
              <a:rPr lang="en-US" dirty="0">
                <a:solidFill>
                  <a:srgbClr val="00B0F0"/>
                </a:solidFill>
              </a:rPr>
              <a:t>    System.out.println("b = " + </a:t>
            </a:r>
            <a:r>
              <a:rPr lang="en-US" dirty="0" err="1">
                <a:solidFill>
                  <a:srgbClr val="00B0F0"/>
                </a:solidFill>
              </a:rPr>
              <a:t>obj.b</a:t>
            </a:r>
            <a:r>
              <a:rPr lang="en-US" dirty="0">
                <a:solidFill>
                  <a:srgbClr val="00B0F0"/>
                </a:solidFill>
              </a:rPr>
              <a:t>);</a:t>
            </a:r>
          </a:p>
          <a:p>
            <a:pPr marL="0" indent="0">
              <a:buNone/>
            </a:pPr>
            <a:r>
              <a:rPr lang="en-US" dirty="0">
                <a:solidFill>
                  <a:srgbClr val="00B0F0"/>
                </a:solidFill>
              </a:rPr>
              <a:t>  }</a:t>
            </a:r>
          </a:p>
          <a:p>
            <a:pPr marL="0" indent="0">
              <a:buNone/>
            </a:pPr>
            <a:r>
              <a:rPr lang="en-US" dirty="0">
                <a:solidFill>
                  <a:srgbClr val="00B0F0"/>
                </a:solidFill>
              </a:rPr>
              <a:t>}</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71246" y="3464417"/>
            <a:ext cx="3451538" cy="1635616"/>
          </a:xfrm>
          <a:prstGeom prst="rect">
            <a:avLst/>
          </a:prstGeom>
        </p:spPr>
      </p:pic>
    </p:spTree>
    <p:extLst>
      <p:ext uri="{BB962C8B-B14F-4D97-AF65-F5344CB8AC3E}">
        <p14:creationId xmlns:p14="http://schemas.microsoft.com/office/powerpoint/2010/main" val="1435389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2211094515"/>
              </p:ext>
            </p:extLst>
          </p:nvPr>
        </p:nvGraphicFramePr>
        <p:xfrm>
          <a:off x="1004552" y="1368149"/>
          <a:ext cx="8325590" cy="4800830"/>
        </p:xfrm>
        <a:graphic>
          <a:graphicData uri="http://schemas.openxmlformats.org/drawingml/2006/table">
            <a:tbl>
              <a:tblPr/>
              <a:tblGrid>
                <a:gridCol w="4162795">
                  <a:extLst>
                    <a:ext uri="{9D8B030D-6E8A-4147-A177-3AD203B41FA5}">
                      <a16:colId xmlns:a16="http://schemas.microsoft.com/office/drawing/2014/main" val="20000"/>
                    </a:ext>
                  </a:extLst>
                </a:gridCol>
                <a:gridCol w="4162795">
                  <a:extLst>
                    <a:ext uri="{9D8B030D-6E8A-4147-A177-3AD203B41FA5}">
                      <a16:colId xmlns:a16="http://schemas.microsoft.com/office/drawing/2014/main" val="20001"/>
                    </a:ext>
                  </a:extLst>
                </a:gridCol>
              </a:tblGrid>
              <a:tr h="480083">
                <a:tc>
                  <a:txBody>
                    <a:bodyPr/>
                    <a:lstStyle/>
                    <a:p>
                      <a:pPr algn="l"/>
                      <a:r>
                        <a:rPr lang="en-US" sz="1600" b="0" dirty="0">
                          <a:effectLst/>
                        </a:rPr>
                        <a:t>Type</a:t>
                      </a:r>
                    </a:p>
                  </a:txBody>
                  <a:tcPr marL="197788" marR="197788" marT="98894" marB="98894" anchor="ctr">
                    <a:lnL>
                      <a:noFill/>
                    </a:lnL>
                    <a:lnR>
                      <a:noFill/>
                    </a:lnR>
                    <a:lnT>
                      <a:noFill/>
                    </a:lnT>
                    <a:lnB>
                      <a:noFill/>
                    </a:lnB>
                    <a:solidFill>
                      <a:srgbClr val="F8FAFF"/>
                    </a:solidFill>
                  </a:tcPr>
                </a:tc>
                <a:tc>
                  <a:txBody>
                    <a:bodyPr/>
                    <a:lstStyle/>
                    <a:p>
                      <a:pPr algn="l"/>
                      <a:r>
                        <a:rPr lang="en-US" sz="1600" b="0">
                          <a:effectLst/>
                        </a:rPr>
                        <a:t>Default Value</a:t>
                      </a:r>
                    </a:p>
                  </a:txBody>
                  <a:tcPr marL="197788" marR="197788" marT="98894" marB="98894" anchor="ctr">
                    <a:lnL>
                      <a:noFill/>
                    </a:lnL>
                    <a:lnR>
                      <a:noFill/>
                    </a:lnR>
                    <a:lnT>
                      <a:noFill/>
                    </a:lnT>
                    <a:lnB>
                      <a:noFill/>
                    </a:lnB>
                    <a:solidFill>
                      <a:srgbClr val="F8FAFF"/>
                    </a:solidFill>
                  </a:tcPr>
                </a:tc>
                <a:extLst>
                  <a:ext uri="{0D108BD9-81ED-4DB2-BD59-A6C34878D82A}">
                    <a16:rowId xmlns:a16="http://schemas.microsoft.com/office/drawing/2014/main" val="10000"/>
                  </a:ext>
                </a:extLst>
              </a:tr>
              <a:tr h="480083">
                <a:tc>
                  <a:txBody>
                    <a:bodyPr/>
                    <a:lstStyle/>
                    <a:p>
                      <a:r>
                        <a:rPr lang="en-US" sz="1600">
                          <a:effectLst/>
                        </a:rPr>
                        <a:t>boolean</a:t>
                      </a:r>
                    </a:p>
                  </a:txBody>
                  <a:tcPr marL="197788" marR="197788" marT="98894" marB="98894" anchor="ctr">
                    <a:lnL>
                      <a:noFill/>
                    </a:lnL>
                    <a:lnR>
                      <a:noFill/>
                    </a:lnR>
                    <a:lnT>
                      <a:noFill/>
                    </a:lnT>
                    <a:lnB>
                      <a:noFill/>
                    </a:lnB>
                    <a:solidFill>
                      <a:srgbClr val="F8FAFF"/>
                    </a:solidFill>
                  </a:tcPr>
                </a:tc>
                <a:tc>
                  <a:txBody>
                    <a:bodyPr/>
                    <a:lstStyle/>
                    <a:p>
                      <a:r>
                        <a:rPr lang="en-US" sz="1600" dirty="0">
                          <a:effectLst/>
                        </a:rPr>
                        <a:t>false</a:t>
                      </a:r>
                    </a:p>
                  </a:txBody>
                  <a:tcPr marL="197788" marR="197788" marT="98894" marB="98894" anchor="ctr">
                    <a:lnL>
                      <a:noFill/>
                    </a:lnL>
                    <a:lnR>
                      <a:noFill/>
                    </a:lnR>
                    <a:lnT>
                      <a:noFill/>
                    </a:lnT>
                    <a:lnB>
                      <a:noFill/>
                    </a:lnB>
                    <a:solidFill>
                      <a:srgbClr val="F8FAFF"/>
                    </a:solidFill>
                  </a:tcPr>
                </a:tc>
                <a:extLst>
                  <a:ext uri="{0D108BD9-81ED-4DB2-BD59-A6C34878D82A}">
                    <a16:rowId xmlns:a16="http://schemas.microsoft.com/office/drawing/2014/main" val="10001"/>
                  </a:ext>
                </a:extLst>
              </a:tr>
              <a:tr h="480083">
                <a:tc>
                  <a:txBody>
                    <a:bodyPr/>
                    <a:lstStyle/>
                    <a:p>
                      <a:r>
                        <a:rPr lang="en-US" sz="1600" dirty="0">
                          <a:effectLst/>
                        </a:rPr>
                        <a:t>byte</a:t>
                      </a:r>
                    </a:p>
                  </a:txBody>
                  <a:tcPr marL="197788" marR="197788" marT="98894" marB="98894" anchor="ctr">
                    <a:lnL>
                      <a:noFill/>
                    </a:lnL>
                    <a:lnR>
                      <a:noFill/>
                    </a:lnR>
                    <a:lnT>
                      <a:noFill/>
                    </a:lnT>
                    <a:lnB>
                      <a:noFill/>
                    </a:lnB>
                    <a:solidFill>
                      <a:srgbClr val="F8FAFF"/>
                    </a:solidFill>
                  </a:tcPr>
                </a:tc>
                <a:tc>
                  <a:txBody>
                    <a:bodyPr/>
                    <a:lstStyle/>
                    <a:p>
                      <a:r>
                        <a:rPr lang="en-US" sz="1600">
                          <a:effectLst/>
                        </a:rPr>
                        <a:t>0</a:t>
                      </a:r>
                    </a:p>
                  </a:txBody>
                  <a:tcPr marL="197788" marR="197788" marT="98894" marB="98894" anchor="ctr">
                    <a:lnL>
                      <a:noFill/>
                    </a:lnL>
                    <a:lnR>
                      <a:noFill/>
                    </a:lnR>
                    <a:lnT>
                      <a:noFill/>
                    </a:lnT>
                    <a:lnB>
                      <a:noFill/>
                    </a:lnB>
                    <a:solidFill>
                      <a:srgbClr val="F8FAFF"/>
                    </a:solidFill>
                  </a:tcPr>
                </a:tc>
                <a:extLst>
                  <a:ext uri="{0D108BD9-81ED-4DB2-BD59-A6C34878D82A}">
                    <a16:rowId xmlns:a16="http://schemas.microsoft.com/office/drawing/2014/main" val="10002"/>
                  </a:ext>
                </a:extLst>
              </a:tr>
              <a:tr h="480083">
                <a:tc>
                  <a:txBody>
                    <a:bodyPr/>
                    <a:lstStyle/>
                    <a:p>
                      <a:r>
                        <a:rPr lang="en-US" sz="1600">
                          <a:effectLst/>
                        </a:rPr>
                        <a:t>short</a:t>
                      </a:r>
                    </a:p>
                  </a:txBody>
                  <a:tcPr marL="197788" marR="197788" marT="98894" marB="98894" anchor="ctr">
                    <a:lnL>
                      <a:noFill/>
                    </a:lnL>
                    <a:lnR>
                      <a:noFill/>
                    </a:lnR>
                    <a:lnT>
                      <a:noFill/>
                    </a:lnT>
                    <a:lnB>
                      <a:noFill/>
                    </a:lnB>
                    <a:solidFill>
                      <a:srgbClr val="F8FAFF"/>
                    </a:solidFill>
                  </a:tcPr>
                </a:tc>
                <a:tc>
                  <a:txBody>
                    <a:bodyPr/>
                    <a:lstStyle/>
                    <a:p>
                      <a:r>
                        <a:rPr lang="en-US" sz="1600">
                          <a:effectLst/>
                        </a:rPr>
                        <a:t>0</a:t>
                      </a:r>
                    </a:p>
                  </a:txBody>
                  <a:tcPr marL="197788" marR="197788" marT="98894" marB="98894" anchor="ctr">
                    <a:lnL>
                      <a:noFill/>
                    </a:lnL>
                    <a:lnR>
                      <a:noFill/>
                    </a:lnR>
                    <a:lnT>
                      <a:noFill/>
                    </a:lnT>
                    <a:lnB>
                      <a:noFill/>
                    </a:lnB>
                    <a:solidFill>
                      <a:srgbClr val="F8FAFF"/>
                    </a:solidFill>
                  </a:tcPr>
                </a:tc>
                <a:extLst>
                  <a:ext uri="{0D108BD9-81ED-4DB2-BD59-A6C34878D82A}">
                    <a16:rowId xmlns:a16="http://schemas.microsoft.com/office/drawing/2014/main" val="10003"/>
                  </a:ext>
                </a:extLst>
              </a:tr>
              <a:tr h="480083">
                <a:tc>
                  <a:txBody>
                    <a:bodyPr/>
                    <a:lstStyle/>
                    <a:p>
                      <a:r>
                        <a:rPr lang="en-US" sz="1600" dirty="0">
                          <a:effectLst/>
                        </a:rPr>
                        <a:t>int</a:t>
                      </a:r>
                    </a:p>
                  </a:txBody>
                  <a:tcPr marL="197788" marR="197788" marT="98894" marB="98894" anchor="ctr">
                    <a:lnL>
                      <a:noFill/>
                    </a:lnL>
                    <a:lnR>
                      <a:noFill/>
                    </a:lnR>
                    <a:lnT>
                      <a:noFill/>
                    </a:lnT>
                    <a:lnB>
                      <a:noFill/>
                    </a:lnB>
                    <a:solidFill>
                      <a:srgbClr val="F8FAFF"/>
                    </a:solidFill>
                  </a:tcPr>
                </a:tc>
                <a:tc>
                  <a:txBody>
                    <a:bodyPr/>
                    <a:lstStyle/>
                    <a:p>
                      <a:r>
                        <a:rPr lang="en-US" sz="1600">
                          <a:effectLst/>
                        </a:rPr>
                        <a:t>0</a:t>
                      </a:r>
                    </a:p>
                  </a:txBody>
                  <a:tcPr marL="197788" marR="197788" marT="98894" marB="98894" anchor="ctr">
                    <a:lnL>
                      <a:noFill/>
                    </a:lnL>
                    <a:lnR>
                      <a:noFill/>
                    </a:lnR>
                    <a:lnT>
                      <a:noFill/>
                    </a:lnT>
                    <a:lnB>
                      <a:noFill/>
                    </a:lnB>
                    <a:solidFill>
                      <a:srgbClr val="F8FAFF"/>
                    </a:solidFill>
                  </a:tcPr>
                </a:tc>
                <a:extLst>
                  <a:ext uri="{0D108BD9-81ED-4DB2-BD59-A6C34878D82A}">
                    <a16:rowId xmlns:a16="http://schemas.microsoft.com/office/drawing/2014/main" val="10004"/>
                  </a:ext>
                </a:extLst>
              </a:tr>
              <a:tr h="480083">
                <a:tc>
                  <a:txBody>
                    <a:bodyPr/>
                    <a:lstStyle/>
                    <a:p>
                      <a:r>
                        <a:rPr lang="en-US" sz="1600">
                          <a:effectLst/>
                        </a:rPr>
                        <a:t>long</a:t>
                      </a:r>
                    </a:p>
                  </a:txBody>
                  <a:tcPr marL="197788" marR="197788" marT="98894" marB="98894" anchor="ctr">
                    <a:lnL>
                      <a:noFill/>
                    </a:lnL>
                    <a:lnR>
                      <a:noFill/>
                    </a:lnR>
                    <a:lnT>
                      <a:noFill/>
                    </a:lnT>
                    <a:lnB>
                      <a:noFill/>
                    </a:lnB>
                    <a:solidFill>
                      <a:srgbClr val="F8FAFF"/>
                    </a:solidFill>
                  </a:tcPr>
                </a:tc>
                <a:tc>
                  <a:txBody>
                    <a:bodyPr/>
                    <a:lstStyle/>
                    <a:p>
                      <a:r>
                        <a:rPr lang="en-US" sz="1600">
                          <a:effectLst/>
                        </a:rPr>
                        <a:t>0L</a:t>
                      </a:r>
                    </a:p>
                  </a:txBody>
                  <a:tcPr marL="197788" marR="197788" marT="98894" marB="98894" anchor="ctr">
                    <a:lnL>
                      <a:noFill/>
                    </a:lnL>
                    <a:lnR>
                      <a:noFill/>
                    </a:lnR>
                    <a:lnT>
                      <a:noFill/>
                    </a:lnT>
                    <a:lnB>
                      <a:noFill/>
                    </a:lnB>
                    <a:solidFill>
                      <a:srgbClr val="F8FAFF"/>
                    </a:solidFill>
                  </a:tcPr>
                </a:tc>
                <a:extLst>
                  <a:ext uri="{0D108BD9-81ED-4DB2-BD59-A6C34878D82A}">
                    <a16:rowId xmlns:a16="http://schemas.microsoft.com/office/drawing/2014/main" val="10005"/>
                  </a:ext>
                </a:extLst>
              </a:tr>
              <a:tr h="480083">
                <a:tc>
                  <a:txBody>
                    <a:bodyPr/>
                    <a:lstStyle/>
                    <a:p>
                      <a:r>
                        <a:rPr lang="en-US" sz="1600">
                          <a:effectLst/>
                        </a:rPr>
                        <a:t>char</a:t>
                      </a:r>
                    </a:p>
                  </a:txBody>
                  <a:tcPr marL="197788" marR="197788" marT="98894" marB="98894" anchor="ctr">
                    <a:lnL>
                      <a:noFill/>
                    </a:lnL>
                    <a:lnR>
                      <a:noFill/>
                    </a:lnR>
                    <a:lnT>
                      <a:noFill/>
                    </a:lnT>
                    <a:lnB>
                      <a:noFill/>
                    </a:lnB>
                    <a:solidFill>
                      <a:srgbClr val="F8FAFF"/>
                    </a:solidFill>
                  </a:tcPr>
                </a:tc>
                <a:tc>
                  <a:txBody>
                    <a:bodyPr/>
                    <a:lstStyle/>
                    <a:p>
                      <a:r>
                        <a:rPr lang="en-US" sz="1600">
                          <a:effectLst/>
                        </a:rPr>
                        <a:t>\u0000</a:t>
                      </a:r>
                    </a:p>
                  </a:txBody>
                  <a:tcPr marL="197788" marR="197788" marT="98894" marB="98894" anchor="ctr">
                    <a:lnL>
                      <a:noFill/>
                    </a:lnL>
                    <a:lnR>
                      <a:noFill/>
                    </a:lnR>
                    <a:lnT>
                      <a:noFill/>
                    </a:lnT>
                    <a:lnB>
                      <a:noFill/>
                    </a:lnB>
                    <a:solidFill>
                      <a:srgbClr val="F8FAFF"/>
                    </a:solidFill>
                  </a:tcPr>
                </a:tc>
                <a:extLst>
                  <a:ext uri="{0D108BD9-81ED-4DB2-BD59-A6C34878D82A}">
                    <a16:rowId xmlns:a16="http://schemas.microsoft.com/office/drawing/2014/main" val="10006"/>
                  </a:ext>
                </a:extLst>
              </a:tr>
              <a:tr h="480083">
                <a:tc>
                  <a:txBody>
                    <a:bodyPr/>
                    <a:lstStyle/>
                    <a:p>
                      <a:r>
                        <a:rPr lang="en-US" sz="1600">
                          <a:effectLst/>
                        </a:rPr>
                        <a:t>float</a:t>
                      </a:r>
                    </a:p>
                  </a:txBody>
                  <a:tcPr marL="197788" marR="197788" marT="98894" marB="98894" anchor="ctr">
                    <a:lnL>
                      <a:noFill/>
                    </a:lnL>
                    <a:lnR>
                      <a:noFill/>
                    </a:lnR>
                    <a:lnT>
                      <a:noFill/>
                    </a:lnT>
                    <a:lnB>
                      <a:noFill/>
                    </a:lnB>
                    <a:solidFill>
                      <a:srgbClr val="F8FAFF"/>
                    </a:solidFill>
                  </a:tcPr>
                </a:tc>
                <a:tc>
                  <a:txBody>
                    <a:bodyPr/>
                    <a:lstStyle/>
                    <a:p>
                      <a:r>
                        <a:rPr lang="en-US" sz="1600">
                          <a:effectLst/>
                        </a:rPr>
                        <a:t>0.0f</a:t>
                      </a:r>
                    </a:p>
                  </a:txBody>
                  <a:tcPr marL="197788" marR="197788" marT="98894" marB="98894" anchor="ctr">
                    <a:lnL>
                      <a:noFill/>
                    </a:lnL>
                    <a:lnR>
                      <a:noFill/>
                    </a:lnR>
                    <a:lnT>
                      <a:noFill/>
                    </a:lnT>
                    <a:lnB>
                      <a:noFill/>
                    </a:lnB>
                    <a:solidFill>
                      <a:srgbClr val="F8FAFF"/>
                    </a:solidFill>
                  </a:tcPr>
                </a:tc>
                <a:extLst>
                  <a:ext uri="{0D108BD9-81ED-4DB2-BD59-A6C34878D82A}">
                    <a16:rowId xmlns:a16="http://schemas.microsoft.com/office/drawing/2014/main" val="10007"/>
                  </a:ext>
                </a:extLst>
              </a:tr>
              <a:tr h="480083">
                <a:tc>
                  <a:txBody>
                    <a:bodyPr/>
                    <a:lstStyle/>
                    <a:p>
                      <a:r>
                        <a:rPr lang="en-US" sz="1600">
                          <a:effectLst/>
                        </a:rPr>
                        <a:t>double</a:t>
                      </a:r>
                    </a:p>
                  </a:txBody>
                  <a:tcPr marL="197788" marR="197788" marT="98894" marB="98894" anchor="ctr">
                    <a:lnL>
                      <a:noFill/>
                    </a:lnL>
                    <a:lnR>
                      <a:noFill/>
                    </a:lnR>
                    <a:lnT>
                      <a:noFill/>
                    </a:lnT>
                    <a:lnB>
                      <a:noFill/>
                    </a:lnB>
                    <a:solidFill>
                      <a:srgbClr val="F8FAFF"/>
                    </a:solidFill>
                  </a:tcPr>
                </a:tc>
                <a:tc>
                  <a:txBody>
                    <a:bodyPr/>
                    <a:lstStyle/>
                    <a:p>
                      <a:r>
                        <a:rPr lang="en-US" sz="1600">
                          <a:effectLst/>
                        </a:rPr>
                        <a:t>0.0d</a:t>
                      </a:r>
                    </a:p>
                  </a:txBody>
                  <a:tcPr marL="197788" marR="197788" marT="98894" marB="98894" anchor="ctr">
                    <a:lnL>
                      <a:noFill/>
                    </a:lnL>
                    <a:lnR>
                      <a:noFill/>
                    </a:lnR>
                    <a:lnT>
                      <a:noFill/>
                    </a:lnT>
                    <a:lnB>
                      <a:noFill/>
                    </a:lnB>
                    <a:solidFill>
                      <a:srgbClr val="F8FAFF"/>
                    </a:solidFill>
                  </a:tcPr>
                </a:tc>
                <a:extLst>
                  <a:ext uri="{0D108BD9-81ED-4DB2-BD59-A6C34878D82A}">
                    <a16:rowId xmlns:a16="http://schemas.microsoft.com/office/drawing/2014/main" val="10008"/>
                  </a:ext>
                </a:extLst>
              </a:tr>
              <a:tr h="480083">
                <a:tc>
                  <a:txBody>
                    <a:bodyPr/>
                    <a:lstStyle/>
                    <a:p>
                      <a:r>
                        <a:rPr lang="en-US" sz="1600" dirty="0">
                          <a:effectLst/>
                        </a:rPr>
                        <a:t>object</a:t>
                      </a:r>
                    </a:p>
                  </a:txBody>
                  <a:tcPr marL="197788" marR="197788" marT="98894" marB="98894" anchor="ctr">
                    <a:lnL>
                      <a:noFill/>
                    </a:lnL>
                    <a:lnR>
                      <a:noFill/>
                    </a:lnR>
                    <a:lnT>
                      <a:noFill/>
                    </a:lnT>
                    <a:lnB>
                      <a:noFill/>
                    </a:lnB>
                    <a:solidFill>
                      <a:srgbClr val="F8FAFF"/>
                    </a:solidFill>
                  </a:tcPr>
                </a:tc>
                <a:tc>
                  <a:txBody>
                    <a:bodyPr/>
                    <a:lstStyle/>
                    <a:p>
                      <a:r>
                        <a:rPr lang="en-US" sz="1600" dirty="0">
                          <a:effectLst/>
                        </a:rPr>
                        <a:t>Reference null</a:t>
                      </a:r>
                    </a:p>
                  </a:txBody>
                  <a:tcPr marL="197788" marR="197788" marT="98894" marB="98894" anchor="ctr">
                    <a:lnL>
                      <a:noFill/>
                    </a:lnL>
                    <a:lnR>
                      <a:noFill/>
                    </a:lnR>
                    <a:lnT>
                      <a:noFill/>
                    </a:lnT>
                    <a:lnB>
                      <a:noFill/>
                    </a:lnB>
                    <a:solidFill>
                      <a:srgbClr val="F8FAFF"/>
                    </a:solidFill>
                  </a:tcPr>
                </a:tc>
                <a:extLst>
                  <a:ext uri="{0D108BD9-81ED-4DB2-BD59-A6C34878D82A}">
                    <a16:rowId xmlns:a16="http://schemas.microsoft.com/office/drawing/2014/main" val="10009"/>
                  </a:ext>
                </a:extLst>
              </a:tr>
            </a:tbl>
          </a:graphicData>
        </a:graphic>
      </p:graphicFrame>
      <p:sp>
        <p:nvSpPr>
          <p:cNvPr id="5" name="Rectangle 4"/>
          <p:cNvSpPr/>
          <p:nvPr/>
        </p:nvSpPr>
        <p:spPr>
          <a:xfrm>
            <a:off x="626771" y="217591"/>
            <a:ext cx="10539211" cy="923330"/>
          </a:xfrm>
          <a:prstGeom prst="rect">
            <a:avLst/>
          </a:prstGeom>
        </p:spPr>
        <p:txBody>
          <a:bodyPr wrap="square">
            <a:spAutoFit/>
          </a:bodyPr>
          <a:lstStyle/>
          <a:p>
            <a:pPr marL="285750" indent="-285750">
              <a:buFont typeface="Arial" panose="020B0604020202020204" pitchFamily="34" charset="0"/>
              <a:buChar char="•"/>
            </a:pPr>
            <a:r>
              <a:rPr lang="en-US" dirty="0">
                <a:latin typeface="euclid_circular_a"/>
              </a:rPr>
              <a:t>Here, we haven't created any constructors. Hence, the Java compiler automatically creates the default constructor.</a:t>
            </a:r>
          </a:p>
          <a:p>
            <a:pPr marL="285750" indent="-285750">
              <a:buFont typeface="Arial" panose="020B0604020202020204" pitchFamily="34" charset="0"/>
              <a:buChar char="•"/>
            </a:pPr>
            <a:r>
              <a:rPr lang="en-US" dirty="0">
                <a:latin typeface="euclid_circular_a"/>
              </a:rPr>
              <a:t>The default constructor initializes any uninitialized instance variables with default values.</a:t>
            </a:r>
            <a:endParaRPr lang="en-US" b="0" i="0" dirty="0">
              <a:effectLst/>
              <a:latin typeface="euclid_circular_a"/>
            </a:endParaRPr>
          </a:p>
        </p:txBody>
      </p:sp>
    </p:spTree>
    <p:extLst>
      <p:ext uri="{BB962C8B-B14F-4D97-AF65-F5344CB8AC3E}">
        <p14:creationId xmlns:p14="http://schemas.microsoft.com/office/powerpoint/2010/main" val="290913618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6380" y="184821"/>
            <a:ext cx="10515600" cy="1325563"/>
          </a:xfrm>
        </p:spPr>
        <p:txBody>
          <a:bodyPr/>
          <a:lstStyle/>
          <a:p>
            <a:pPr lvl="0"/>
            <a:r>
              <a:rPr lang="en-US" dirty="0"/>
              <a:t>Chain of constructor</a:t>
            </a:r>
          </a:p>
        </p:txBody>
      </p:sp>
      <p:sp>
        <p:nvSpPr>
          <p:cNvPr id="3" name="Content Placeholder 2"/>
          <p:cNvSpPr>
            <a:spLocks noGrp="1"/>
          </p:cNvSpPr>
          <p:nvPr>
            <p:ph idx="1"/>
          </p:nvPr>
        </p:nvSpPr>
        <p:spPr/>
        <p:txBody>
          <a:bodyPr>
            <a:normAutofit lnSpcReduction="10000"/>
          </a:bodyPr>
          <a:lstStyle/>
          <a:p>
            <a:pPr algn="just"/>
            <a:r>
              <a:rPr lang="en-US" sz="2000" dirty="0"/>
              <a:t>Constructor chain in java is a technique of calling one constructor from within another constructor by using this and super keywords.</a:t>
            </a:r>
          </a:p>
          <a:p>
            <a:pPr algn="just"/>
            <a:r>
              <a:rPr lang="en-US" sz="2000" dirty="0"/>
              <a:t>The keyword “this” is used to call a constructor from within another constructor in the same class.</a:t>
            </a:r>
          </a:p>
          <a:p>
            <a:pPr algn="just"/>
            <a:r>
              <a:rPr lang="en-US" sz="2000" dirty="0"/>
              <a:t>The keyword “super” is used to call the parent (super) class constructor from within child (subclass) class constructor. It occurs through inheritance.</a:t>
            </a:r>
          </a:p>
          <a:p>
            <a:pPr marL="0" indent="0" algn="just">
              <a:buNone/>
            </a:pPr>
            <a:endParaRPr lang="en-US" sz="2000" dirty="0"/>
          </a:p>
          <a:p>
            <a:pPr algn="just"/>
            <a:r>
              <a:rPr lang="en-US" sz="2000" dirty="0"/>
              <a:t>We cannot call the constructor directly by name because it is illegal in Java.</a:t>
            </a:r>
          </a:p>
          <a:p>
            <a:pPr marL="0" indent="0" algn="just">
              <a:buNone/>
            </a:pPr>
            <a:endParaRPr lang="en-US" sz="2000" dirty="0"/>
          </a:p>
          <a:p>
            <a:pPr algn="just"/>
            <a:r>
              <a:rPr lang="en-US" sz="2000" dirty="0"/>
              <a:t>When we use constructor chaining technique in Java programming, it is important to understand the order in which the constructor will execute.</a:t>
            </a:r>
          </a:p>
          <a:p>
            <a:pPr algn="just"/>
            <a:endParaRPr lang="en-US" sz="2000" dirty="0"/>
          </a:p>
        </p:txBody>
      </p:sp>
    </p:spTree>
    <p:extLst>
      <p:ext uri="{BB962C8B-B14F-4D97-AF65-F5344CB8AC3E}">
        <p14:creationId xmlns:p14="http://schemas.microsoft.com/office/powerpoint/2010/main" val="158618972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35000" y="502480"/>
            <a:ext cx="10515600" cy="5790597"/>
          </a:xfrm>
        </p:spPr>
        <p:txBody>
          <a:bodyPr>
            <a:noAutofit/>
          </a:bodyPr>
          <a:lstStyle/>
          <a:p>
            <a:pPr algn="just"/>
            <a:r>
              <a:rPr lang="en-US" sz="2000" dirty="0"/>
              <a:t>When we create a subclass object, the subclass constructor first calls its superclass constructor before performing its own tasks.</a:t>
            </a:r>
          </a:p>
          <a:p>
            <a:pPr marL="0" indent="0" algn="just">
              <a:buNone/>
            </a:pPr>
            <a:endParaRPr lang="en-US" sz="2000" dirty="0"/>
          </a:p>
          <a:p>
            <a:pPr algn="just"/>
            <a:r>
              <a:rPr lang="en-US" sz="2000" dirty="0"/>
              <a:t>If the superclass is derived from another class, the superclass constructor calls its superclass constructor before performing its own tasks.</a:t>
            </a:r>
          </a:p>
          <a:p>
            <a:pPr marL="0" indent="0" algn="just">
              <a:buNone/>
            </a:pPr>
            <a:endParaRPr lang="en-US" sz="2000" dirty="0"/>
          </a:p>
          <a:p>
            <a:pPr algn="just"/>
            <a:r>
              <a:rPr lang="en-US" sz="2000" dirty="0"/>
              <a:t>This process continues until it reaches the last chained constructor and the end of the chain will always object class constructor.</a:t>
            </a:r>
          </a:p>
          <a:p>
            <a:pPr algn="just"/>
            <a:endParaRPr lang="en-US" sz="2000" dirty="0"/>
          </a:p>
          <a:p>
            <a:pPr algn="just"/>
            <a:r>
              <a:rPr lang="en-US" sz="2000" dirty="0"/>
              <a:t>That means if we create an object of subclass, all its super classes are also instantiated.</a:t>
            </a:r>
          </a:p>
          <a:p>
            <a:pPr marL="0" indent="0" algn="just">
              <a:buNone/>
            </a:pPr>
            <a:endParaRPr lang="en-US" sz="2000" dirty="0"/>
          </a:p>
          <a:p>
            <a:pPr marL="0" indent="0" algn="just">
              <a:buNone/>
            </a:pPr>
            <a:endParaRPr lang="en-US" sz="2000" dirty="0"/>
          </a:p>
        </p:txBody>
      </p:sp>
    </p:spTree>
    <p:extLst>
      <p:ext uri="{BB962C8B-B14F-4D97-AF65-F5344CB8AC3E}">
        <p14:creationId xmlns:p14="http://schemas.microsoft.com/office/powerpoint/2010/main" val="42095950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84101" y="759854"/>
            <a:ext cx="8783391" cy="6098145"/>
          </a:xfrm>
        </p:spPr>
      </p:pic>
    </p:spTree>
    <p:extLst>
      <p:ext uri="{BB962C8B-B14F-4D97-AF65-F5344CB8AC3E}">
        <p14:creationId xmlns:p14="http://schemas.microsoft.com/office/powerpoint/2010/main" val="78789365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US" b="1" dirty="0"/>
              <a:t>Invoking base class constructor</a:t>
            </a:r>
          </a:p>
        </p:txBody>
      </p:sp>
      <p:sp>
        <p:nvSpPr>
          <p:cNvPr id="3" name="Content Placeholder 2"/>
          <p:cNvSpPr>
            <a:spLocks noGrp="1"/>
          </p:cNvSpPr>
          <p:nvPr>
            <p:ph idx="1"/>
          </p:nvPr>
        </p:nvSpPr>
        <p:spPr/>
        <p:txBody>
          <a:bodyPr>
            <a:normAutofit/>
          </a:bodyPr>
          <a:lstStyle/>
          <a:p>
            <a:pPr algn="just"/>
            <a:r>
              <a:rPr lang="en-US" sz="2400" dirty="0"/>
              <a:t>If we need to call the superclass constructor from the subclass constructor, we will have to use the super() keyword in the subclass constructor. The syntax to call a superclass constructor is as follows:</a:t>
            </a:r>
          </a:p>
          <a:p>
            <a:pPr algn="just"/>
            <a:r>
              <a:rPr lang="en-US" sz="2400" b="1" dirty="0"/>
              <a:t>Syntax:</a:t>
            </a:r>
          </a:p>
          <a:p>
            <a:pPr lvl="1" algn="just"/>
            <a:r>
              <a:rPr lang="en-US" b="1" dirty="0"/>
              <a:t>super() or super(parameter list);</a:t>
            </a:r>
          </a:p>
          <a:p>
            <a:pPr marL="457200" lvl="1" indent="0" algn="just">
              <a:buNone/>
            </a:pPr>
            <a:endParaRPr lang="en-US" b="1" dirty="0"/>
          </a:p>
          <a:p>
            <a:pPr lvl="1" algn="just"/>
            <a:r>
              <a:rPr lang="en-US" dirty="0"/>
              <a:t>The statement super() calls the no-argument constructor of its superclass and the super(argument) invokes the superclass constructor where the argument must match.</a:t>
            </a:r>
          </a:p>
        </p:txBody>
      </p:sp>
    </p:spTree>
    <p:extLst>
      <p:ext uri="{BB962C8B-B14F-4D97-AF65-F5344CB8AC3E}">
        <p14:creationId xmlns:p14="http://schemas.microsoft.com/office/powerpoint/2010/main" val="77547950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Destructor</a:t>
            </a:r>
            <a:br>
              <a:rPr lang="en-US" dirty="0"/>
            </a:br>
            <a:endParaRPr lang="en-US" dirty="0"/>
          </a:p>
        </p:txBody>
      </p:sp>
      <p:sp>
        <p:nvSpPr>
          <p:cNvPr id="3" name="Content Placeholder 2"/>
          <p:cNvSpPr>
            <a:spLocks noGrp="1"/>
          </p:cNvSpPr>
          <p:nvPr>
            <p:ph idx="1"/>
          </p:nvPr>
        </p:nvSpPr>
        <p:spPr>
          <a:xfrm>
            <a:off x="707571" y="2017487"/>
            <a:ext cx="10515600" cy="3962400"/>
          </a:xfrm>
        </p:spPr>
        <p:txBody>
          <a:bodyPr>
            <a:noAutofit/>
          </a:bodyPr>
          <a:lstStyle/>
          <a:p>
            <a:r>
              <a:rPr lang="en-US" sz="2000" dirty="0"/>
              <a:t>It is a special method that automatically gets called when an object is no longer used. When an object completes its life-cycle the garbage collector deletes that object and </a:t>
            </a:r>
            <a:r>
              <a:rPr lang="en-US" sz="2000" dirty="0" err="1"/>
              <a:t>deallocates</a:t>
            </a:r>
            <a:r>
              <a:rPr lang="en-US" sz="2000" dirty="0"/>
              <a:t> or releases the memory occupied by the object.</a:t>
            </a:r>
          </a:p>
          <a:p>
            <a:r>
              <a:rPr lang="en-US" sz="2000" dirty="0"/>
              <a:t>It is also known as </a:t>
            </a:r>
            <a:r>
              <a:rPr lang="en-US" sz="2000" b="1" dirty="0" err="1"/>
              <a:t>finalizers</a:t>
            </a:r>
            <a:r>
              <a:rPr lang="en-US" sz="2000" dirty="0"/>
              <a:t> that are non-deterministic. the allocation and </a:t>
            </a:r>
            <a:r>
              <a:rPr lang="en-US" sz="2000" dirty="0" err="1"/>
              <a:t>deallocation</a:t>
            </a:r>
            <a:r>
              <a:rPr lang="en-US" sz="2000" dirty="0"/>
              <a:t> of objects handled by the </a:t>
            </a:r>
            <a:r>
              <a:rPr lang="en-US" sz="2000" b="1" dirty="0"/>
              <a:t>garbage collector</a:t>
            </a:r>
            <a:r>
              <a:rPr lang="en-US" sz="2000" dirty="0"/>
              <a:t>. The invocation of </a:t>
            </a:r>
            <a:r>
              <a:rPr lang="en-US" sz="2000" dirty="0" err="1"/>
              <a:t>finalizers</a:t>
            </a:r>
            <a:r>
              <a:rPr lang="en-US" sz="2000" dirty="0"/>
              <a:t> is not guaranteed because it invokes implicitly.</a:t>
            </a:r>
          </a:p>
          <a:p>
            <a:r>
              <a:rPr lang="en-US" sz="2400" b="1" dirty="0"/>
              <a:t>Advantages of Destructor</a:t>
            </a:r>
          </a:p>
          <a:p>
            <a:pPr lvl="1"/>
            <a:r>
              <a:rPr lang="en-US" sz="2000" dirty="0"/>
              <a:t>It releases the resources occupied by the object.</a:t>
            </a:r>
          </a:p>
          <a:p>
            <a:pPr lvl="1"/>
            <a:r>
              <a:rPr lang="en-US" sz="2000" dirty="0"/>
              <a:t>No explicit call is required, it is automatically invoked at the end of the program execution.</a:t>
            </a:r>
          </a:p>
          <a:p>
            <a:pPr lvl="1"/>
            <a:r>
              <a:rPr lang="en-US" sz="2000" dirty="0"/>
              <a:t>It does not accept any parameter and cannot be overloaded.</a:t>
            </a:r>
          </a:p>
        </p:txBody>
      </p:sp>
    </p:spTree>
    <p:extLst>
      <p:ext uri="{BB962C8B-B14F-4D97-AF65-F5344CB8AC3E}">
        <p14:creationId xmlns:p14="http://schemas.microsoft.com/office/powerpoint/2010/main" val="275626298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62857" y="612845"/>
            <a:ext cx="10348686" cy="5632311"/>
          </a:xfrm>
          <a:prstGeom prst="rect">
            <a:avLst/>
          </a:prstGeom>
        </p:spPr>
        <p:txBody>
          <a:bodyPr wrap="square">
            <a:spAutoFit/>
          </a:bodyPr>
          <a:lstStyle/>
          <a:p>
            <a:pPr marL="342900" indent="-342900" algn="just">
              <a:buFont typeface="Arial" panose="020B0604020202020204" pitchFamily="34" charset="0"/>
              <a:buChar char="•"/>
            </a:pPr>
            <a:r>
              <a:rPr lang="en-US" sz="2000" dirty="0"/>
              <a:t>When the object is created it occupies the space in the heap. These objects are used by the threads. </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If the objects are no longer is used by the thread it becomes eligible for the garbage collection.</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 The memory occupied by that object is now available for new objects that are being created. </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It is noted that when the garbage collector destroys the object, the JRE calls the finalize() method to close the connections such as database and network connection.</a:t>
            </a:r>
          </a:p>
          <a:p>
            <a:pPr algn="just"/>
            <a:endParaRPr lang="en-US" sz="2000" dirty="0"/>
          </a:p>
          <a:p>
            <a:pPr marL="342900" indent="-342900" algn="just">
              <a:buFont typeface="Arial" panose="020B0604020202020204" pitchFamily="34" charset="0"/>
              <a:buChar char="•"/>
            </a:pPr>
            <a:r>
              <a:rPr lang="en-US" sz="2000" dirty="0"/>
              <a:t>using the destructor and garbage collector is the level of developer's interference to memory management.</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 The destructor notifies exactly when the object will be destroyed. While in Java the garbage collector does the same work automatically.</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 These two approaches to memory management have positive and negative effects. But the main issue is that sometimes the developer needs immediate access to memory management.</a:t>
            </a:r>
          </a:p>
        </p:txBody>
      </p:sp>
    </p:spTree>
    <p:extLst>
      <p:ext uri="{BB962C8B-B14F-4D97-AF65-F5344CB8AC3E}">
        <p14:creationId xmlns:p14="http://schemas.microsoft.com/office/powerpoint/2010/main" val="46259595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707572" y="0"/>
            <a:ext cx="10515600" cy="783771"/>
          </a:xfrm>
        </p:spPr>
        <p:txBody>
          <a:bodyPr/>
          <a:lstStyle/>
          <a:p>
            <a:r>
              <a:rPr lang="en-US" dirty="0"/>
              <a:t>Java finalize() Method</a:t>
            </a:r>
          </a:p>
        </p:txBody>
      </p:sp>
      <p:sp>
        <p:nvSpPr>
          <p:cNvPr id="5" name="Rectangle 4"/>
          <p:cNvSpPr/>
          <p:nvPr/>
        </p:nvSpPr>
        <p:spPr>
          <a:xfrm>
            <a:off x="402771" y="783771"/>
            <a:ext cx="10671629" cy="6494085"/>
          </a:xfrm>
          <a:prstGeom prst="rect">
            <a:avLst/>
          </a:prstGeom>
        </p:spPr>
        <p:txBody>
          <a:bodyPr wrap="square">
            <a:spAutoFit/>
          </a:bodyPr>
          <a:lstStyle/>
          <a:p>
            <a:pPr marL="285750" indent="-285750">
              <a:buFont typeface="Arial" panose="020B0604020202020204" pitchFamily="34" charset="0"/>
              <a:buChar char="•"/>
            </a:pPr>
            <a:r>
              <a:rPr lang="en-US" sz="2000" dirty="0"/>
              <a:t>It is difficult for the programmer to forcefully execute the garbage collector to destroy the object. But Java provides an alternative way to do the same. </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dirty="0"/>
              <a:t>The Java Object class provides the finalize() method that works the same as the destructor. The syntax of the finalize() method is as follows:</a:t>
            </a:r>
          </a:p>
          <a:p>
            <a:r>
              <a:rPr lang="en-US" sz="2000" dirty="0">
                <a:solidFill>
                  <a:schemeClr val="accent1"/>
                </a:solidFill>
              </a:rPr>
              <a:t>Syntax:</a:t>
            </a:r>
          </a:p>
          <a:p>
            <a:r>
              <a:rPr lang="en-US" sz="2000" dirty="0">
                <a:solidFill>
                  <a:schemeClr val="accent1"/>
                </a:solidFill>
              </a:rPr>
              <a:t>protected void finalize throws </a:t>
            </a:r>
            <a:r>
              <a:rPr lang="en-US" sz="2000" dirty="0" err="1">
                <a:solidFill>
                  <a:schemeClr val="accent1"/>
                </a:solidFill>
              </a:rPr>
              <a:t>Throwable</a:t>
            </a:r>
            <a:r>
              <a:rPr lang="en-US" sz="2000" dirty="0">
                <a:solidFill>
                  <a:schemeClr val="accent1"/>
                </a:solidFill>
              </a:rPr>
              <a:t>()  </a:t>
            </a:r>
          </a:p>
          <a:p>
            <a:r>
              <a:rPr lang="en-US" sz="2000" dirty="0">
                <a:solidFill>
                  <a:schemeClr val="accent1"/>
                </a:solidFill>
              </a:rPr>
              <a:t>{  </a:t>
            </a:r>
          </a:p>
          <a:p>
            <a:r>
              <a:rPr lang="en-US" sz="2000" dirty="0">
                <a:solidFill>
                  <a:schemeClr val="accent1"/>
                </a:solidFill>
              </a:rPr>
              <a:t>//resources to be close  </a:t>
            </a:r>
          </a:p>
          <a:p>
            <a:r>
              <a:rPr lang="en-US" sz="2000" dirty="0">
                <a:solidFill>
                  <a:schemeClr val="accent1"/>
                </a:solidFill>
              </a:rPr>
              <a:t>}  </a:t>
            </a:r>
          </a:p>
          <a:p>
            <a:pPr marL="285750" indent="-285750">
              <a:buFont typeface="Arial" panose="020B0604020202020204" pitchFamily="34" charset="0"/>
              <a:buChar char="•"/>
            </a:pPr>
            <a:r>
              <a:rPr lang="en-US" sz="2000" dirty="0"/>
              <a:t>It is not a destructor but it provides extra security. It ensures the use of external resources like closing the file, etc. before shutting down the program. </a:t>
            </a:r>
          </a:p>
          <a:p>
            <a:pPr marL="285750" indent="-285750">
              <a:buFont typeface="Arial" panose="020B0604020202020204" pitchFamily="34" charset="0"/>
              <a:buChar char="•"/>
            </a:pPr>
            <a:r>
              <a:rPr lang="en-US" sz="2000" dirty="0"/>
              <a:t>We can call it by using the method itself or invoking the method </a:t>
            </a:r>
            <a:r>
              <a:rPr lang="en-US" sz="2000" dirty="0" err="1"/>
              <a:t>System.runFinalizersOnExit</a:t>
            </a:r>
            <a:r>
              <a:rPr lang="en-US" sz="2000" dirty="0"/>
              <a:t>(true).</a:t>
            </a:r>
          </a:p>
          <a:p>
            <a:pPr marL="742950" lvl="1" indent="-285750">
              <a:buFont typeface="Arial" panose="020B0604020202020204" pitchFamily="34" charset="0"/>
              <a:buChar char="•"/>
            </a:pPr>
            <a:r>
              <a:rPr lang="en-US" sz="2000" dirty="0"/>
              <a:t>It is a protected method of the Object class that is defined in the </a:t>
            </a:r>
            <a:r>
              <a:rPr lang="en-US" sz="2000" dirty="0" err="1"/>
              <a:t>java.lang</a:t>
            </a:r>
            <a:r>
              <a:rPr lang="en-US" sz="2000" dirty="0"/>
              <a:t> package.</a:t>
            </a:r>
          </a:p>
          <a:p>
            <a:pPr marL="742950" lvl="1" indent="-285750">
              <a:buFont typeface="Arial" panose="020B0604020202020204" pitchFamily="34" charset="0"/>
              <a:buChar char="•"/>
            </a:pPr>
            <a:r>
              <a:rPr lang="en-US" sz="2000" dirty="0"/>
              <a:t>It can be called only once.</a:t>
            </a:r>
          </a:p>
          <a:p>
            <a:pPr marL="742950" lvl="1" indent="-285750">
              <a:buFont typeface="Arial" panose="020B0604020202020204" pitchFamily="34" charset="0"/>
              <a:buChar char="•"/>
            </a:pPr>
            <a:r>
              <a:rPr lang="en-US" sz="2000" dirty="0"/>
              <a:t>We need to call the finalize() method explicitly if we want to override the method.</a:t>
            </a:r>
          </a:p>
          <a:p>
            <a:pPr marL="742950" lvl="1" indent="-285750">
              <a:buFont typeface="Arial" panose="020B0604020202020204" pitchFamily="34" charset="0"/>
              <a:buChar char="•"/>
            </a:pPr>
            <a:r>
              <a:rPr lang="en-US" sz="2000" dirty="0"/>
              <a:t>The </a:t>
            </a:r>
            <a:r>
              <a:rPr lang="en-US" sz="2000" dirty="0" err="1"/>
              <a:t>gc</a:t>
            </a:r>
            <a:r>
              <a:rPr lang="en-US" sz="2000" dirty="0"/>
              <a:t>() is a method of JVM executed by the Garbage Collector. It invokes when the heap memory is full and requires more memory for new arriving objects.</a:t>
            </a:r>
          </a:p>
          <a:p>
            <a:pPr marL="742950" lvl="1" indent="-285750">
              <a:buFont typeface="Arial" panose="020B0604020202020204" pitchFamily="34" charset="0"/>
              <a:buChar char="•"/>
            </a:pPr>
            <a:r>
              <a:rPr lang="en-US" sz="2000" dirty="0"/>
              <a:t>Except for the unchecked exceptions, the JVM ignores all the exceptions that occur by the finalize() method.</a:t>
            </a:r>
          </a:p>
        </p:txBody>
      </p:sp>
    </p:spTree>
    <p:extLst>
      <p:ext uri="{BB962C8B-B14F-4D97-AF65-F5344CB8AC3E}">
        <p14:creationId xmlns:p14="http://schemas.microsoft.com/office/powerpoint/2010/main" val="352055918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US" dirty="0"/>
              <a:t>Objects and arrays</a:t>
            </a:r>
          </a:p>
        </p:txBody>
      </p:sp>
      <p:sp>
        <p:nvSpPr>
          <p:cNvPr id="3" name="Content Placeholder 2"/>
          <p:cNvSpPr>
            <a:spLocks noGrp="1"/>
          </p:cNvSpPr>
          <p:nvPr>
            <p:ph idx="1"/>
          </p:nvPr>
        </p:nvSpPr>
        <p:spPr/>
        <p:txBody>
          <a:bodyPr>
            <a:normAutofit/>
          </a:bodyPr>
          <a:lstStyle/>
          <a:p>
            <a:pPr algn="just"/>
            <a:endParaRPr lang="en-US" sz="2000" b="1" dirty="0"/>
          </a:p>
          <a:p>
            <a:pPr algn="just"/>
            <a:endParaRPr lang="en-US" sz="2000" b="1" dirty="0"/>
          </a:p>
          <a:p>
            <a:pPr algn="just"/>
            <a:r>
              <a:rPr lang="en-US" sz="2000" b="1" dirty="0"/>
              <a:t>JAVA ARRAY OF OBJECT</a:t>
            </a:r>
            <a:r>
              <a:rPr lang="en-US" sz="2000" dirty="0"/>
              <a:t>, as defined by its name, stores an </a:t>
            </a:r>
            <a:r>
              <a:rPr lang="en-US" sz="2000" b="1" dirty="0"/>
              <a:t>array of objects</a:t>
            </a:r>
            <a:r>
              <a:rPr lang="en-US" sz="2000" dirty="0"/>
              <a:t>. Unlike a traditional array that store values like string, integer, Boolean, </a:t>
            </a:r>
            <a:r>
              <a:rPr lang="en-US" sz="2000" dirty="0" err="1"/>
              <a:t>etc</a:t>
            </a:r>
            <a:r>
              <a:rPr lang="en-US" sz="2000" dirty="0"/>
              <a:t> an array of objects stores OBJECTS. The array elements store the location of the reference variables of the object.</a:t>
            </a:r>
          </a:p>
          <a:p>
            <a:pPr algn="just"/>
            <a:endParaRPr lang="en-US" sz="2000" dirty="0"/>
          </a:p>
          <a:p>
            <a:pPr algn="just"/>
            <a:r>
              <a:rPr lang="en-US" sz="2000" dirty="0"/>
              <a:t>Syntax:</a:t>
            </a:r>
          </a:p>
          <a:p>
            <a:pPr marL="0" indent="0" algn="just">
              <a:buNone/>
            </a:pPr>
            <a:r>
              <a:rPr lang="en-US" sz="2000" dirty="0"/>
              <a:t>	Class </a:t>
            </a:r>
            <a:r>
              <a:rPr lang="en-US" sz="2000" dirty="0" err="1"/>
              <a:t>obj</a:t>
            </a:r>
            <a:r>
              <a:rPr lang="en-US" sz="2000" dirty="0"/>
              <a:t>[] =  new Class[</a:t>
            </a:r>
            <a:r>
              <a:rPr lang="en-US" sz="2000" dirty="0" err="1"/>
              <a:t>array_length</a:t>
            </a:r>
            <a:r>
              <a:rPr lang="en-US" sz="2000" dirty="0"/>
              <a:t>]</a:t>
            </a:r>
          </a:p>
          <a:p>
            <a:pPr marL="0" indent="0" algn="just">
              <a:buNone/>
            </a:pPr>
            <a:endParaRPr lang="en-US" sz="2000" dirty="0"/>
          </a:p>
        </p:txBody>
      </p:sp>
    </p:spTree>
    <p:extLst>
      <p:ext uri="{BB962C8B-B14F-4D97-AF65-F5344CB8AC3E}">
        <p14:creationId xmlns:p14="http://schemas.microsoft.com/office/powerpoint/2010/main" val="344829644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016000" y="1509770"/>
            <a:ext cx="4934857" cy="3693319"/>
          </a:xfrm>
          <a:prstGeom prst="rect">
            <a:avLst/>
          </a:prstGeom>
        </p:spPr>
        <p:txBody>
          <a:bodyPr wrap="square">
            <a:spAutoFit/>
          </a:bodyPr>
          <a:lstStyle/>
          <a:p>
            <a:r>
              <a:rPr lang="en-US" dirty="0">
                <a:solidFill>
                  <a:schemeClr val="accent1"/>
                </a:solidFill>
              </a:rPr>
              <a:t>class </a:t>
            </a:r>
            <a:r>
              <a:rPr lang="en-US" dirty="0" err="1">
                <a:solidFill>
                  <a:schemeClr val="accent1"/>
                </a:solidFill>
              </a:rPr>
              <a:t>ObjectArray</a:t>
            </a:r>
            <a:r>
              <a:rPr lang="en-US" dirty="0">
                <a:solidFill>
                  <a:schemeClr val="accent1"/>
                </a:solidFill>
              </a:rPr>
              <a:t>{</a:t>
            </a:r>
          </a:p>
          <a:p>
            <a:r>
              <a:rPr lang="en-US" dirty="0">
                <a:solidFill>
                  <a:schemeClr val="accent1"/>
                </a:solidFill>
              </a:rPr>
              <a:t>   public static void main(String args[]){</a:t>
            </a:r>
          </a:p>
          <a:p>
            <a:r>
              <a:rPr lang="en-US" dirty="0">
                <a:solidFill>
                  <a:schemeClr val="accent1"/>
                </a:solidFill>
              </a:rPr>
              <a:t>     Account </a:t>
            </a:r>
            <a:r>
              <a:rPr lang="en-US" dirty="0" err="1">
                <a:solidFill>
                  <a:schemeClr val="accent1"/>
                </a:solidFill>
              </a:rPr>
              <a:t>obj</a:t>
            </a:r>
            <a:r>
              <a:rPr lang="en-US" dirty="0">
                <a:solidFill>
                  <a:schemeClr val="accent1"/>
                </a:solidFill>
              </a:rPr>
              <a:t>[] = new Account[2] ;</a:t>
            </a:r>
          </a:p>
          <a:p>
            <a:r>
              <a:rPr lang="en-US" dirty="0">
                <a:solidFill>
                  <a:schemeClr val="accent1"/>
                </a:solidFill>
              </a:rPr>
              <a:t>     </a:t>
            </a:r>
            <a:r>
              <a:rPr lang="en-US" dirty="0" err="1">
                <a:solidFill>
                  <a:schemeClr val="accent1"/>
                </a:solidFill>
              </a:rPr>
              <a:t>obj</a:t>
            </a:r>
            <a:r>
              <a:rPr lang="en-US" dirty="0">
                <a:solidFill>
                  <a:schemeClr val="accent1"/>
                </a:solidFill>
              </a:rPr>
              <a:t>[0] = new Account();</a:t>
            </a:r>
          </a:p>
          <a:p>
            <a:r>
              <a:rPr lang="en-US" dirty="0">
                <a:solidFill>
                  <a:schemeClr val="accent1"/>
                </a:solidFill>
              </a:rPr>
              <a:t>     </a:t>
            </a:r>
            <a:r>
              <a:rPr lang="en-US" dirty="0" err="1">
                <a:solidFill>
                  <a:schemeClr val="accent1"/>
                </a:solidFill>
              </a:rPr>
              <a:t>obj</a:t>
            </a:r>
            <a:r>
              <a:rPr lang="en-US" dirty="0">
                <a:solidFill>
                  <a:schemeClr val="accent1"/>
                </a:solidFill>
              </a:rPr>
              <a:t>[1] = new Account();</a:t>
            </a:r>
          </a:p>
          <a:p>
            <a:r>
              <a:rPr lang="en-US" dirty="0">
                <a:solidFill>
                  <a:schemeClr val="accent1"/>
                </a:solidFill>
              </a:rPr>
              <a:t>    </a:t>
            </a:r>
            <a:r>
              <a:rPr lang="en-US" dirty="0" err="1">
                <a:solidFill>
                  <a:schemeClr val="accent1"/>
                </a:solidFill>
              </a:rPr>
              <a:t>obj</a:t>
            </a:r>
            <a:r>
              <a:rPr lang="en-US" dirty="0">
                <a:solidFill>
                  <a:schemeClr val="accent1"/>
                </a:solidFill>
              </a:rPr>
              <a:t>[0].</a:t>
            </a:r>
            <a:r>
              <a:rPr lang="en-US" dirty="0" err="1">
                <a:solidFill>
                  <a:schemeClr val="accent1"/>
                </a:solidFill>
              </a:rPr>
              <a:t>setData</a:t>
            </a:r>
            <a:r>
              <a:rPr lang="en-US" dirty="0">
                <a:solidFill>
                  <a:schemeClr val="accent1"/>
                </a:solidFill>
              </a:rPr>
              <a:t>(1,2);</a:t>
            </a:r>
          </a:p>
          <a:p>
            <a:r>
              <a:rPr lang="en-US" dirty="0">
                <a:solidFill>
                  <a:schemeClr val="accent1"/>
                </a:solidFill>
              </a:rPr>
              <a:t>    </a:t>
            </a:r>
            <a:r>
              <a:rPr lang="en-US" dirty="0" err="1">
                <a:solidFill>
                  <a:schemeClr val="accent1"/>
                </a:solidFill>
              </a:rPr>
              <a:t>obj</a:t>
            </a:r>
            <a:r>
              <a:rPr lang="en-US" dirty="0">
                <a:solidFill>
                  <a:schemeClr val="accent1"/>
                </a:solidFill>
              </a:rPr>
              <a:t>[1].</a:t>
            </a:r>
            <a:r>
              <a:rPr lang="en-US" dirty="0" err="1">
                <a:solidFill>
                  <a:schemeClr val="accent1"/>
                </a:solidFill>
              </a:rPr>
              <a:t>setData</a:t>
            </a:r>
            <a:r>
              <a:rPr lang="en-US" dirty="0">
                <a:solidFill>
                  <a:schemeClr val="accent1"/>
                </a:solidFill>
              </a:rPr>
              <a:t>(3,4);</a:t>
            </a:r>
          </a:p>
          <a:p>
            <a:r>
              <a:rPr lang="en-US" dirty="0">
                <a:solidFill>
                  <a:schemeClr val="accent1"/>
                </a:solidFill>
              </a:rPr>
              <a:t>    System.out.println("For Array Element 0");</a:t>
            </a:r>
          </a:p>
          <a:p>
            <a:r>
              <a:rPr lang="en-US" dirty="0">
                <a:solidFill>
                  <a:schemeClr val="accent1"/>
                </a:solidFill>
              </a:rPr>
              <a:t>    </a:t>
            </a:r>
            <a:r>
              <a:rPr lang="en-US" dirty="0" err="1">
                <a:solidFill>
                  <a:schemeClr val="accent1"/>
                </a:solidFill>
              </a:rPr>
              <a:t>obj</a:t>
            </a:r>
            <a:r>
              <a:rPr lang="en-US" dirty="0">
                <a:solidFill>
                  <a:schemeClr val="accent1"/>
                </a:solidFill>
              </a:rPr>
              <a:t>[0].</a:t>
            </a:r>
            <a:r>
              <a:rPr lang="en-US" dirty="0" err="1">
                <a:solidFill>
                  <a:schemeClr val="accent1"/>
                </a:solidFill>
              </a:rPr>
              <a:t>showData</a:t>
            </a:r>
            <a:r>
              <a:rPr lang="en-US" dirty="0">
                <a:solidFill>
                  <a:schemeClr val="accent1"/>
                </a:solidFill>
              </a:rPr>
              <a:t>();</a:t>
            </a:r>
          </a:p>
          <a:p>
            <a:r>
              <a:rPr lang="en-US" dirty="0">
                <a:solidFill>
                  <a:schemeClr val="accent1"/>
                </a:solidFill>
              </a:rPr>
              <a:t>    System.out.println("For Array Element 1");</a:t>
            </a:r>
          </a:p>
          <a:p>
            <a:r>
              <a:rPr lang="en-US" dirty="0">
                <a:solidFill>
                  <a:schemeClr val="accent1"/>
                </a:solidFill>
              </a:rPr>
              <a:t>     </a:t>
            </a:r>
            <a:r>
              <a:rPr lang="en-US" dirty="0" err="1">
                <a:solidFill>
                  <a:schemeClr val="accent1"/>
                </a:solidFill>
              </a:rPr>
              <a:t>obj</a:t>
            </a:r>
            <a:r>
              <a:rPr lang="en-US" dirty="0">
                <a:solidFill>
                  <a:schemeClr val="accent1"/>
                </a:solidFill>
              </a:rPr>
              <a:t>[1].</a:t>
            </a:r>
            <a:r>
              <a:rPr lang="en-US" dirty="0" err="1">
                <a:solidFill>
                  <a:schemeClr val="accent1"/>
                </a:solidFill>
              </a:rPr>
              <a:t>showData</a:t>
            </a:r>
            <a:r>
              <a:rPr lang="en-US" dirty="0">
                <a:solidFill>
                  <a:schemeClr val="accent1"/>
                </a:solidFill>
              </a:rPr>
              <a:t>();</a:t>
            </a:r>
          </a:p>
          <a:p>
            <a:r>
              <a:rPr lang="en-US" dirty="0">
                <a:solidFill>
                  <a:schemeClr val="accent1"/>
                </a:solidFill>
              </a:rPr>
              <a:t>  }</a:t>
            </a:r>
          </a:p>
          <a:p>
            <a:r>
              <a:rPr lang="en-US" dirty="0">
                <a:solidFill>
                  <a:schemeClr val="accent1"/>
                </a:solidFill>
              </a:rPr>
              <a:t>}</a:t>
            </a:r>
          </a:p>
        </p:txBody>
      </p:sp>
      <p:sp>
        <p:nvSpPr>
          <p:cNvPr id="7" name="Rectangle 6"/>
          <p:cNvSpPr/>
          <p:nvPr/>
        </p:nvSpPr>
        <p:spPr>
          <a:xfrm>
            <a:off x="6096000" y="1509770"/>
            <a:ext cx="6096000" cy="3416320"/>
          </a:xfrm>
          <a:prstGeom prst="rect">
            <a:avLst/>
          </a:prstGeom>
        </p:spPr>
        <p:txBody>
          <a:bodyPr>
            <a:spAutoFit/>
          </a:bodyPr>
          <a:lstStyle/>
          <a:p>
            <a:r>
              <a:rPr lang="en-US" dirty="0">
                <a:solidFill>
                  <a:schemeClr val="accent1"/>
                </a:solidFill>
              </a:rPr>
              <a:t>class Account{</a:t>
            </a:r>
          </a:p>
          <a:p>
            <a:r>
              <a:rPr lang="en-US" dirty="0">
                <a:solidFill>
                  <a:schemeClr val="accent1"/>
                </a:solidFill>
              </a:rPr>
              <a:t>  int a;</a:t>
            </a:r>
          </a:p>
          <a:p>
            <a:r>
              <a:rPr lang="en-US" dirty="0">
                <a:solidFill>
                  <a:schemeClr val="accent1"/>
                </a:solidFill>
              </a:rPr>
              <a:t>  int b;</a:t>
            </a:r>
          </a:p>
          <a:p>
            <a:r>
              <a:rPr lang="en-US" dirty="0">
                <a:solidFill>
                  <a:schemeClr val="accent1"/>
                </a:solidFill>
              </a:rPr>
              <a:t> public void </a:t>
            </a:r>
            <a:r>
              <a:rPr lang="en-US" dirty="0" err="1">
                <a:solidFill>
                  <a:schemeClr val="accent1"/>
                </a:solidFill>
              </a:rPr>
              <a:t>setData</a:t>
            </a:r>
            <a:r>
              <a:rPr lang="en-US" dirty="0">
                <a:solidFill>
                  <a:schemeClr val="accent1"/>
                </a:solidFill>
              </a:rPr>
              <a:t>(int </a:t>
            </a:r>
            <a:r>
              <a:rPr lang="en-US" dirty="0" err="1">
                <a:solidFill>
                  <a:schemeClr val="accent1"/>
                </a:solidFill>
              </a:rPr>
              <a:t>c,int</a:t>
            </a:r>
            <a:r>
              <a:rPr lang="en-US" dirty="0">
                <a:solidFill>
                  <a:schemeClr val="accent1"/>
                </a:solidFill>
              </a:rPr>
              <a:t> d){</a:t>
            </a:r>
          </a:p>
          <a:p>
            <a:r>
              <a:rPr lang="en-US" dirty="0">
                <a:solidFill>
                  <a:schemeClr val="accent1"/>
                </a:solidFill>
              </a:rPr>
              <a:t>   a=c;</a:t>
            </a:r>
          </a:p>
          <a:p>
            <a:r>
              <a:rPr lang="en-US" dirty="0">
                <a:solidFill>
                  <a:schemeClr val="accent1"/>
                </a:solidFill>
              </a:rPr>
              <a:t>   b=d;</a:t>
            </a:r>
          </a:p>
          <a:p>
            <a:r>
              <a:rPr lang="en-US" dirty="0">
                <a:solidFill>
                  <a:schemeClr val="accent1"/>
                </a:solidFill>
              </a:rPr>
              <a:t> }</a:t>
            </a:r>
          </a:p>
          <a:p>
            <a:r>
              <a:rPr lang="en-US" dirty="0">
                <a:solidFill>
                  <a:schemeClr val="accent1"/>
                </a:solidFill>
              </a:rPr>
              <a:t> public void </a:t>
            </a:r>
            <a:r>
              <a:rPr lang="en-US" dirty="0" err="1">
                <a:solidFill>
                  <a:schemeClr val="accent1"/>
                </a:solidFill>
              </a:rPr>
              <a:t>showData</a:t>
            </a:r>
            <a:r>
              <a:rPr lang="en-US" dirty="0">
                <a:solidFill>
                  <a:schemeClr val="accent1"/>
                </a:solidFill>
              </a:rPr>
              <a:t>(){</a:t>
            </a:r>
          </a:p>
          <a:p>
            <a:r>
              <a:rPr lang="en-US" dirty="0">
                <a:solidFill>
                  <a:schemeClr val="accent1"/>
                </a:solidFill>
              </a:rPr>
              <a:t>   System.out.println("Value of a ="+a);</a:t>
            </a:r>
          </a:p>
          <a:p>
            <a:r>
              <a:rPr lang="en-US" dirty="0">
                <a:solidFill>
                  <a:schemeClr val="accent1"/>
                </a:solidFill>
              </a:rPr>
              <a:t>   System.out.println("Value of b ="+b);</a:t>
            </a:r>
          </a:p>
          <a:p>
            <a:r>
              <a:rPr lang="en-US" dirty="0">
                <a:solidFill>
                  <a:schemeClr val="accent1"/>
                </a:solidFill>
              </a:rPr>
              <a:t> }</a:t>
            </a:r>
          </a:p>
          <a:p>
            <a:r>
              <a:rPr lang="en-US" dirty="0">
                <a:solidFill>
                  <a:schemeClr val="accent1"/>
                </a:solidFill>
              </a:rPr>
              <a:t>}</a:t>
            </a:r>
          </a:p>
        </p:txBody>
      </p:sp>
      <p:sp>
        <p:nvSpPr>
          <p:cNvPr id="8" name="Rectangle 7"/>
          <p:cNvSpPr/>
          <p:nvPr/>
        </p:nvSpPr>
        <p:spPr>
          <a:xfrm>
            <a:off x="3048000" y="4734342"/>
            <a:ext cx="6096000" cy="2123658"/>
          </a:xfrm>
          <a:prstGeom prst="rect">
            <a:avLst/>
          </a:prstGeom>
        </p:spPr>
        <p:txBody>
          <a:bodyPr>
            <a:spAutoFit/>
          </a:bodyPr>
          <a:lstStyle/>
          <a:p>
            <a:r>
              <a:rPr lang="en-US" sz="2400" dirty="0">
                <a:solidFill>
                  <a:srgbClr val="C00000"/>
                </a:solidFill>
              </a:rPr>
              <a:t>Output:</a:t>
            </a:r>
          </a:p>
          <a:p>
            <a:r>
              <a:rPr lang="en-US" dirty="0"/>
              <a:t>For Array Element 0</a:t>
            </a:r>
          </a:p>
          <a:p>
            <a:r>
              <a:rPr lang="en-US" dirty="0"/>
              <a:t>Value of a =1</a:t>
            </a:r>
          </a:p>
          <a:p>
            <a:r>
              <a:rPr lang="en-US" dirty="0"/>
              <a:t>Value of b =2</a:t>
            </a:r>
          </a:p>
          <a:p>
            <a:r>
              <a:rPr lang="en-US" dirty="0"/>
              <a:t>For Array Element 1</a:t>
            </a:r>
          </a:p>
          <a:p>
            <a:r>
              <a:rPr lang="en-US" dirty="0"/>
              <a:t>Value of a =3</a:t>
            </a:r>
          </a:p>
          <a:p>
            <a:r>
              <a:rPr lang="en-US" dirty="0"/>
              <a:t>Value of b =4</a:t>
            </a:r>
          </a:p>
        </p:txBody>
      </p:sp>
    </p:spTree>
    <p:extLst>
      <p:ext uri="{BB962C8B-B14F-4D97-AF65-F5344CB8AC3E}">
        <p14:creationId xmlns:p14="http://schemas.microsoft.com/office/powerpoint/2010/main" val="246331086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55915" y="103868"/>
            <a:ext cx="10515600" cy="752475"/>
          </a:xfrm>
        </p:spPr>
        <p:txBody>
          <a:bodyPr/>
          <a:lstStyle/>
          <a:p>
            <a:pPr lvl="0"/>
            <a:r>
              <a:rPr lang="en-US" dirty="0"/>
              <a:t>“this” keyword</a:t>
            </a:r>
          </a:p>
        </p:txBody>
      </p:sp>
      <p:sp>
        <p:nvSpPr>
          <p:cNvPr id="3" name="Content Placeholder 2"/>
          <p:cNvSpPr>
            <a:spLocks noGrp="1"/>
          </p:cNvSpPr>
          <p:nvPr>
            <p:ph idx="1"/>
          </p:nvPr>
        </p:nvSpPr>
        <p:spPr>
          <a:xfrm>
            <a:off x="838200" y="972457"/>
            <a:ext cx="10515600" cy="5718630"/>
          </a:xfrm>
        </p:spPr>
        <p:txBody>
          <a:bodyPr>
            <a:noAutofit/>
          </a:bodyPr>
          <a:lstStyle/>
          <a:p>
            <a:r>
              <a:rPr lang="en-US" sz="2000" dirty="0"/>
              <a:t>Within an instance method or a constructor, this is a reference to the current object — the object whose method or constructor is being called. </a:t>
            </a:r>
          </a:p>
          <a:p>
            <a:r>
              <a:rPr lang="en-US" sz="2000" dirty="0"/>
              <a:t>can refer to any member of the current object from within an instance method or a constructor by using this.</a:t>
            </a:r>
          </a:p>
          <a:p>
            <a:pPr marL="0" indent="0">
              <a:buNone/>
            </a:pPr>
            <a:r>
              <a:rPr lang="en-US" sz="2000" dirty="0">
                <a:solidFill>
                  <a:schemeClr val="accent1"/>
                </a:solidFill>
              </a:rPr>
              <a:t>public class Point {</a:t>
            </a:r>
          </a:p>
          <a:p>
            <a:pPr marL="0" indent="0">
              <a:buNone/>
            </a:pPr>
            <a:r>
              <a:rPr lang="en-US" sz="2000" dirty="0">
                <a:solidFill>
                  <a:schemeClr val="accent1"/>
                </a:solidFill>
              </a:rPr>
              <a:t>    public int x = 0;</a:t>
            </a:r>
          </a:p>
          <a:p>
            <a:pPr marL="0" indent="0">
              <a:buNone/>
            </a:pPr>
            <a:r>
              <a:rPr lang="en-US" sz="2000" dirty="0">
                <a:solidFill>
                  <a:schemeClr val="accent1"/>
                </a:solidFill>
              </a:rPr>
              <a:t>    public int y = 0;        </a:t>
            </a:r>
          </a:p>
          <a:p>
            <a:pPr marL="0" indent="0">
              <a:buNone/>
            </a:pPr>
            <a:r>
              <a:rPr lang="en-US" sz="2000" dirty="0">
                <a:solidFill>
                  <a:schemeClr val="accent1"/>
                </a:solidFill>
              </a:rPr>
              <a:t>    //constructor</a:t>
            </a:r>
          </a:p>
          <a:p>
            <a:pPr marL="0" indent="0">
              <a:buNone/>
            </a:pPr>
            <a:r>
              <a:rPr lang="en-US" sz="2000" dirty="0">
                <a:solidFill>
                  <a:schemeClr val="accent1"/>
                </a:solidFill>
              </a:rPr>
              <a:t>    public Point(int x, int y) {</a:t>
            </a:r>
          </a:p>
          <a:p>
            <a:pPr marL="0" indent="0">
              <a:buNone/>
            </a:pPr>
            <a:r>
              <a:rPr lang="en-US" sz="2000" dirty="0">
                <a:solidFill>
                  <a:schemeClr val="accent1"/>
                </a:solidFill>
              </a:rPr>
              <a:t>        </a:t>
            </a:r>
            <a:r>
              <a:rPr lang="en-US" sz="2000" dirty="0" err="1">
                <a:solidFill>
                  <a:schemeClr val="accent1"/>
                </a:solidFill>
              </a:rPr>
              <a:t>this.x</a:t>
            </a:r>
            <a:r>
              <a:rPr lang="en-US" sz="2000" dirty="0">
                <a:solidFill>
                  <a:schemeClr val="accent1"/>
                </a:solidFill>
              </a:rPr>
              <a:t> = x;</a:t>
            </a:r>
          </a:p>
          <a:p>
            <a:pPr marL="0" indent="0">
              <a:buNone/>
            </a:pPr>
            <a:r>
              <a:rPr lang="en-US" sz="2000" dirty="0">
                <a:solidFill>
                  <a:schemeClr val="accent1"/>
                </a:solidFill>
              </a:rPr>
              <a:t>        </a:t>
            </a:r>
            <a:r>
              <a:rPr lang="en-US" sz="2000" dirty="0" err="1">
                <a:solidFill>
                  <a:schemeClr val="accent1"/>
                </a:solidFill>
              </a:rPr>
              <a:t>this.y</a:t>
            </a:r>
            <a:r>
              <a:rPr lang="en-US" sz="2000" dirty="0">
                <a:solidFill>
                  <a:schemeClr val="accent1"/>
                </a:solidFill>
              </a:rPr>
              <a:t> = y;</a:t>
            </a:r>
          </a:p>
          <a:p>
            <a:pPr marL="0" indent="0">
              <a:buNone/>
            </a:pPr>
            <a:r>
              <a:rPr lang="en-US" sz="2000" dirty="0">
                <a:solidFill>
                  <a:schemeClr val="accent1"/>
                </a:solidFill>
              </a:rPr>
              <a:t>    }  }</a:t>
            </a:r>
          </a:p>
          <a:p>
            <a:r>
              <a:rPr lang="en-US" sz="2000" dirty="0"/>
              <a:t>Each argument to the constructor shadows one of the object's fields — inside the constructor x is a local copy of the constructor's first argument. To refer to the Point field x, the constructor must use </a:t>
            </a:r>
            <a:r>
              <a:rPr lang="en-US" sz="2000" dirty="0" err="1"/>
              <a:t>this.x</a:t>
            </a:r>
            <a:r>
              <a:rPr lang="en-US" sz="2000" dirty="0"/>
              <a:t>.</a:t>
            </a:r>
          </a:p>
        </p:txBody>
      </p:sp>
    </p:spTree>
    <p:extLst>
      <p:ext uri="{BB962C8B-B14F-4D97-AF65-F5344CB8AC3E}">
        <p14:creationId xmlns:p14="http://schemas.microsoft.com/office/powerpoint/2010/main" val="50304670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4715" y="1"/>
            <a:ext cx="10515600" cy="595086"/>
          </a:xfrm>
        </p:spPr>
        <p:txBody>
          <a:bodyPr>
            <a:normAutofit fontScale="90000"/>
          </a:bodyPr>
          <a:lstStyle/>
          <a:p>
            <a:r>
              <a:rPr lang="en-US" dirty="0"/>
              <a:t>Using this with a Constructor</a:t>
            </a:r>
          </a:p>
        </p:txBody>
      </p:sp>
      <p:sp>
        <p:nvSpPr>
          <p:cNvPr id="3" name="Content Placeholder 2"/>
          <p:cNvSpPr>
            <a:spLocks noGrp="1"/>
          </p:cNvSpPr>
          <p:nvPr>
            <p:ph idx="1"/>
          </p:nvPr>
        </p:nvSpPr>
        <p:spPr>
          <a:xfrm>
            <a:off x="344715" y="2090059"/>
            <a:ext cx="6288315" cy="4122056"/>
          </a:xfrm>
        </p:spPr>
        <p:txBody>
          <a:bodyPr>
            <a:noAutofit/>
          </a:bodyPr>
          <a:lstStyle/>
          <a:p>
            <a:r>
              <a:rPr lang="en-US" sz="1800" dirty="0"/>
              <a:t>use the this keyword to call another constructor in the same class. Doing so is called an explicit constructor invocation.</a:t>
            </a:r>
          </a:p>
          <a:p>
            <a:pPr marL="0" indent="0">
              <a:buNone/>
            </a:pPr>
            <a:r>
              <a:rPr lang="en-US" sz="1800" dirty="0"/>
              <a:t> </a:t>
            </a:r>
            <a:r>
              <a:rPr lang="en-US" sz="1800" dirty="0">
                <a:solidFill>
                  <a:schemeClr val="accent1"/>
                </a:solidFill>
              </a:rPr>
              <a:t>public class Rectangle {</a:t>
            </a:r>
          </a:p>
          <a:p>
            <a:pPr marL="0" indent="0">
              <a:buNone/>
            </a:pPr>
            <a:r>
              <a:rPr lang="en-US" sz="1800" dirty="0">
                <a:solidFill>
                  <a:schemeClr val="accent1"/>
                </a:solidFill>
              </a:rPr>
              <a:t>    private int x, y;</a:t>
            </a:r>
          </a:p>
          <a:p>
            <a:pPr marL="0" indent="0">
              <a:buNone/>
            </a:pPr>
            <a:r>
              <a:rPr lang="en-US" sz="1800" dirty="0">
                <a:solidFill>
                  <a:schemeClr val="accent1"/>
                </a:solidFill>
              </a:rPr>
              <a:t>    private int width, height;</a:t>
            </a:r>
          </a:p>
          <a:p>
            <a:pPr marL="0" indent="0">
              <a:buNone/>
            </a:pPr>
            <a:r>
              <a:rPr lang="en-US" sz="1800" dirty="0">
                <a:solidFill>
                  <a:schemeClr val="accent1"/>
                </a:solidFill>
              </a:rPr>
              <a:t>      public Rectangle() {</a:t>
            </a:r>
          </a:p>
          <a:p>
            <a:pPr marL="0" indent="0">
              <a:buNone/>
            </a:pPr>
            <a:r>
              <a:rPr lang="en-US" sz="1800" dirty="0">
                <a:solidFill>
                  <a:schemeClr val="accent1"/>
                </a:solidFill>
              </a:rPr>
              <a:t>        this(0, 0, 1, 1);</a:t>
            </a:r>
          </a:p>
          <a:p>
            <a:pPr marL="0" indent="0">
              <a:buNone/>
            </a:pPr>
            <a:r>
              <a:rPr lang="en-US" sz="1800" dirty="0">
                <a:solidFill>
                  <a:schemeClr val="accent1"/>
                </a:solidFill>
              </a:rPr>
              <a:t>    }</a:t>
            </a:r>
          </a:p>
          <a:p>
            <a:pPr marL="0" indent="0">
              <a:buNone/>
            </a:pPr>
            <a:r>
              <a:rPr lang="en-US" sz="1800" dirty="0">
                <a:solidFill>
                  <a:schemeClr val="accent1"/>
                </a:solidFill>
              </a:rPr>
              <a:t>    public Rectangle(int width, int height) {</a:t>
            </a:r>
          </a:p>
          <a:p>
            <a:pPr marL="0" indent="0">
              <a:buNone/>
            </a:pPr>
            <a:r>
              <a:rPr lang="en-US" sz="1800" dirty="0">
                <a:solidFill>
                  <a:schemeClr val="accent1"/>
                </a:solidFill>
              </a:rPr>
              <a:t>        this(0, 0, width, height);</a:t>
            </a:r>
          </a:p>
          <a:p>
            <a:pPr marL="0" indent="0">
              <a:buNone/>
            </a:pPr>
            <a:r>
              <a:rPr lang="en-US" sz="1800" dirty="0">
                <a:solidFill>
                  <a:schemeClr val="accent1"/>
                </a:solidFill>
              </a:rPr>
              <a:t>    }</a:t>
            </a:r>
          </a:p>
        </p:txBody>
      </p:sp>
      <p:sp>
        <p:nvSpPr>
          <p:cNvPr id="6" name="Rectangle 5"/>
          <p:cNvSpPr/>
          <p:nvPr/>
        </p:nvSpPr>
        <p:spPr>
          <a:xfrm>
            <a:off x="6821714" y="2351316"/>
            <a:ext cx="6096000" cy="3139321"/>
          </a:xfrm>
          <a:prstGeom prst="rect">
            <a:avLst/>
          </a:prstGeom>
        </p:spPr>
        <p:txBody>
          <a:bodyPr>
            <a:spAutoFit/>
          </a:bodyPr>
          <a:lstStyle/>
          <a:p>
            <a:r>
              <a:rPr lang="en-US" dirty="0">
                <a:solidFill>
                  <a:schemeClr val="accent1"/>
                </a:solidFill>
              </a:rPr>
              <a:t> public Rectangle(int x, int y, int width, int height) {</a:t>
            </a:r>
          </a:p>
          <a:p>
            <a:r>
              <a:rPr lang="en-US" dirty="0">
                <a:solidFill>
                  <a:schemeClr val="accent1"/>
                </a:solidFill>
              </a:rPr>
              <a:t>        </a:t>
            </a:r>
            <a:r>
              <a:rPr lang="en-US" dirty="0" err="1">
                <a:solidFill>
                  <a:schemeClr val="accent1"/>
                </a:solidFill>
              </a:rPr>
              <a:t>this.x</a:t>
            </a:r>
            <a:r>
              <a:rPr lang="en-US" dirty="0">
                <a:solidFill>
                  <a:schemeClr val="accent1"/>
                </a:solidFill>
              </a:rPr>
              <a:t> = x;</a:t>
            </a:r>
          </a:p>
          <a:p>
            <a:r>
              <a:rPr lang="en-US" dirty="0">
                <a:solidFill>
                  <a:schemeClr val="accent1"/>
                </a:solidFill>
              </a:rPr>
              <a:t>        </a:t>
            </a:r>
            <a:r>
              <a:rPr lang="en-US" dirty="0" err="1">
                <a:solidFill>
                  <a:schemeClr val="accent1"/>
                </a:solidFill>
              </a:rPr>
              <a:t>this.y</a:t>
            </a:r>
            <a:r>
              <a:rPr lang="en-US" dirty="0">
                <a:solidFill>
                  <a:schemeClr val="accent1"/>
                </a:solidFill>
              </a:rPr>
              <a:t> = y;</a:t>
            </a:r>
          </a:p>
          <a:p>
            <a:r>
              <a:rPr lang="en-US" dirty="0">
                <a:solidFill>
                  <a:schemeClr val="accent1"/>
                </a:solidFill>
              </a:rPr>
              <a:t>        </a:t>
            </a:r>
            <a:r>
              <a:rPr lang="en-US" dirty="0" err="1">
                <a:solidFill>
                  <a:schemeClr val="accent1"/>
                </a:solidFill>
              </a:rPr>
              <a:t>this.width</a:t>
            </a:r>
            <a:r>
              <a:rPr lang="en-US" dirty="0">
                <a:solidFill>
                  <a:schemeClr val="accent1"/>
                </a:solidFill>
              </a:rPr>
              <a:t> = width;</a:t>
            </a:r>
          </a:p>
          <a:p>
            <a:r>
              <a:rPr lang="en-US" dirty="0">
                <a:solidFill>
                  <a:schemeClr val="accent1"/>
                </a:solidFill>
              </a:rPr>
              <a:t>        </a:t>
            </a:r>
            <a:r>
              <a:rPr lang="en-US" dirty="0" err="1">
                <a:solidFill>
                  <a:schemeClr val="accent1"/>
                </a:solidFill>
              </a:rPr>
              <a:t>this.height</a:t>
            </a:r>
            <a:r>
              <a:rPr lang="en-US" dirty="0">
                <a:solidFill>
                  <a:schemeClr val="accent1"/>
                </a:solidFill>
              </a:rPr>
              <a:t> = height;</a:t>
            </a:r>
          </a:p>
          <a:p>
            <a:r>
              <a:rPr lang="en-US" dirty="0">
                <a:solidFill>
                  <a:schemeClr val="accent1"/>
                </a:solidFill>
              </a:rPr>
              <a:t>    }  </a:t>
            </a:r>
          </a:p>
          <a:p>
            <a:endParaRPr lang="en-US" dirty="0">
              <a:solidFill>
                <a:schemeClr val="accent1"/>
              </a:solidFill>
            </a:endParaRPr>
          </a:p>
          <a:p>
            <a:r>
              <a:rPr lang="en-US" dirty="0">
                <a:solidFill>
                  <a:schemeClr val="accent1"/>
                </a:solidFill>
              </a:rPr>
              <a:t>      ... </a:t>
            </a:r>
          </a:p>
          <a:p>
            <a:endParaRPr lang="en-US" dirty="0">
              <a:solidFill>
                <a:schemeClr val="accent1"/>
              </a:solidFill>
            </a:endParaRPr>
          </a:p>
          <a:p>
            <a:endParaRPr lang="en-US" dirty="0">
              <a:solidFill>
                <a:schemeClr val="accent1"/>
              </a:solidFill>
            </a:endParaRPr>
          </a:p>
          <a:p>
            <a:r>
              <a:rPr lang="en-US" dirty="0">
                <a:solidFill>
                  <a:schemeClr val="accent1"/>
                </a:solidFill>
              </a:rPr>
              <a:t> }</a:t>
            </a:r>
          </a:p>
        </p:txBody>
      </p:sp>
    </p:spTree>
    <p:extLst>
      <p:ext uri="{BB962C8B-B14F-4D97-AF65-F5344CB8AC3E}">
        <p14:creationId xmlns:p14="http://schemas.microsoft.com/office/powerpoint/2010/main" val="25378574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US" dirty="0"/>
              <a:t>Wrapper classes</a:t>
            </a:r>
          </a:p>
        </p:txBody>
      </p:sp>
      <p:sp>
        <p:nvSpPr>
          <p:cNvPr id="3" name="Content Placeholder 2"/>
          <p:cNvSpPr>
            <a:spLocks noGrp="1"/>
          </p:cNvSpPr>
          <p:nvPr>
            <p:ph idx="1"/>
          </p:nvPr>
        </p:nvSpPr>
        <p:spPr/>
        <p:txBody>
          <a:bodyPr>
            <a:normAutofit/>
          </a:bodyPr>
          <a:lstStyle/>
          <a:p>
            <a:pPr algn="just"/>
            <a:r>
              <a:rPr lang="en-US" sz="2000" dirty="0"/>
              <a:t>A Wrapper class is a class whose object wraps or contains primitive data types. When we create an object to a wrapper class, it contains a field and in this field, we can store primitive data types. In other words, we can wrap a primitive value into a wrapper class object.</a:t>
            </a:r>
          </a:p>
          <a:p>
            <a:pPr algn="just" fontAlgn="base"/>
            <a:r>
              <a:rPr lang="en-US" sz="2000" dirty="0"/>
              <a:t>They convert primitive data types into objects. Objects are needed if we wish to modify the arguments passed into a method (because primitive types are passed by value).</a:t>
            </a:r>
          </a:p>
          <a:p>
            <a:pPr algn="just" fontAlgn="base"/>
            <a:r>
              <a:rPr lang="en-US" sz="2000" dirty="0"/>
              <a:t>The classes in </a:t>
            </a:r>
            <a:r>
              <a:rPr lang="en-US" sz="2000" dirty="0" err="1"/>
              <a:t>java.util</a:t>
            </a:r>
            <a:r>
              <a:rPr lang="en-US" sz="2000" dirty="0"/>
              <a:t> package handles only objects and hence wrapper classes help in this case also.</a:t>
            </a:r>
          </a:p>
          <a:p>
            <a:pPr algn="just" fontAlgn="base"/>
            <a:r>
              <a:rPr lang="en-US" sz="2000" dirty="0"/>
              <a:t>Data structures in the Collection framework, such as ArrayList and Vector, store only objects (reference types) and not primitive types.</a:t>
            </a:r>
          </a:p>
          <a:p>
            <a:pPr algn="just" fontAlgn="base"/>
            <a:r>
              <a:rPr lang="en-US" sz="2000" dirty="0"/>
              <a:t>An object is needed to support synchronization in multithreading.</a:t>
            </a:r>
          </a:p>
          <a:p>
            <a:pPr marL="0" indent="0" algn="just">
              <a:buNone/>
            </a:pPr>
            <a:endParaRPr lang="en-US" sz="2000" dirty="0"/>
          </a:p>
        </p:txBody>
      </p:sp>
    </p:spTree>
    <p:extLst>
      <p:ext uri="{BB962C8B-B14F-4D97-AF65-F5344CB8AC3E}">
        <p14:creationId xmlns:p14="http://schemas.microsoft.com/office/powerpoint/2010/main" val="295905056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Primitive Data types and their Corresponding Wrapper class</a:t>
            </a:r>
            <a:endParaRPr lang="en-US" dirty="0"/>
          </a:p>
        </p:txBody>
      </p:sp>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838200" y="2075543"/>
            <a:ext cx="10236200" cy="4782457"/>
          </a:xfrm>
        </p:spPr>
      </p:pic>
    </p:spTree>
    <p:extLst>
      <p:ext uri="{BB962C8B-B14F-4D97-AF65-F5344CB8AC3E}">
        <p14:creationId xmlns:p14="http://schemas.microsoft.com/office/powerpoint/2010/main" val="361322653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7914" y="0"/>
            <a:ext cx="10515600" cy="754743"/>
          </a:xfrm>
        </p:spPr>
        <p:txBody>
          <a:bodyPr/>
          <a:lstStyle/>
          <a:p>
            <a:r>
              <a:rPr lang="en-US" b="1" dirty="0"/>
              <a:t>Autoboxing</a:t>
            </a:r>
            <a:endParaRPr lang="en-US" dirty="0"/>
          </a:p>
        </p:txBody>
      </p:sp>
      <p:sp>
        <p:nvSpPr>
          <p:cNvPr id="3" name="Content Placeholder 2"/>
          <p:cNvSpPr>
            <a:spLocks noGrp="1"/>
          </p:cNvSpPr>
          <p:nvPr>
            <p:ph idx="1"/>
          </p:nvPr>
        </p:nvSpPr>
        <p:spPr>
          <a:xfrm>
            <a:off x="838200" y="754742"/>
            <a:ext cx="11353800" cy="6103257"/>
          </a:xfrm>
        </p:spPr>
        <p:txBody>
          <a:bodyPr>
            <a:normAutofit fontScale="85000" lnSpcReduction="20000"/>
          </a:bodyPr>
          <a:lstStyle/>
          <a:p>
            <a:r>
              <a:rPr lang="en-US" dirty="0"/>
              <a:t>Automatic conversion of primitive types to the object of their corresponding wrapper classes is known as autoboxing. For example – conversion of int to Integer, long to Long, double to Double etc.</a:t>
            </a:r>
          </a:p>
          <a:p>
            <a:pPr marL="0" indent="0">
              <a:buNone/>
            </a:pPr>
            <a:r>
              <a:rPr lang="en-US" dirty="0"/>
              <a:t>// Java program to demonstrate Autoboxing</a:t>
            </a:r>
          </a:p>
          <a:p>
            <a:pPr marL="0" indent="0">
              <a:buNone/>
            </a:pPr>
            <a:r>
              <a:rPr lang="en-US" dirty="0">
                <a:solidFill>
                  <a:schemeClr val="accent1"/>
                </a:solidFill>
              </a:rPr>
              <a:t>import </a:t>
            </a:r>
            <a:r>
              <a:rPr lang="en-US" dirty="0" err="1">
                <a:solidFill>
                  <a:schemeClr val="accent1"/>
                </a:solidFill>
              </a:rPr>
              <a:t>java.util.ArrayList</a:t>
            </a:r>
            <a:r>
              <a:rPr lang="en-US" dirty="0">
                <a:solidFill>
                  <a:schemeClr val="accent1"/>
                </a:solidFill>
              </a:rPr>
              <a:t>;</a:t>
            </a:r>
          </a:p>
          <a:p>
            <a:pPr marL="0" indent="0">
              <a:buNone/>
            </a:pPr>
            <a:r>
              <a:rPr lang="en-US" dirty="0">
                <a:solidFill>
                  <a:schemeClr val="accent1"/>
                </a:solidFill>
              </a:rPr>
              <a:t>class Autoboxing</a:t>
            </a:r>
          </a:p>
          <a:p>
            <a:pPr marL="0" indent="0">
              <a:buNone/>
            </a:pPr>
            <a:r>
              <a:rPr lang="en-US" dirty="0">
                <a:solidFill>
                  <a:schemeClr val="accent1"/>
                </a:solidFill>
              </a:rPr>
              <a:t>{</a:t>
            </a:r>
          </a:p>
          <a:p>
            <a:pPr marL="0" indent="0">
              <a:buNone/>
            </a:pPr>
            <a:r>
              <a:rPr lang="en-US" dirty="0">
                <a:solidFill>
                  <a:schemeClr val="accent1"/>
                </a:solidFill>
              </a:rPr>
              <a:t>	public static void main(String[] args)</a:t>
            </a:r>
          </a:p>
          <a:p>
            <a:pPr marL="0" indent="0">
              <a:buNone/>
            </a:pPr>
            <a:r>
              <a:rPr lang="en-US" dirty="0">
                <a:solidFill>
                  <a:schemeClr val="accent1"/>
                </a:solidFill>
              </a:rPr>
              <a:t>	{</a:t>
            </a:r>
          </a:p>
          <a:p>
            <a:pPr marL="0" indent="0">
              <a:buNone/>
            </a:pPr>
            <a:r>
              <a:rPr lang="en-US" dirty="0">
                <a:solidFill>
                  <a:schemeClr val="accent1"/>
                </a:solidFill>
              </a:rPr>
              <a:t>	char </a:t>
            </a:r>
            <a:r>
              <a:rPr lang="en-US" dirty="0" err="1">
                <a:solidFill>
                  <a:schemeClr val="accent1"/>
                </a:solidFill>
              </a:rPr>
              <a:t>ch</a:t>
            </a:r>
            <a:r>
              <a:rPr lang="en-US" dirty="0">
                <a:solidFill>
                  <a:schemeClr val="accent1"/>
                </a:solidFill>
              </a:rPr>
              <a:t> = 'a';       // </a:t>
            </a:r>
            <a:r>
              <a:rPr lang="en-US" dirty="0" err="1">
                <a:solidFill>
                  <a:schemeClr val="accent1"/>
                </a:solidFill>
              </a:rPr>
              <a:t>Autoboxing</a:t>
            </a:r>
            <a:r>
              <a:rPr lang="en-US" dirty="0">
                <a:solidFill>
                  <a:schemeClr val="accent1"/>
                </a:solidFill>
              </a:rPr>
              <a:t>- primitive to Character object conversion</a:t>
            </a:r>
          </a:p>
          <a:p>
            <a:pPr marL="0" indent="0">
              <a:buNone/>
            </a:pPr>
            <a:r>
              <a:rPr lang="en-US" dirty="0">
                <a:solidFill>
                  <a:schemeClr val="accent1"/>
                </a:solidFill>
              </a:rPr>
              <a:t>	Character a = </a:t>
            </a:r>
            <a:r>
              <a:rPr lang="en-US" dirty="0" err="1">
                <a:solidFill>
                  <a:schemeClr val="accent1"/>
                </a:solidFill>
              </a:rPr>
              <a:t>ch</a:t>
            </a:r>
            <a:r>
              <a:rPr lang="en-US" dirty="0">
                <a:solidFill>
                  <a:schemeClr val="accent1"/>
                </a:solidFill>
              </a:rPr>
              <a:t>;</a:t>
            </a:r>
          </a:p>
          <a:p>
            <a:pPr marL="0" indent="0">
              <a:buNone/>
            </a:pPr>
            <a:r>
              <a:rPr lang="en-US" dirty="0">
                <a:solidFill>
                  <a:schemeClr val="accent1"/>
                </a:solidFill>
              </a:rPr>
              <a:t>	ArrayList&lt;Integer&gt; </a:t>
            </a:r>
            <a:r>
              <a:rPr lang="en-US" dirty="0" err="1">
                <a:solidFill>
                  <a:schemeClr val="accent1"/>
                </a:solidFill>
              </a:rPr>
              <a:t>arrayList</a:t>
            </a:r>
            <a:r>
              <a:rPr lang="en-US" dirty="0">
                <a:solidFill>
                  <a:schemeClr val="accent1"/>
                </a:solidFill>
              </a:rPr>
              <a:t> = new ArrayList&lt;Integer&gt;(); </a:t>
            </a:r>
          </a:p>
          <a:p>
            <a:pPr marL="0" indent="0">
              <a:buNone/>
            </a:pPr>
            <a:r>
              <a:rPr lang="en-US" dirty="0">
                <a:solidFill>
                  <a:schemeClr val="accent1"/>
                </a:solidFill>
              </a:rPr>
              <a:t>                                                // Autoboxing because ArrayList stores only objects</a:t>
            </a:r>
          </a:p>
          <a:p>
            <a:pPr marL="0" indent="0">
              <a:buNone/>
            </a:pPr>
            <a:endParaRPr lang="en-US" dirty="0">
              <a:solidFill>
                <a:schemeClr val="accent1"/>
              </a:solidFill>
            </a:endParaRPr>
          </a:p>
          <a:p>
            <a:pPr marL="0" indent="0">
              <a:buNone/>
            </a:pPr>
            <a:r>
              <a:rPr lang="en-US" dirty="0">
                <a:solidFill>
                  <a:schemeClr val="accent1"/>
                </a:solidFill>
              </a:rPr>
              <a:t>	</a:t>
            </a:r>
            <a:r>
              <a:rPr lang="en-US" dirty="0" err="1">
                <a:solidFill>
                  <a:schemeClr val="accent1"/>
                </a:solidFill>
              </a:rPr>
              <a:t>arrayList.add</a:t>
            </a:r>
            <a:r>
              <a:rPr lang="en-US" dirty="0">
                <a:solidFill>
                  <a:schemeClr val="accent1"/>
                </a:solidFill>
              </a:rPr>
              <a:t>(25);            // printing the values from object</a:t>
            </a:r>
          </a:p>
          <a:p>
            <a:pPr marL="0" indent="0">
              <a:buNone/>
            </a:pPr>
            <a:r>
              <a:rPr lang="en-US" dirty="0">
                <a:solidFill>
                  <a:schemeClr val="accent1"/>
                </a:solidFill>
              </a:rPr>
              <a:t>	System.out.println(</a:t>
            </a:r>
            <a:r>
              <a:rPr lang="en-US" dirty="0" err="1">
                <a:solidFill>
                  <a:schemeClr val="accent1"/>
                </a:solidFill>
              </a:rPr>
              <a:t>arrayList.get</a:t>
            </a:r>
            <a:r>
              <a:rPr lang="en-US" dirty="0">
                <a:solidFill>
                  <a:schemeClr val="accent1"/>
                </a:solidFill>
              </a:rPr>
              <a:t>(0));</a:t>
            </a:r>
          </a:p>
          <a:p>
            <a:pPr marL="0" indent="0">
              <a:buNone/>
            </a:pPr>
            <a:r>
              <a:rPr lang="en-US" dirty="0">
                <a:solidFill>
                  <a:schemeClr val="accent1"/>
                </a:solidFill>
              </a:rPr>
              <a:t>	}</a:t>
            </a:r>
          </a:p>
          <a:p>
            <a:pPr marL="0" indent="0">
              <a:buNone/>
            </a:pPr>
            <a:r>
              <a:rPr lang="en-US" dirty="0">
                <a:solidFill>
                  <a:schemeClr val="accent1"/>
                </a:solidFill>
              </a:rPr>
              <a:t>}</a:t>
            </a:r>
          </a:p>
          <a:p>
            <a:pPr marL="0" indent="0">
              <a:buNone/>
            </a:pPr>
            <a:endParaRPr lang="en-US" dirty="0"/>
          </a:p>
        </p:txBody>
      </p:sp>
    </p:spTree>
    <p:extLst>
      <p:ext uri="{BB962C8B-B14F-4D97-AF65-F5344CB8AC3E}">
        <p14:creationId xmlns:p14="http://schemas.microsoft.com/office/powerpoint/2010/main" val="252363059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883104"/>
          </a:xfrm>
        </p:spPr>
        <p:txBody>
          <a:bodyPr/>
          <a:lstStyle/>
          <a:p>
            <a:r>
              <a:rPr lang="en-US" b="1" dirty="0"/>
              <a:t>Unboxing</a:t>
            </a:r>
            <a:endParaRPr lang="en-US" dirty="0"/>
          </a:p>
        </p:txBody>
      </p:sp>
      <p:sp>
        <p:nvSpPr>
          <p:cNvPr id="3" name="Content Placeholder 2"/>
          <p:cNvSpPr>
            <a:spLocks noGrp="1"/>
          </p:cNvSpPr>
          <p:nvPr>
            <p:ph idx="1"/>
          </p:nvPr>
        </p:nvSpPr>
        <p:spPr>
          <a:xfrm>
            <a:off x="838200" y="1494972"/>
            <a:ext cx="10515600" cy="5138056"/>
          </a:xfrm>
        </p:spPr>
        <p:txBody>
          <a:bodyPr>
            <a:noAutofit/>
          </a:bodyPr>
          <a:lstStyle/>
          <a:p>
            <a:pPr algn="just"/>
            <a:r>
              <a:rPr lang="en-US" sz="1800" dirty="0"/>
              <a:t>It is just the reverse process of autoboxing. Automatically converting an object of a wrapper class to its corresponding primitive type is known as unboxing. For example – conversion of Integer to int, Long to long, Double to double, etc.</a:t>
            </a:r>
          </a:p>
          <a:p>
            <a:pPr marL="0" indent="0">
              <a:buNone/>
            </a:pPr>
            <a:r>
              <a:rPr lang="en-US" sz="1800" dirty="0">
                <a:solidFill>
                  <a:schemeClr val="accent1"/>
                </a:solidFill>
              </a:rPr>
              <a:t>// Java program to demonstrate Unboxing</a:t>
            </a:r>
          </a:p>
          <a:p>
            <a:pPr marL="0" indent="0">
              <a:buNone/>
            </a:pPr>
            <a:r>
              <a:rPr lang="en-US" sz="1800" dirty="0">
                <a:solidFill>
                  <a:schemeClr val="accent1"/>
                </a:solidFill>
              </a:rPr>
              <a:t>import </a:t>
            </a:r>
            <a:r>
              <a:rPr lang="en-US" sz="1800" dirty="0" err="1">
                <a:solidFill>
                  <a:schemeClr val="accent1"/>
                </a:solidFill>
              </a:rPr>
              <a:t>java.util.ArrayList</a:t>
            </a:r>
            <a:r>
              <a:rPr lang="en-US" sz="1800" dirty="0">
                <a:solidFill>
                  <a:schemeClr val="accent1"/>
                </a:solidFill>
              </a:rPr>
              <a:t>;</a:t>
            </a:r>
          </a:p>
          <a:p>
            <a:pPr marL="0" indent="0">
              <a:buNone/>
            </a:pPr>
            <a:r>
              <a:rPr lang="en-US" sz="1800" dirty="0">
                <a:solidFill>
                  <a:schemeClr val="accent1"/>
                </a:solidFill>
              </a:rPr>
              <a:t>class Unboxing{</a:t>
            </a:r>
          </a:p>
          <a:p>
            <a:pPr marL="0" indent="0">
              <a:buNone/>
            </a:pPr>
            <a:r>
              <a:rPr lang="en-US" sz="1800" dirty="0">
                <a:solidFill>
                  <a:schemeClr val="accent1"/>
                </a:solidFill>
              </a:rPr>
              <a:t>	public static void main(String[] args){</a:t>
            </a:r>
          </a:p>
          <a:p>
            <a:pPr marL="0" indent="0">
              <a:buNone/>
            </a:pPr>
            <a:r>
              <a:rPr lang="en-US" sz="1800" dirty="0">
                <a:solidFill>
                  <a:schemeClr val="accent1"/>
                </a:solidFill>
              </a:rPr>
              <a:t>		Character </a:t>
            </a:r>
            <a:r>
              <a:rPr lang="en-US" sz="1800" dirty="0" err="1">
                <a:solidFill>
                  <a:schemeClr val="accent1"/>
                </a:solidFill>
              </a:rPr>
              <a:t>ch</a:t>
            </a:r>
            <a:r>
              <a:rPr lang="en-US" sz="1800" dirty="0">
                <a:solidFill>
                  <a:schemeClr val="accent1"/>
                </a:solidFill>
              </a:rPr>
              <a:t> = 'a';	// unboxing - Character object to primitive conversion</a:t>
            </a:r>
          </a:p>
          <a:p>
            <a:pPr marL="0" indent="0">
              <a:buNone/>
            </a:pPr>
            <a:r>
              <a:rPr lang="en-US" sz="1800" dirty="0">
                <a:solidFill>
                  <a:schemeClr val="accent1"/>
                </a:solidFill>
              </a:rPr>
              <a:t>		char a = </a:t>
            </a:r>
            <a:r>
              <a:rPr lang="en-US" sz="1800" dirty="0" err="1">
                <a:solidFill>
                  <a:schemeClr val="accent1"/>
                </a:solidFill>
              </a:rPr>
              <a:t>ch</a:t>
            </a:r>
            <a:r>
              <a:rPr lang="en-US" sz="1800" dirty="0">
                <a:solidFill>
                  <a:schemeClr val="accent1"/>
                </a:solidFill>
              </a:rPr>
              <a:t>;</a:t>
            </a:r>
          </a:p>
          <a:p>
            <a:pPr marL="0" indent="0">
              <a:buNone/>
            </a:pPr>
            <a:r>
              <a:rPr lang="en-US" sz="1800" dirty="0">
                <a:solidFill>
                  <a:schemeClr val="accent1"/>
                </a:solidFill>
              </a:rPr>
              <a:t>		ArrayList&lt;Integer&gt; </a:t>
            </a:r>
            <a:r>
              <a:rPr lang="en-US" sz="1800" dirty="0" err="1">
                <a:solidFill>
                  <a:schemeClr val="accent1"/>
                </a:solidFill>
              </a:rPr>
              <a:t>arrayList</a:t>
            </a:r>
            <a:r>
              <a:rPr lang="en-US" sz="1800" dirty="0">
                <a:solidFill>
                  <a:schemeClr val="accent1"/>
                </a:solidFill>
              </a:rPr>
              <a:t> = new ArrayList&lt;Integer&gt;();</a:t>
            </a:r>
          </a:p>
          <a:p>
            <a:pPr marL="0" indent="0">
              <a:buNone/>
            </a:pPr>
            <a:r>
              <a:rPr lang="en-US" sz="1800" dirty="0">
                <a:solidFill>
                  <a:schemeClr val="accent1"/>
                </a:solidFill>
              </a:rPr>
              <a:t>		</a:t>
            </a:r>
            <a:r>
              <a:rPr lang="en-US" sz="1800" dirty="0" err="1">
                <a:solidFill>
                  <a:schemeClr val="accent1"/>
                </a:solidFill>
              </a:rPr>
              <a:t>arrayList.add</a:t>
            </a:r>
            <a:r>
              <a:rPr lang="en-US" sz="1800" dirty="0">
                <a:solidFill>
                  <a:schemeClr val="accent1"/>
                </a:solidFill>
              </a:rPr>
              <a:t>(24);	// unboxing because get method returns an Integer object</a:t>
            </a:r>
          </a:p>
          <a:p>
            <a:pPr marL="0" indent="0">
              <a:buNone/>
            </a:pPr>
            <a:r>
              <a:rPr lang="en-US" sz="1800" dirty="0">
                <a:solidFill>
                  <a:schemeClr val="accent1"/>
                </a:solidFill>
              </a:rPr>
              <a:t>		int </a:t>
            </a:r>
            <a:r>
              <a:rPr lang="en-US" sz="1800" dirty="0" err="1">
                <a:solidFill>
                  <a:schemeClr val="accent1"/>
                </a:solidFill>
              </a:rPr>
              <a:t>num</a:t>
            </a:r>
            <a:r>
              <a:rPr lang="en-US" sz="1800" dirty="0">
                <a:solidFill>
                  <a:schemeClr val="accent1"/>
                </a:solidFill>
              </a:rPr>
              <a:t> = </a:t>
            </a:r>
            <a:r>
              <a:rPr lang="en-US" sz="1800" dirty="0" err="1">
                <a:solidFill>
                  <a:schemeClr val="accent1"/>
                </a:solidFill>
              </a:rPr>
              <a:t>arrayList.get</a:t>
            </a:r>
            <a:r>
              <a:rPr lang="en-US" sz="1800" dirty="0">
                <a:solidFill>
                  <a:schemeClr val="accent1"/>
                </a:solidFill>
              </a:rPr>
              <a:t>(0);	// printing the values from primitive data types</a:t>
            </a:r>
          </a:p>
          <a:p>
            <a:pPr marL="0" indent="0">
              <a:buNone/>
            </a:pPr>
            <a:r>
              <a:rPr lang="en-US" sz="1800" dirty="0">
                <a:solidFill>
                  <a:schemeClr val="accent1"/>
                </a:solidFill>
              </a:rPr>
              <a:t>		System.out.println(</a:t>
            </a:r>
            <a:r>
              <a:rPr lang="en-US" sz="1800" dirty="0" err="1">
                <a:solidFill>
                  <a:schemeClr val="accent1"/>
                </a:solidFill>
              </a:rPr>
              <a:t>num</a:t>
            </a:r>
            <a:r>
              <a:rPr lang="en-US" sz="1800" dirty="0">
                <a:solidFill>
                  <a:schemeClr val="accent1"/>
                </a:solidFill>
              </a:rPr>
              <a:t>);</a:t>
            </a:r>
          </a:p>
          <a:p>
            <a:pPr marL="0" indent="0">
              <a:buNone/>
            </a:pPr>
            <a:r>
              <a:rPr lang="en-US" sz="1800" dirty="0">
                <a:solidFill>
                  <a:schemeClr val="accent1"/>
                </a:solidFill>
              </a:rPr>
              <a:t>	}</a:t>
            </a:r>
          </a:p>
          <a:p>
            <a:pPr marL="0" indent="0">
              <a:buNone/>
            </a:pPr>
            <a:r>
              <a:rPr lang="en-US" sz="1800" dirty="0">
                <a:solidFill>
                  <a:schemeClr val="accent1"/>
                </a:solidFill>
              </a:rPr>
              <a:t>}</a:t>
            </a:r>
          </a:p>
        </p:txBody>
      </p:sp>
    </p:spTree>
    <p:extLst>
      <p:ext uri="{BB962C8B-B14F-4D97-AF65-F5344CB8AC3E}">
        <p14:creationId xmlns:p14="http://schemas.microsoft.com/office/powerpoint/2010/main" val="289054263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p:txBody>
          <a:bodyPr>
            <a:normAutofit/>
          </a:bodyPr>
          <a:lstStyle/>
          <a:p>
            <a:r>
              <a:rPr lang="en-US" dirty="0"/>
              <a:t>Objects as parameter</a:t>
            </a:r>
          </a:p>
        </p:txBody>
      </p:sp>
      <p:sp>
        <p:nvSpPr>
          <p:cNvPr id="3" name="Content Placeholder 2"/>
          <p:cNvSpPr>
            <a:spLocks noGrp="1"/>
          </p:cNvSpPr>
          <p:nvPr>
            <p:ph idx="1"/>
          </p:nvPr>
        </p:nvSpPr>
        <p:spPr/>
        <p:txBody>
          <a:bodyPr>
            <a:noAutofit/>
          </a:bodyPr>
          <a:lstStyle/>
          <a:p>
            <a:pPr algn="just"/>
            <a:r>
              <a:rPr lang="en-US" sz="2000" b="1" dirty="0"/>
              <a:t>Object as an argument</a:t>
            </a:r>
            <a:r>
              <a:rPr lang="en-US" sz="2000" dirty="0"/>
              <a:t> is use to establish communication between two or more objects of same class as well as different class, </a:t>
            </a:r>
            <a:r>
              <a:rPr lang="en-US" sz="2000" dirty="0" err="1"/>
              <a:t>i.e</a:t>
            </a:r>
            <a:r>
              <a:rPr lang="en-US" sz="2000" dirty="0"/>
              <a:t>, user can easily process data of two same or different objects within function.</a:t>
            </a:r>
          </a:p>
          <a:p>
            <a:pPr algn="just"/>
            <a:r>
              <a:rPr lang="en-US" sz="2000" dirty="0"/>
              <a:t>When a primitive type is passed to a method ,it is done by use of call-by-value . Objects are implicitly passed by use of call-by-reference.</a:t>
            </a:r>
          </a:p>
          <a:p>
            <a:pPr algn="just"/>
            <a:r>
              <a:rPr lang="en-US" sz="2000" dirty="0"/>
              <a:t>This means when we pass primitive data types to method it will pass only values to function parameters so any change made in parameter will not affect the value of actual parameters.</a:t>
            </a:r>
          </a:p>
          <a:p>
            <a:pPr algn="just"/>
            <a:r>
              <a:rPr lang="en-US" sz="2000" dirty="0"/>
              <a:t>Whereas Objects in java are reference variables, so for objects a value which is the reference to the object is passed. </a:t>
            </a:r>
          </a:p>
          <a:p>
            <a:pPr algn="just"/>
            <a:r>
              <a:rPr lang="en-US" sz="2000" dirty="0"/>
              <a:t>Hence the whole object is not passed but its referenced gets passed. All modification to the object in the method would modify the object in the Heap.</a:t>
            </a:r>
          </a:p>
          <a:p>
            <a:pPr marL="0" indent="0" algn="just">
              <a:buNone/>
            </a:pPr>
            <a:endParaRPr lang="en-US" sz="2000" dirty="0"/>
          </a:p>
        </p:txBody>
      </p:sp>
    </p:spTree>
    <p:extLst>
      <p:ext uri="{BB962C8B-B14F-4D97-AF65-F5344CB8AC3E}">
        <p14:creationId xmlns:p14="http://schemas.microsoft.com/office/powerpoint/2010/main" val="111611769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5660571" y="360686"/>
            <a:ext cx="2641600" cy="4247317"/>
          </a:xfrm>
          <a:prstGeom prst="rect">
            <a:avLst/>
          </a:prstGeom>
        </p:spPr>
        <p:txBody>
          <a:bodyPr wrap="square">
            <a:spAutoFit/>
          </a:bodyPr>
          <a:lstStyle/>
          <a:p>
            <a:r>
              <a:rPr lang="en-US" dirty="0">
                <a:solidFill>
                  <a:schemeClr val="accent1"/>
                </a:solidFill>
              </a:rPr>
              <a:t>class </a:t>
            </a:r>
            <a:r>
              <a:rPr lang="en-US" dirty="0" err="1">
                <a:solidFill>
                  <a:schemeClr val="accent1"/>
                </a:solidFill>
              </a:rPr>
              <a:t>Aa</a:t>
            </a:r>
            <a:endParaRPr lang="en-US" dirty="0">
              <a:solidFill>
                <a:schemeClr val="accent1"/>
              </a:solidFill>
            </a:endParaRPr>
          </a:p>
          <a:p>
            <a:r>
              <a:rPr lang="en-US" dirty="0">
                <a:solidFill>
                  <a:schemeClr val="accent1"/>
                </a:solidFill>
              </a:rPr>
              <a:t>{</a:t>
            </a:r>
          </a:p>
          <a:p>
            <a:r>
              <a:rPr lang="en-US" dirty="0">
                <a:solidFill>
                  <a:schemeClr val="accent1"/>
                </a:solidFill>
              </a:rPr>
              <a:t>    int x ;</a:t>
            </a:r>
          </a:p>
          <a:p>
            <a:r>
              <a:rPr lang="en-US" dirty="0">
                <a:solidFill>
                  <a:schemeClr val="accent1"/>
                </a:solidFill>
              </a:rPr>
              <a:t>    int y ;</a:t>
            </a:r>
          </a:p>
          <a:p>
            <a:endParaRPr lang="en-US" dirty="0">
              <a:solidFill>
                <a:schemeClr val="accent1"/>
              </a:solidFill>
            </a:endParaRPr>
          </a:p>
          <a:p>
            <a:r>
              <a:rPr lang="en-US" dirty="0">
                <a:solidFill>
                  <a:schemeClr val="accent1"/>
                </a:solidFill>
              </a:rPr>
              <a:t>    public </a:t>
            </a:r>
            <a:r>
              <a:rPr lang="en-US" dirty="0" err="1">
                <a:solidFill>
                  <a:schemeClr val="accent1"/>
                </a:solidFill>
              </a:rPr>
              <a:t>Aa</a:t>
            </a:r>
            <a:r>
              <a:rPr lang="en-US" dirty="0">
                <a:solidFill>
                  <a:schemeClr val="accent1"/>
                </a:solidFill>
              </a:rPr>
              <a:t>(int x, int y) {</a:t>
            </a:r>
          </a:p>
          <a:p>
            <a:r>
              <a:rPr lang="en-US" dirty="0">
                <a:solidFill>
                  <a:schemeClr val="accent1"/>
                </a:solidFill>
              </a:rPr>
              <a:t>        </a:t>
            </a:r>
            <a:r>
              <a:rPr lang="en-US" dirty="0" err="1">
                <a:solidFill>
                  <a:schemeClr val="accent1"/>
                </a:solidFill>
              </a:rPr>
              <a:t>this.x</a:t>
            </a:r>
            <a:r>
              <a:rPr lang="en-US" dirty="0">
                <a:solidFill>
                  <a:schemeClr val="accent1"/>
                </a:solidFill>
              </a:rPr>
              <a:t> = x;</a:t>
            </a:r>
          </a:p>
          <a:p>
            <a:r>
              <a:rPr lang="en-US" dirty="0">
                <a:solidFill>
                  <a:schemeClr val="accent1"/>
                </a:solidFill>
              </a:rPr>
              <a:t>        </a:t>
            </a:r>
            <a:r>
              <a:rPr lang="en-US" dirty="0" err="1">
                <a:solidFill>
                  <a:schemeClr val="accent1"/>
                </a:solidFill>
              </a:rPr>
              <a:t>this.y</a:t>
            </a:r>
            <a:r>
              <a:rPr lang="en-US" dirty="0">
                <a:solidFill>
                  <a:schemeClr val="accent1"/>
                </a:solidFill>
              </a:rPr>
              <a:t> = y;</a:t>
            </a:r>
          </a:p>
          <a:p>
            <a:r>
              <a:rPr lang="en-US" dirty="0">
                <a:solidFill>
                  <a:schemeClr val="accent1"/>
                </a:solidFill>
              </a:rPr>
              <a:t>    }</a:t>
            </a:r>
          </a:p>
          <a:p>
            <a:r>
              <a:rPr lang="en-US" dirty="0">
                <a:solidFill>
                  <a:schemeClr val="accent1"/>
                </a:solidFill>
              </a:rPr>
              <a:t>    @Override</a:t>
            </a:r>
          </a:p>
          <a:p>
            <a:r>
              <a:rPr lang="en-US" dirty="0">
                <a:solidFill>
                  <a:schemeClr val="accent1"/>
                </a:solidFill>
              </a:rPr>
              <a:t>    public String </a:t>
            </a:r>
            <a:r>
              <a:rPr lang="en-US" dirty="0" err="1">
                <a:solidFill>
                  <a:schemeClr val="accent1"/>
                </a:solidFill>
              </a:rPr>
              <a:t>toString</a:t>
            </a:r>
            <a:r>
              <a:rPr lang="en-US" dirty="0">
                <a:solidFill>
                  <a:schemeClr val="accent1"/>
                </a:solidFill>
              </a:rPr>
              <a:t>()</a:t>
            </a:r>
          </a:p>
          <a:p>
            <a:r>
              <a:rPr lang="en-US" dirty="0">
                <a:solidFill>
                  <a:schemeClr val="accent1"/>
                </a:solidFill>
              </a:rPr>
              <a:t>    {</a:t>
            </a:r>
          </a:p>
          <a:p>
            <a:r>
              <a:rPr lang="en-US" dirty="0">
                <a:solidFill>
                  <a:schemeClr val="accent1"/>
                </a:solidFill>
              </a:rPr>
              <a:t>     return x + "  " + y;   </a:t>
            </a:r>
          </a:p>
          <a:p>
            <a:r>
              <a:rPr lang="en-US" dirty="0">
                <a:solidFill>
                  <a:schemeClr val="accent1"/>
                </a:solidFill>
              </a:rPr>
              <a:t>    }</a:t>
            </a:r>
          </a:p>
          <a:p>
            <a:r>
              <a:rPr lang="en-US" dirty="0">
                <a:solidFill>
                  <a:schemeClr val="accent1"/>
                </a:solidFill>
              </a:rPr>
              <a:t>}</a:t>
            </a:r>
          </a:p>
        </p:txBody>
      </p:sp>
      <p:sp>
        <p:nvSpPr>
          <p:cNvPr id="5" name="Rectangle 4"/>
          <p:cNvSpPr/>
          <p:nvPr/>
        </p:nvSpPr>
        <p:spPr>
          <a:xfrm>
            <a:off x="696685" y="360686"/>
            <a:ext cx="6096000" cy="4801314"/>
          </a:xfrm>
          <a:prstGeom prst="rect">
            <a:avLst/>
          </a:prstGeom>
        </p:spPr>
        <p:txBody>
          <a:bodyPr>
            <a:spAutoFit/>
          </a:bodyPr>
          <a:lstStyle/>
          <a:p>
            <a:r>
              <a:rPr lang="en-US" dirty="0">
                <a:solidFill>
                  <a:schemeClr val="accent1"/>
                </a:solidFill>
              </a:rPr>
              <a:t>public class Test {</a:t>
            </a:r>
          </a:p>
          <a:p>
            <a:r>
              <a:rPr lang="en-US" dirty="0">
                <a:solidFill>
                  <a:schemeClr val="accent1"/>
                </a:solidFill>
              </a:rPr>
              <a:t>    </a:t>
            </a:r>
          </a:p>
          <a:p>
            <a:r>
              <a:rPr lang="en-US" dirty="0">
                <a:solidFill>
                  <a:schemeClr val="accent1"/>
                </a:solidFill>
              </a:rPr>
              <a:t>    public static void main(String[] args) {</a:t>
            </a:r>
          </a:p>
          <a:p>
            <a:r>
              <a:rPr lang="en-US" dirty="0">
                <a:solidFill>
                  <a:schemeClr val="accent1"/>
                </a:solidFill>
              </a:rPr>
              <a:t>        </a:t>
            </a:r>
            <a:r>
              <a:rPr lang="en-US" dirty="0" err="1">
                <a:solidFill>
                  <a:schemeClr val="accent1"/>
                </a:solidFill>
              </a:rPr>
              <a:t>Aa</a:t>
            </a:r>
            <a:r>
              <a:rPr lang="en-US" dirty="0">
                <a:solidFill>
                  <a:schemeClr val="accent1"/>
                </a:solidFill>
              </a:rPr>
              <a:t> a = new </a:t>
            </a:r>
            <a:r>
              <a:rPr lang="en-US" dirty="0" err="1">
                <a:solidFill>
                  <a:schemeClr val="accent1"/>
                </a:solidFill>
              </a:rPr>
              <a:t>Aa</a:t>
            </a:r>
            <a:r>
              <a:rPr lang="en-US" dirty="0">
                <a:solidFill>
                  <a:schemeClr val="accent1"/>
                </a:solidFill>
              </a:rPr>
              <a:t>(10,20);</a:t>
            </a:r>
          </a:p>
          <a:p>
            <a:r>
              <a:rPr lang="en-US" dirty="0">
                <a:solidFill>
                  <a:schemeClr val="accent1"/>
                </a:solidFill>
              </a:rPr>
              <a:t>        System.out.println(a);</a:t>
            </a:r>
          </a:p>
          <a:p>
            <a:r>
              <a:rPr lang="en-US" dirty="0">
                <a:solidFill>
                  <a:schemeClr val="accent1"/>
                </a:solidFill>
              </a:rPr>
              <a:t>        m(a);</a:t>
            </a:r>
          </a:p>
          <a:p>
            <a:r>
              <a:rPr lang="en-US" dirty="0">
                <a:solidFill>
                  <a:schemeClr val="accent1"/>
                </a:solidFill>
              </a:rPr>
              <a:t>        System.out.println(a);</a:t>
            </a:r>
          </a:p>
          <a:p>
            <a:r>
              <a:rPr lang="en-US" dirty="0">
                <a:solidFill>
                  <a:schemeClr val="accent1"/>
                </a:solidFill>
              </a:rPr>
              <a:t>        </a:t>
            </a:r>
          </a:p>
          <a:p>
            <a:r>
              <a:rPr lang="en-US" dirty="0">
                <a:solidFill>
                  <a:schemeClr val="accent1"/>
                </a:solidFill>
              </a:rPr>
              <a:t>        </a:t>
            </a:r>
          </a:p>
          <a:p>
            <a:r>
              <a:rPr lang="en-US" dirty="0">
                <a:solidFill>
                  <a:schemeClr val="accent1"/>
                </a:solidFill>
              </a:rPr>
              <a:t>    }</a:t>
            </a:r>
          </a:p>
          <a:p>
            <a:r>
              <a:rPr lang="en-US" dirty="0">
                <a:solidFill>
                  <a:schemeClr val="accent1"/>
                </a:solidFill>
              </a:rPr>
              <a:t>    public static void m(</a:t>
            </a:r>
            <a:r>
              <a:rPr lang="en-US" dirty="0" err="1">
                <a:solidFill>
                  <a:schemeClr val="accent1"/>
                </a:solidFill>
              </a:rPr>
              <a:t>Aa</a:t>
            </a:r>
            <a:r>
              <a:rPr lang="en-US" dirty="0">
                <a:solidFill>
                  <a:schemeClr val="accent1"/>
                </a:solidFill>
              </a:rPr>
              <a:t> a)</a:t>
            </a:r>
          </a:p>
          <a:p>
            <a:r>
              <a:rPr lang="en-US" dirty="0">
                <a:solidFill>
                  <a:schemeClr val="accent1"/>
                </a:solidFill>
              </a:rPr>
              <a:t>    {</a:t>
            </a:r>
          </a:p>
          <a:p>
            <a:r>
              <a:rPr lang="en-US" dirty="0">
                <a:solidFill>
                  <a:schemeClr val="accent1"/>
                </a:solidFill>
              </a:rPr>
              <a:t>      </a:t>
            </a:r>
            <a:r>
              <a:rPr lang="en-US" dirty="0" err="1">
                <a:solidFill>
                  <a:schemeClr val="accent1"/>
                </a:solidFill>
              </a:rPr>
              <a:t>a.x</a:t>
            </a:r>
            <a:r>
              <a:rPr lang="en-US" dirty="0">
                <a:solidFill>
                  <a:schemeClr val="accent1"/>
                </a:solidFill>
              </a:rPr>
              <a:t> = 40;</a:t>
            </a:r>
          </a:p>
          <a:p>
            <a:r>
              <a:rPr lang="en-US" dirty="0">
                <a:solidFill>
                  <a:schemeClr val="accent1"/>
                </a:solidFill>
              </a:rPr>
              <a:t>      </a:t>
            </a:r>
            <a:r>
              <a:rPr lang="en-US" dirty="0" err="1">
                <a:solidFill>
                  <a:schemeClr val="accent1"/>
                </a:solidFill>
              </a:rPr>
              <a:t>a.y</a:t>
            </a:r>
            <a:r>
              <a:rPr lang="en-US" dirty="0">
                <a:solidFill>
                  <a:schemeClr val="accent1"/>
                </a:solidFill>
              </a:rPr>
              <a:t>= 70;</a:t>
            </a:r>
          </a:p>
          <a:p>
            <a:r>
              <a:rPr lang="en-US" dirty="0">
                <a:solidFill>
                  <a:schemeClr val="accent1"/>
                </a:solidFill>
              </a:rPr>
              <a:t>    }</a:t>
            </a:r>
          </a:p>
          <a:p>
            <a:r>
              <a:rPr lang="en-US" dirty="0">
                <a:solidFill>
                  <a:schemeClr val="accent1"/>
                </a:solidFill>
              </a:rPr>
              <a:t>    </a:t>
            </a:r>
          </a:p>
          <a:p>
            <a:r>
              <a:rPr lang="en-US" dirty="0">
                <a:solidFill>
                  <a:schemeClr val="accent1"/>
                </a:solidFill>
              </a:rPr>
              <a:t>}</a:t>
            </a:r>
          </a:p>
        </p:txBody>
      </p:sp>
      <p:sp>
        <p:nvSpPr>
          <p:cNvPr id="6" name="Rectangle 5"/>
          <p:cNvSpPr/>
          <p:nvPr/>
        </p:nvSpPr>
        <p:spPr>
          <a:xfrm>
            <a:off x="10058398" y="5500692"/>
            <a:ext cx="1161143" cy="923330"/>
          </a:xfrm>
          <a:prstGeom prst="rect">
            <a:avLst/>
          </a:prstGeom>
        </p:spPr>
        <p:txBody>
          <a:bodyPr wrap="square">
            <a:spAutoFit/>
          </a:bodyPr>
          <a:lstStyle/>
          <a:p>
            <a:r>
              <a:rPr lang="en-US" dirty="0"/>
              <a:t>Output </a:t>
            </a:r>
          </a:p>
          <a:p>
            <a:r>
              <a:rPr lang="en-US" dirty="0"/>
              <a:t>10  20</a:t>
            </a:r>
          </a:p>
          <a:p>
            <a:r>
              <a:rPr lang="en-US" dirty="0"/>
              <a:t>40  70</a:t>
            </a:r>
          </a:p>
        </p:txBody>
      </p:sp>
      <p:sp>
        <p:nvSpPr>
          <p:cNvPr id="7" name="Rectangle 6"/>
          <p:cNvSpPr/>
          <p:nvPr/>
        </p:nvSpPr>
        <p:spPr>
          <a:xfrm>
            <a:off x="522513" y="5500692"/>
            <a:ext cx="9187543" cy="646331"/>
          </a:xfrm>
          <a:prstGeom prst="rect">
            <a:avLst/>
          </a:prstGeom>
        </p:spPr>
        <p:txBody>
          <a:bodyPr wrap="square">
            <a:spAutoFit/>
          </a:bodyPr>
          <a:lstStyle/>
          <a:p>
            <a:pPr algn="just"/>
            <a:r>
              <a:rPr lang="en-US" dirty="0"/>
              <a:t>Hence the whole object is not passed but its referenced gets passed. All modification to the object in the method would modify the object in the Heap.</a:t>
            </a:r>
          </a:p>
        </p:txBody>
      </p:sp>
    </p:spTree>
    <p:extLst>
      <p:ext uri="{BB962C8B-B14F-4D97-AF65-F5344CB8AC3E}">
        <p14:creationId xmlns:p14="http://schemas.microsoft.com/office/powerpoint/2010/main" val="114351815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6197600" y="3718679"/>
            <a:ext cx="6096000" cy="3139321"/>
          </a:xfrm>
          <a:prstGeom prst="rect">
            <a:avLst/>
          </a:prstGeom>
        </p:spPr>
        <p:txBody>
          <a:bodyPr>
            <a:spAutoFit/>
          </a:bodyPr>
          <a:lstStyle/>
          <a:p>
            <a:r>
              <a:rPr lang="en-US" dirty="0">
                <a:solidFill>
                  <a:schemeClr val="accent1"/>
                </a:solidFill>
              </a:rPr>
              <a:t>public class </a:t>
            </a:r>
            <a:r>
              <a:rPr lang="en-US" dirty="0" err="1">
                <a:solidFill>
                  <a:schemeClr val="accent1"/>
                </a:solidFill>
              </a:rPr>
              <a:t>classExAdd</a:t>
            </a:r>
            <a:endParaRPr lang="en-US" dirty="0">
              <a:solidFill>
                <a:schemeClr val="accent1"/>
              </a:solidFill>
            </a:endParaRPr>
          </a:p>
          <a:p>
            <a:r>
              <a:rPr lang="en-US" dirty="0">
                <a:solidFill>
                  <a:schemeClr val="accent1"/>
                </a:solidFill>
              </a:rPr>
              <a:t>{</a:t>
            </a:r>
          </a:p>
          <a:p>
            <a:r>
              <a:rPr lang="en-US" dirty="0">
                <a:solidFill>
                  <a:schemeClr val="accent1"/>
                </a:solidFill>
              </a:rPr>
              <a:t>	public static void main(String </a:t>
            </a:r>
            <a:r>
              <a:rPr lang="en-US" dirty="0" err="1">
                <a:solidFill>
                  <a:schemeClr val="accent1"/>
                </a:solidFill>
              </a:rPr>
              <a:t>arg</a:t>
            </a:r>
            <a:r>
              <a:rPr lang="en-US" dirty="0">
                <a:solidFill>
                  <a:schemeClr val="accent1"/>
                </a:solidFill>
              </a:rPr>
              <a:t>[])</a:t>
            </a:r>
          </a:p>
          <a:p>
            <a:r>
              <a:rPr lang="en-US" dirty="0">
                <a:solidFill>
                  <a:schemeClr val="accent1"/>
                </a:solidFill>
              </a:rPr>
              <a:t>	{ </a:t>
            </a:r>
          </a:p>
          <a:p>
            <a:r>
              <a:rPr lang="en-US" dirty="0">
                <a:solidFill>
                  <a:schemeClr val="accent1"/>
                </a:solidFill>
              </a:rPr>
              <a:t>		Add A=new Add(5,8);</a:t>
            </a:r>
          </a:p>
          <a:p>
            <a:r>
              <a:rPr lang="en-US" dirty="0">
                <a:solidFill>
                  <a:schemeClr val="accent1"/>
                </a:solidFill>
              </a:rPr>
              <a:t>		/* Calls  the </a:t>
            </a:r>
            <a:r>
              <a:rPr lang="en-US" dirty="0" err="1">
                <a:solidFill>
                  <a:schemeClr val="accent1"/>
                </a:solidFill>
              </a:rPr>
              <a:t>parametrized</a:t>
            </a:r>
            <a:r>
              <a:rPr lang="en-US" dirty="0">
                <a:solidFill>
                  <a:schemeClr val="accent1"/>
                </a:solidFill>
              </a:rPr>
              <a:t> constructor </a:t>
            </a:r>
          </a:p>
          <a:p>
            <a:r>
              <a:rPr lang="en-US" dirty="0">
                <a:solidFill>
                  <a:schemeClr val="accent1"/>
                </a:solidFill>
              </a:rPr>
              <a:t>		with set of parameters*/</a:t>
            </a:r>
          </a:p>
          <a:p>
            <a:r>
              <a:rPr lang="en-US" dirty="0">
                <a:solidFill>
                  <a:schemeClr val="accent1"/>
                </a:solidFill>
              </a:rPr>
              <a:t>		</a:t>
            </a:r>
            <a:r>
              <a:rPr lang="en-US" dirty="0" err="1">
                <a:solidFill>
                  <a:schemeClr val="accent1"/>
                </a:solidFill>
              </a:rPr>
              <a:t>A.sum</a:t>
            </a:r>
            <a:r>
              <a:rPr lang="en-US" dirty="0">
                <a:solidFill>
                  <a:schemeClr val="accent1"/>
                </a:solidFill>
              </a:rPr>
              <a:t>(A);</a:t>
            </a:r>
          </a:p>
          <a:p>
            <a:r>
              <a:rPr lang="en-US" dirty="0">
                <a:solidFill>
                  <a:schemeClr val="accent1"/>
                </a:solidFill>
              </a:rPr>
              <a:t>	}</a:t>
            </a:r>
          </a:p>
          <a:p>
            <a:r>
              <a:rPr lang="en-US" dirty="0">
                <a:solidFill>
                  <a:schemeClr val="accent1"/>
                </a:solidFill>
              </a:rPr>
              <a:t>}</a:t>
            </a:r>
          </a:p>
          <a:p>
            <a:endParaRPr lang="en-US" dirty="0">
              <a:solidFill>
                <a:schemeClr val="accent1"/>
              </a:solidFill>
            </a:endParaRPr>
          </a:p>
        </p:txBody>
      </p:sp>
      <p:sp>
        <p:nvSpPr>
          <p:cNvPr id="5" name="Rectangle 4"/>
          <p:cNvSpPr/>
          <p:nvPr/>
        </p:nvSpPr>
        <p:spPr>
          <a:xfrm>
            <a:off x="174171" y="208899"/>
            <a:ext cx="8127999" cy="3970318"/>
          </a:xfrm>
          <a:prstGeom prst="rect">
            <a:avLst/>
          </a:prstGeom>
        </p:spPr>
        <p:txBody>
          <a:bodyPr wrap="square">
            <a:spAutoFit/>
          </a:bodyPr>
          <a:lstStyle/>
          <a:p>
            <a:r>
              <a:rPr lang="en-US" dirty="0">
                <a:solidFill>
                  <a:schemeClr val="accent1"/>
                </a:solidFill>
              </a:rPr>
              <a:t>class Add{ </a:t>
            </a:r>
          </a:p>
          <a:p>
            <a:r>
              <a:rPr lang="en-US" dirty="0">
                <a:solidFill>
                  <a:schemeClr val="accent1"/>
                </a:solidFill>
              </a:rPr>
              <a:t>	int a;</a:t>
            </a:r>
          </a:p>
          <a:p>
            <a:r>
              <a:rPr lang="en-US" dirty="0">
                <a:solidFill>
                  <a:schemeClr val="accent1"/>
                </a:solidFill>
              </a:rPr>
              <a:t>	int b;</a:t>
            </a:r>
          </a:p>
          <a:p>
            <a:r>
              <a:rPr lang="en-US" dirty="0">
                <a:solidFill>
                  <a:schemeClr val="accent1"/>
                </a:solidFill>
              </a:rPr>
              <a:t>	Add(int </a:t>
            </a:r>
            <a:r>
              <a:rPr lang="en-US" dirty="0" err="1">
                <a:solidFill>
                  <a:schemeClr val="accent1"/>
                </a:solidFill>
              </a:rPr>
              <a:t>x,int</a:t>
            </a:r>
            <a:r>
              <a:rPr lang="en-US" dirty="0">
                <a:solidFill>
                  <a:schemeClr val="accent1"/>
                </a:solidFill>
              </a:rPr>
              <a:t> y)// </a:t>
            </a:r>
            <a:r>
              <a:rPr lang="en-US" dirty="0" err="1">
                <a:solidFill>
                  <a:schemeClr val="accent1"/>
                </a:solidFill>
              </a:rPr>
              <a:t>parametrized</a:t>
            </a:r>
            <a:r>
              <a:rPr lang="en-US" dirty="0">
                <a:solidFill>
                  <a:schemeClr val="accent1"/>
                </a:solidFill>
              </a:rPr>
              <a:t> constructor </a:t>
            </a:r>
          </a:p>
          <a:p>
            <a:r>
              <a:rPr lang="en-US" dirty="0">
                <a:solidFill>
                  <a:schemeClr val="accent1"/>
                </a:solidFill>
              </a:rPr>
              <a:t>	{</a:t>
            </a:r>
          </a:p>
          <a:p>
            <a:r>
              <a:rPr lang="en-US" dirty="0">
                <a:solidFill>
                  <a:schemeClr val="accent1"/>
                </a:solidFill>
              </a:rPr>
              <a:t>		a=x;</a:t>
            </a:r>
          </a:p>
          <a:p>
            <a:r>
              <a:rPr lang="en-US" dirty="0">
                <a:solidFill>
                  <a:schemeClr val="accent1"/>
                </a:solidFill>
              </a:rPr>
              <a:t>		b=y;</a:t>
            </a:r>
          </a:p>
          <a:p>
            <a:r>
              <a:rPr lang="en-US" dirty="0">
                <a:solidFill>
                  <a:schemeClr val="accent1"/>
                </a:solidFill>
              </a:rPr>
              <a:t>	}</a:t>
            </a:r>
          </a:p>
          <a:p>
            <a:r>
              <a:rPr lang="en-US" dirty="0">
                <a:solidFill>
                  <a:schemeClr val="accent1"/>
                </a:solidFill>
              </a:rPr>
              <a:t>	void sum(Add A1)  // object  'A1' passed as parameter in function 'sum'</a:t>
            </a:r>
          </a:p>
          <a:p>
            <a:r>
              <a:rPr lang="en-US" dirty="0">
                <a:solidFill>
                  <a:schemeClr val="accent1"/>
                </a:solidFill>
              </a:rPr>
              <a:t>	{ </a:t>
            </a:r>
          </a:p>
          <a:p>
            <a:r>
              <a:rPr lang="en-US" dirty="0">
                <a:solidFill>
                  <a:schemeClr val="accent1"/>
                </a:solidFill>
              </a:rPr>
              <a:t>	int sum1=A1.a+A1.b;</a:t>
            </a:r>
          </a:p>
          <a:p>
            <a:r>
              <a:rPr lang="en-US" dirty="0">
                <a:solidFill>
                  <a:schemeClr val="accent1"/>
                </a:solidFill>
              </a:rPr>
              <a:t>	System.out.println("Sum of a and b :"+sum1);</a:t>
            </a:r>
          </a:p>
          <a:p>
            <a:r>
              <a:rPr lang="en-US" dirty="0">
                <a:solidFill>
                  <a:schemeClr val="accent1"/>
                </a:solidFill>
              </a:rPr>
              <a:t>	}</a:t>
            </a:r>
          </a:p>
          <a:p>
            <a:r>
              <a:rPr lang="en-US" dirty="0">
                <a:solidFill>
                  <a:schemeClr val="accent1"/>
                </a:solidFill>
              </a:rPr>
              <a:t>}</a:t>
            </a:r>
          </a:p>
        </p:txBody>
      </p:sp>
    </p:spTree>
    <p:extLst>
      <p:ext uri="{BB962C8B-B14F-4D97-AF65-F5344CB8AC3E}">
        <p14:creationId xmlns:p14="http://schemas.microsoft.com/office/powerpoint/2010/main" val="411347448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6545943" y="2459772"/>
            <a:ext cx="6096000" cy="2862322"/>
          </a:xfrm>
          <a:prstGeom prst="rect">
            <a:avLst/>
          </a:prstGeom>
        </p:spPr>
        <p:txBody>
          <a:bodyPr>
            <a:spAutoFit/>
          </a:bodyPr>
          <a:lstStyle/>
          <a:p>
            <a:r>
              <a:rPr lang="en-US" dirty="0">
                <a:solidFill>
                  <a:schemeClr val="accent1"/>
                </a:solidFill>
              </a:rPr>
              <a:t>public class </a:t>
            </a:r>
            <a:r>
              <a:rPr lang="en-US" dirty="0" err="1">
                <a:solidFill>
                  <a:schemeClr val="accent1"/>
                </a:solidFill>
              </a:rPr>
              <a:t>ObjectasParameter</a:t>
            </a:r>
            <a:r>
              <a:rPr lang="en-US" dirty="0">
                <a:solidFill>
                  <a:schemeClr val="accent1"/>
                </a:solidFill>
              </a:rPr>
              <a:t> {</a:t>
            </a:r>
          </a:p>
          <a:p>
            <a:r>
              <a:rPr lang="en-US" dirty="0">
                <a:solidFill>
                  <a:schemeClr val="accent1"/>
                </a:solidFill>
              </a:rPr>
              <a:t>    </a:t>
            </a:r>
          </a:p>
          <a:p>
            <a:r>
              <a:rPr lang="en-US" dirty="0">
                <a:solidFill>
                  <a:schemeClr val="accent1"/>
                </a:solidFill>
              </a:rPr>
              <a:t>    public static void main(String[] args) {</a:t>
            </a:r>
          </a:p>
          <a:p>
            <a:r>
              <a:rPr lang="en-US" dirty="0">
                <a:solidFill>
                  <a:schemeClr val="accent1"/>
                </a:solidFill>
              </a:rPr>
              <a:t>        </a:t>
            </a:r>
          </a:p>
          <a:p>
            <a:r>
              <a:rPr lang="en-US" dirty="0">
                <a:solidFill>
                  <a:schemeClr val="accent1"/>
                </a:solidFill>
              </a:rPr>
              <a:t>        Data da = new Data();</a:t>
            </a:r>
          </a:p>
          <a:p>
            <a:r>
              <a:rPr lang="en-US" dirty="0">
                <a:solidFill>
                  <a:schemeClr val="accent1"/>
                </a:solidFill>
              </a:rPr>
              <a:t>        </a:t>
            </a:r>
            <a:r>
              <a:rPr lang="en-US" dirty="0" err="1">
                <a:solidFill>
                  <a:schemeClr val="accent1"/>
                </a:solidFill>
              </a:rPr>
              <a:t>SetData</a:t>
            </a:r>
            <a:r>
              <a:rPr lang="en-US" dirty="0">
                <a:solidFill>
                  <a:schemeClr val="accent1"/>
                </a:solidFill>
              </a:rPr>
              <a:t> </a:t>
            </a:r>
            <a:r>
              <a:rPr lang="en-US" dirty="0" err="1">
                <a:solidFill>
                  <a:schemeClr val="accent1"/>
                </a:solidFill>
              </a:rPr>
              <a:t>sd</a:t>
            </a:r>
            <a:r>
              <a:rPr lang="en-US" dirty="0">
                <a:solidFill>
                  <a:schemeClr val="accent1"/>
                </a:solidFill>
              </a:rPr>
              <a:t> = new </a:t>
            </a:r>
            <a:r>
              <a:rPr lang="en-US" dirty="0" err="1">
                <a:solidFill>
                  <a:schemeClr val="accent1"/>
                </a:solidFill>
              </a:rPr>
              <a:t>SetData</a:t>
            </a:r>
            <a:r>
              <a:rPr lang="en-US" dirty="0">
                <a:solidFill>
                  <a:schemeClr val="accent1"/>
                </a:solidFill>
              </a:rPr>
              <a:t>();</a:t>
            </a:r>
          </a:p>
          <a:p>
            <a:r>
              <a:rPr lang="en-US" dirty="0">
                <a:solidFill>
                  <a:schemeClr val="accent1"/>
                </a:solidFill>
              </a:rPr>
              <a:t>        </a:t>
            </a:r>
            <a:r>
              <a:rPr lang="en-US" dirty="0" err="1">
                <a:solidFill>
                  <a:schemeClr val="accent1"/>
                </a:solidFill>
              </a:rPr>
              <a:t>sd.setData</a:t>
            </a:r>
            <a:r>
              <a:rPr lang="en-US" dirty="0">
                <a:solidFill>
                  <a:schemeClr val="accent1"/>
                </a:solidFill>
              </a:rPr>
              <a:t>(da,50,100);</a:t>
            </a:r>
          </a:p>
          <a:p>
            <a:r>
              <a:rPr lang="en-US" dirty="0">
                <a:solidFill>
                  <a:schemeClr val="accent1"/>
                </a:solidFill>
              </a:rPr>
              <a:t>        </a:t>
            </a:r>
            <a:r>
              <a:rPr lang="en-US" dirty="0" err="1">
                <a:solidFill>
                  <a:schemeClr val="accent1"/>
                </a:solidFill>
              </a:rPr>
              <a:t>sd.getData</a:t>
            </a:r>
            <a:r>
              <a:rPr lang="en-US" dirty="0">
                <a:solidFill>
                  <a:schemeClr val="accent1"/>
                </a:solidFill>
              </a:rPr>
              <a:t>(da);</a:t>
            </a:r>
          </a:p>
          <a:p>
            <a:r>
              <a:rPr lang="en-US" dirty="0">
                <a:solidFill>
                  <a:schemeClr val="accent1"/>
                </a:solidFill>
              </a:rPr>
              <a:t>    }</a:t>
            </a:r>
          </a:p>
          <a:p>
            <a:r>
              <a:rPr lang="en-US" dirty="0">
                <a:solidFill>
                  <a:schemeClr val="accent1"/>
                </a:solidFill>
              </a:rPr>
              <a:t>}</a:t>
            </a:r>
          </a:p>
        </p:txBody>
      </p:sp>
      <p:sp>
        <p:nvSpPr>
          <p:cNvPr id="6" name="Rectangle 5"/>
          <p:cNvSpPr/>
          <p:nvPr/>
        </p:nvSpPr>
        <p:spPr>
          <a:xfrm>
            <a:off x="522515" y="1425645"/>
            <a:ext cx="4876800" cy="5355312"/>
          </a:xfrm>
          <a:prstGeom prst="rect">
            <a:avLst/>
          </a:prstGeom>
        </p:spPr>
        <p:txBody>
          <a:bodyPr wrap="square">
            <a:spAutoFit/>
          </a:bodyPr>
          <a:lstStyle/>
          <a:p>
            <a:r>
              <a:rPr lang="en-US" dirty="0">
                <a:solidFill>
                  <a:schemeClr val="accent1"/>
                </a:solidFill>
              </a:rPr>
              <a:t>class Data {</a:t>
            </a:r>
          </a:p>
          <a:p>
            <a:r>
              <a:rPr lang="en-US" dirty="0">
                <a:solidFill>
                  <a:schemeClr val="accent1"/>
                </a:solidFill>
              </a:rPr>
              <a:t>    </a:t>
            </a:r>
          </a:p>
          <a:p>
            <a:r>
              <a:rPr lang="en-US" dirty="0">
                <a:solidFill>
                  <a:schemeClr val="accent1"/>
                </a:solidFill>
              </a:rPr>
              <a:t>    int data1;</a:t>
            </a:r>
          </a:p>
          <a:p>
            <a:r>
              <a:rPr lang="en-US" dirty="0">
                <a:solidFill>
                  <a:schemeClr val="accent1"/>
                </a:solidFill>
              </a:rPr>
              <a:t>    int data2;</a:t>
            </a:r>
          </a:p>
          <a:p>
            <a:r>
              <a:rPr lang="en-US" dirty="0">
                <a:solidFill>
                  <a:schemeClr val="accent1"/>
                </a:solidFill>
              </a:rPr>
              <a:t>}</a:t>
            </a:r>
          </a:p>
          <a:p>
            <a:endParaRPr lang="en-US" dirty="0">
              <a:solidFill>
                <a:schemeClr val="accent1"/>
              </a:solidFill>
            </a:endParaRPr>
          </a:p>
          <a:p>
            <a:r>
              <a:rPr lang="en-US" dirty="0">
                <a:solidFill>
                  <a:schemeClr val="accent1"/>
                </a:solidFill>
              </a:rPr>
              <a:t>class </a:t>
            </a:r>
            <a:r>
              <a:rPr lang="en-US" dirty="0" err="1">
                <a:solidFill>
                  <a:schemeClr val="accent1"/>
                </a:solidFill>
              </a:rPr>
              <a:t>SetData</a:t>
            </a:r>
            <a:r>
              <a:rPr lang="en-US" dirty="0">
                <a:solidFill>
                  <a:schemeClr val="accent1"/>
                </a:solidFill>
              </a:rPr>
              <a:t> {    </a:t>
            </a:r>
          </a:p>
          <a:p>
            <a:r>
              <a:rPr lang="en-US" dirty="0">
                <a:solidFill>
                  <a:schemeClr val="accent1"/>
                </a:solidFill>
              </a:rPr>
              <a:t>    void </a:t>
            </a:r>
            <a:r>
              <a:rPr lang="en-US" dirty="0" err="1">
                <a:solidFill>
                  <a:schemeClr val="accent1"/>
                </a:solidFill>
              </a:rPr>
              <a:t>setData</a:t>
            </a:r>
            <a:r>
              <a:rPr lang="en-US" dirty="0">
                <a:solidFill>
                  <a:schemeClr val="accent1"/>
                </a:solidFill>
              </a:rPr>
              <a:t>(Data </a:t>
            </a:r>
            <a:r>
              <a:rPr lang="en-US" dirty="0" err="1">
                <a:solidFill>
                  <a:schemeClr val="accent1"/>
                </a:solidFill>
              </a:rPr>
              <a:t>da,int</a:t>
            </a:r>
            <a:r>
              <a:rPr lang="en-US" dirty="0">
                <a:solidFill>
                  <a:schemeClr val="accent1"/>
                </a:solidFill>
              </a:rPr>
              <a:t> d1,int d2)</a:t>
            </a:r>
          </a:p>
          <a:p>
            <a:r>
              <a:rPr lang="en-US" dirty="0">
                <a:solidFill>
                  <a:schemeClr val="accent1"/>
                </a:solidFill>
              </a:rPr>
              <a:t>    {</a:t>
            </a:r>
          </a:p>
          <a:p>
            <a:r>
              <a:rPr lang="en-US" dirty="0">
                <a:solidFill>
                  <a:schemeClr val="accent1"/>
                </a:solidFill>
              </a:rPr>
              <a:t>        da.data1 = d1;</a:t>
            </a:r>
          </a:p>
          <a:p>
            <a:r>
              <a:rPr lang="en-US" dirty="0">
                <a:solidFill>
                  <a:schemeClr val="accent1"/>
                </a:solidFill>
              </a:rPr>
              <a:t>        da.data2 = d2;</a:t>
            </a:r>
          </a:p>
          <a:p>
            <a:r>
              <a:rPr lang="en-US" dirty="0">
                <a:solidFill>
                  <a:schemeClr val="accent1"/>
                </a:solidFill>
              </a:rPr>
              <a:t>    }</a:t>
            </a:r>
          </a:p>
          <a:p>
            <a:r>
              <a:rPr lang="en-US" dirty="0">
                <a:solidFill>
                  <a:schemeClr val="accent1"/>
                </a:solidFill>
              </a:rPr>
              <a:t>    </a:t>
            </a:r>
          </a:p>
          <a:p>
            <a:r>
              <a:rPr lang="en-US" dirty="0">
                <a:solidFill>
                  <a:schemeClr val="accent1"/>
                </a:solidFill>
              </a:rPr>
              <a:t>    void </a:t>
            </a:r>
            <a:r>
              <a:rPr lang="en-US" dirty="0" err="1">
                <a:solidFill>
                  <a:schemeClr val="accent1"/>
                </a:solidFill>
              </a:rPr>
              <a:t>getData</a:t>
            </a:r>
            <a:r>
              <a:rPr lang="en-US" dirty="0">
                <a:solidFill>
                  <a:schemeClr val="accent1"/>
                </a:solidFill>
              </a:rPr>
              <a:t>(Data da)</a:t>
            </a:r>
          </a:p>
          <a:p>
            <a:r>
              <a:rPr lang="en-US" dirty="0">
                <a:solidFill>
                  <a:schemeClr val="accent1"/>
                </a:solidFill>
              </a:rPr>
              <a:t>    {</a:t>
            </a:r>
          </a:p>
          <a:p>
            <a:r>
              <a:rPr lang="en-US" dirty="0">
                <a:solidFill>
                  <a:schemeClr val="accent1"/>
                </a:solidFill>
              </a:rPr>
              <a:t>        System.out.println("data1 : "+da.data1);</a:t>
            </a:r>
          </a:p>
          <a:p>
            <a:r>
              <a:rPr lang="en-US" dirty="0">
                <a:solidFill>
                  <a:schemeClr val="accent1"/>
                </a:solidFill>
              </a:rPr>
              <a:t>        System.out.println("data2 : "+da.data2);</a:t>
            </a:r>
          </a:p>
          <a:p>
            <a:r>
              <a:rPr lang="en-US" dirty="0">
                <a:solidFill>
                  <a:schemeClr val="accent1"/>
                </a:solidFill>
              </a:rPr>
              <a:t>    }</a:t>
            </a:r>
          </a:p>
          <a:p>
            <a:r>
              <a:rPr lang="en-US" dirty="0">
                <a:solidFill>
                  <a:schemeClr val="accent1"/>
                </a:solidFill>
              </a:rPr>
              <a:t>}</a:t>
            </a:r>
          </a:p>
        </p:txBody>
      </p:sp>
    </p:spTree>
    <p:extLst>
      <p:ext uri="{BB962C8B-B14F-4D97-AF65-F5344CB8AC3E}">
        <p14:creationId xmlns:p14="http://schemas.microsoft.com/office/powerpoint/2010/main" val="187727638"/>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523</TotalTime>
  <Words>5361</Words>
  <Application>Microsoft Office PowerPoint</Application>
  <PresentationFormat>Widescreen</PresentationFormat>
  <Paragraphs>529</Paragraphs>
  <Slides>42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42</vt:i4>
      </vt:variant>
    </vt:vector>
  </HeadingPairs>
  <TitlesOfParts>
    <vt:vector size="49" baseType="lpstr">
      <vt:lpstr>Arial</vt:lpstr>
      <vt:lpstr>Calibri</vt:lpstr>
      <vt:lpstr>Calibri Light</vt:lpstr>
      <vt:lpstr>euclid_circular_a</vt:lpstr>
      <vt:lpstr>Verdana</vt:lpstr>
      <vt:lpstr>Verdana</vt:lpstr>
      <vt:lpstr>Retrospect</vt:lpstr>
      <vt:lpstr>INTRODUCTION TO OOP</vt:lpstr>
      <vt:lpstr>Classes and Objects</vt:lpstr>
      <vt:lpstr>Classes</vt:lpstr>
      <vt:lpstr>Object</vt:lpstr>
      <vt:lpstr>Structured and Object Oriented Programming</vt:lpstr>
      <vt:lpstr>PowerPoint Presentation</vt:lpstr>
      <vt:lpstr>Declaring objects</vt:lpstr>
      <vt:lpstr>Accessing Instance Variables and Methods</vt:lpstr>
      <vt:lpstr>PowerPoint Presentation</vt:lpstr>
      <vt:lpstr>Class Members</vt:lpstr>
      <vt:lpstr>Class Methods</vt:lpstr>
      <vt:lpstr>Member data and functions</vt:lpstr>
      <vt:lpstr>PowerPoint Presentation</vt:lpstr>
      <vt:lpstr>Instance methods: -</vt:lpstr>
      <vt:lpstr>Static methods: -</vt:lpstr>
      <vt:lpstr>Encapsulation </vt:lpstr>
      <vt:lpstr>PowerPoint Presentation</vt:lpstr>
      <vt:lpstr>PowerPoint Presentation</vt:lpstr>
      <vt:lpstr>Constructor, destructor and finalize() method</vt:lpstr>
      <vt:lpstr>Types of Constructor</vt:lpstr>
      <vt:lpstr>Parameterized Constructor</vt:lpstr>
      <vt:lpstr>Java Default Constructor</vt:lpstr>
      <vt:lpstr>PowerPoint Presentation</vt:lpstr>
      <vt:lpstr>Chain of constructor</vt:lpstr>
      <vt:lpstr>PowerPoint Presentation</vt:lpstr>
      <vt:lpstr>PowerPoint Presentation</vt:lpstr>
      <vt:lpstr>Invoking base class constructor</vt:lpstr>
      <vt:lpstr>Destructor </vt:lpstr>
      <vt:lpstr>PowerPoint Presentation</vt:lpstr>
      <vt:lpstr>Java finalize() Method</vt:lpstr>
      <vt:lpstr>Objects and arrays</vt:lpstr>
      <vt:lpstr>PowerPoint Presentation</vt:lpstr>
      <vt:lpstr>“this” keyword</vt:lpstr>
      <vt:lpstr>Using this with a Constructor</vt:lpstr>
      <vt:lpstr>Wrapper classes</vt:lpstr>
      <vt:lpstr>Primitive Data types and their Corresponding Wrapper class</vt:lpstr>
      <vt:lpstr>Autoboxing</vt:lpstr>
      <vt:lpstr>Unboxing</vt:lpstr>
      <vt:lpstr>Objects as parameter</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OOP</dc:title>
  <dc:creator>Dell</dc:creator>
  <cp:lastModifiedBy>Ashok Bhattarai</cp:lastModifiedBy>
  <cp:revision>48</cp:revision>
  <dcterms:created xsi:type="dcterms:W3CDTF">2021-05-04T00:46:21Z</dcterms:created>
  <dcterms:modified xsi:type="dcterms:W3CDTF">2026-03-11T16:45:19Z</dcterms:modified>
</cp:coreProperties>
</file>